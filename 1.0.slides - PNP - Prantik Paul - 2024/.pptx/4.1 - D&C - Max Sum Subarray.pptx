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Proxima Nova"/>
      <p:regular r:id="rId30"/>
      <p:bold r:id="rId31"/>
      <p:italic r:id="rId32"/>
      <p:boldItalic r:id="rId33"/>
    </p:embeddedFont>
    <p:embeddedFont>
      <p:font typeface="Tahoma"/>
      <p:regular r:id="rId34"/>
      <p:bold r:id="rId35"/>
    </p:embeddedFont>
    <p:embeddedFont>
      <p:font typeface="Proxima Nova Semibold"/>
      <p:regular r:id="rId36"/>
      <p:bold r:id="rId37"/>
      <p:boldItalic r:id="rId38"/>
    </p:embeddedFont>
    <p:embeddedFont>
      <p:font typeface="Alfa Slab One"/>
      <p:regular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0" roundtripDataSignature="AMtx7mhfPtPTVL2js/aBTccQi5QqzNbr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829549-F00F-4137-B3E1-3B3B9526D766}">
  <a:tblStyle styleId="{BF829549-F00F-4137-B3E1-3B3B9526D76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C12D9A6B-17B4-40BF-8E3F-ABE9F237259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roximaNova-bold.fntdata"/><Relationship Id="rId30" Type="http://schemas.openxmlformats.org/officeDocument/2006/relationships/font" Target="fonts/ProximaNova-regular.fntdata"/><Relationship Id="rId11" Type="http://schemas.openxmlformats.org/officeDocument/2006/relationships/slide" Target="slides/slide5.xml"/><Relationship Id="rId33" Type="http://schemas.openxmlformats.org/officeDocument/2006/relationships/font" Target="fonts/ProximaNova-boldItalic.fntdata"/><Relationship Id="rId10" Type="http://schemas.openxmlformats.org/officeDocument/2006/relationships/slide" Target="slides/slide4.xml"/><Relationship Id="rId32" Type="http://schemas.openxmlformats.org/officeDocument/2006/relationships/font" Target="fonts/ProximaNova-italic.fntdata"/><Relationship Id="rId13" Type="http://schemas.openxmlformats.org/officeDocument/2006/relationships/slide" Target="slides/slide7.xml"/><Relationship Id="rId35" Type="http://schemas.openxmlformats.org/officeDocument/2006/relationships/font" Target="fonts/Tahoma-bold.fntdata"/><Relationship Id="rId12" Type="http://schemas.openxmlformats.org/officeDocument/2006/relationships/slide" Target="slides/slide6.xml"/><Relationship Id="rId34" Type="http://schemas.openxmlformats.org/officeDocument/2006/relationships/font" Target="fonts/Tahoma-regular.fntdata"/><Relationship Id="rId15" Type="http://schemas.openxmlformats.org/officeDocument/2006/relationships/slide" Target="slides/slide9.xml"/><Relationship Id="rId37" Type="http://schemas.openxmlformats.org/officeDocument/2006/relationships/font" Target="fonts/ProximaNovaSemibold-bold.fntdata"/><Relationship Id="rId14" Type="http://schemas.openxmlformats.org/officeDocument/2006/relationships/slide" Target="slides/slide8.xml"/><Relationship Id="rId36" Type="http://schemas.openxmlformats.org/officeDocument/2006/relationships/font" Target="fonts/ProximaNovaSemibold-regular.fntdata"/><Relationship Id="rId17" Type="http://schemas.openxmlformats.org/officeDocument/2006/relationships/slide" Target="slides/slide11.xml"/><Relationship Id="rId39" Type="http://schemas.openxmlformats.org/officeDocument/2006/relationships/font" Target="fonts/AlfaSlabOne-regular.fntdata"/><Relationship Id="rId16" Type="http://schemas.openxmlformats.org/officeDocument/2006/relationships/slide" Target="slides/slide10.xml"/><Relationship Id="rId38" Type="http://schemas.openxmlformats.org/officeDocument/2006/relationships/font" Target="fonts/ProximaNovaSemibold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913904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429101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0f4d1ae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f0f4d1ae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ff78981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eff78981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913904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429101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913904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429101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913904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429101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4174bdd36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4174bdd36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p24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24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20" name="Google Shape;20;p24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" name="Google Shape;2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7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29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0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" name="Google Shape;46;p3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31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8" name="Google Shape;48;p31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" name="Google Shape;49;p3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33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1" name="Google Shape;61;p3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3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5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7" name="Google Shape;67;p3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3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/>
          <p:nvPr>
            <p:ph type="title"/>
          </p:nvPr>
        </p:nvSpPr>
        <p:spPr>
          <a:xfrm>
            <a:off x="623890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" type="body"/>
          </p:nvPr>
        </p:nvSpPr>
        <p:spPr>
          <a:xfrm>
            <a:off x="623890" y="3442099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3" name="Google Shape;73;p36"/>
          <p:cNvSpPr txBox="1"/>
          <p:nvPr>
            <p:ph idx="10" type="dt"/>
          </p:nvPr>
        </p:nvSpPr>
        <p:spPr>
          <a:xfrm>
            <a:off x="6286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36"/>
          <p:cNvSpPr txBox="1"/>
          <p:nvPr>
            <p:ph idx="11" type="ftr"/>
          </p:nvPr>
        </p:nvSpPr>
        <p:spPr>
          <a:xfrm>
            <a:off x="3028953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3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rive.google.com/file/d/1Oqm4gTyCxanSVN8cSpWfSivqOReKO4vt/view?usp=drive_link" TargetMode="External"/><Relationship Id="rId4" Type="http://schemas.openxmlformats.org/officeDocument/2006/relationships/hyperlink" Target="https://www.geeksforgeeks.org/largest-sum-contiguous-subarray/" TargetMode="External"/><Relationship Id="rId5" Type="http://schemas.openxmlformats.org/officeDocument/2006/relationships/hyperlink" Target="https://ammar-montaser.github.io/Kadane-s-Algorithm-Visualiz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"/>
          <p:cNvSpPr txBox="1"/>
          <p:nvPr>
            <p:ph idx="4294967295"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400"/>
              <a:buFont typeface="Alfa Slab One"/>
              <a:buNone/>
            </a:pPr>
            <a:r>
              <a:rPr b="0" i="0" lang="en" sz="54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rPr>
              <a:t>Algorithms</a:t>
            </a:r>
            <a:endParaRPr b="0" i="0" sz="5400" u="none" cap="none" strike="noStrike">
              <a:solidFill>
                <a:schemeClr val="accent3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82" name="Google Shape;82;p1"/>
          <p:cNvSpPr txBox="1"/>
          <p:nvPr>
            <p:ph idx="4294967295" type="subTitle"/>
          </p:nvPr>
        </p:nvSpPr>
        <p:spPr>
          <a:xfrm>
            <a:off x="311700" y="2859798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roxima Nova"/>
              <a:buNone/>
            </a:pPr>
            <a:r>
              <a:rPr b="1" i="0" lang="en" sz="2200" u="none" cap="none" strike="noStrike">
                <a:solidFill>
                  <a:srgbClr val="5B0F00"/>
                </a:solidFill>
                <a:latin typeface="Proxima Nova"/>
                <a:ea typeface="Proxima Nova"/>
                <a:cs typeface="Proxima Nova"/>
                <a:sym typeface="Proxima Nova"/>
              </a:rPr>
              <a:t>Lecture 5</a:t>
            </a:r>
            <a:endParaRPr b="1" i="0" sz="2200" u="none" cap="none" strike="noStrike">
              <a:solidFill>
                <a:srgbClr val="5B0F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roxima Nova"/>
              <a:buNone/>
            </a:pPr>
            <a:r>
              <a:rPr b="1" i="0" lang="en" sz="22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Max Sum Subarray (Divide and Conquer)</a:t>
            </a:r>
            <a:endParaRPr b="1" i="0" sz="2200" u="none" cap="none" strike="noStrike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1978800" y="3899325"/>
            <a:ext cx="518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Lecturer</a:t>
            </a:r>
            <a:endParaRPr b="1" i="0" sz="1700" u="none" cap="none" strike="noStrike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Department of Computer Science and Engineering</a:t>
            </a:r>
            <a:endParaRPr b="1" i="0" sz="1700" u="none" cap="none" strike="noStrike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BRAC University </a:t>
            </a:r>
            <a:endParaRPr b="1" i="0" sz="1700" u="none" cap="none" strike="noStrike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" name="Google Shape;84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2"/>
          <p:cNvSpPr txBox="1"/>
          <p:nvPr>
            <p:ph idx="4294967295" type="title"/>
          </p:nvPr>
        </p:nvSpPr>
        <p:spPr>
          <a:xfrm>
            <a:off x="457200" y="43110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Maximum Subarray Problem</a:t>
            </a:r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457200" y="1006079"/>
            <a:ext cx="8229600" cy="3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Proxima Nova"/>
              <a:buChar char="•"/>
            </a:pPr>
            <a:r>
              <a:rPr b="0" i="1" lang="en" sz="24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Input:</a:t>
            </a:r>
            <a:r>
              <a:rPr b="0"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an array </a:t>
            </a:r>
            <a:r>
              <a:rPr b="0"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[1..</a:t>
            </a:r>
            <a:r>
              <a:rPr b="0"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 of </a:t>
            </a:r>
            <a:r>
              <a:rPr b="0"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numbers</a:t>
            </a:r>
            <a:endParaRPr b="0" i="0" sz="2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603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roxima Nova"/>
              <a:buChar char="–"/>
            </a:pP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Assume that some of the numbers are </a:t>
            </a:r>
            <a:r>
              <a:rPr b="0" i="0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negative</a:t>
            </a: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, because this problem is trivial when all numbers are nonnegative</a:t>
            </a:r>
            <a:endParaRPr b="0" i="0" sz="1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Proxima Nova"/>
              <a:buChar char="•"/>
            </a:pPr>
            <a:r>
              <a:rPr b="0" i="1" lang="en" sz="24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Output: </a:t>
            </a: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 nonempty subarray </a:t>
            </a:r>
            <a:r>
              <a:rPr b="0"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b="0"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b="0"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r>
              <a:rPr b="0"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having  the largest sum </a:t>
            </a:r>
            <a:r>
              <a:rPr b="0"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b="0"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b="0"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 = </a:t>
            </a:r>
            <a:r>
              <a:rPr b="0"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b="0" baseline="-25000"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+ </a:t>
            </a:r>
            <a:r>
              <a:rPr b="0"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b="0" baseline="-25000"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0" baseline="-2500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+1</a:t>
            </a: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+... + </a:t>
            </a:r>
            <a:r>
              <a:rPr b="0"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b="0" baseline="-25000"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endParaRPr b="0" i="0" sz="2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92" name="Google Shape;92;p2"/>
          <p:cNvGraphicFramePr/>
          <p:nvPr/>
        </p:nvGraphicFramePr>
        <p:xfrm>
          <a:off x="713250" y="38949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{BF829549-F00F-4137-B3E1-3B3B9526D766}</a:tableStyleId>
              </a:tblPr>
              <a:tblGrid>
                <a:gridCol w="495300"/>
                <a:gridCol w="495300"/>
                <a:gridCol w="495300"/>
                <a:gridCol w="493725"/>
                <a:gridCol w="495300"/>
                <a:gridCol w="495300"/>
                <a:gridCol w="495300"/>
                <a:gridCol w="495300"/>
                <a:gridCol w="495300"/>
                <a:gridCol w="493700"/>
                <a:gridCol w="495300"/>
                <a:gridCol w="495300"/>
                <a:gridCol w="495300"/>
                <a:gridCol w="495300"/>
                <a:gridCol w="495300"/>
                <a:gridCol w="495300"/>
              </a:tblGrid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-25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-16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-23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-22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93" name="Google Shape;93;p2"/>
          <p:cNvSpPr txBox="1"/>
          <p:nvPr/>
        </p:nvSpPr>
        <p:spPr>
          <a:xfrm>
            <a:off x="739413" y="3452846"/>
            <a:ext cx="786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1      2      3     4      5      6      7      8     9     10    11    12    13   14    15   16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305845" y="3662261"/>
            <a:ext cx="40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/>
          <p:nvPr/>
        </p:nvSpPr>
        <p:spPr>
          <a:xfrm rot="5400000">
            <a:off x="5033925" y="3427091"/>
            <a:ext cx="288300" cy="18717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3652425" y="4516075"/>
            <a:ext cx="305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ahoma"/>
              <a:buNone/>
            </a:pPr>
            <a:r>
              <a:rPr b="0" i="0" lang="en" sz="20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maximum subarray</a:t>
            </a:r>
            <a:endParaRPr b="0" i="0" sz="2000" u="none" cap="none" strike="noStrike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2681089" y="936625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108058" y="936625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-4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3535027" y="936625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3951048" y="936625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2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1071744" y="913579"/>
            <a:ext cx="140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Target array :</a:t>
            </a:r>
            <a:endParaRPr b="0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644775" y="1408974"/>
            <a:ext cx="18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All the sub arrays:</a:t>
            </a:r>
            <a:endParaRPr b="0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2664666" y="145506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3080688" y="1800664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-4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3524079" y="2161490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3972944" y="2507105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2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2664666" y="2837530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3091635" y="2837530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-4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3108058" y="3183146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-4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3535027" y="3183146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3545975" y="3528762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3961996" y="3528762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2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2642771" y="395033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3069740" y="395033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-4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3496709" y="395033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3065758" y="430423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-4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3492727" y="430423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3908748" y="430423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2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2692037" y="470421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3119006" y="470421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-4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3545975" y="470421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3961996" y="470421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2</a:t>
            </a:r>
            <a:endParaRPr b="0"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4718782" y="1408971"/>
            <a:ext cx="9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4674991" y="1754568"/>
            <a:ext cx="9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4718782" y="2100202"/>
            <a:ext cx="9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4718782" y="2445818"/>
            <a:ext cx="9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4680431" y="2791434"/>
            <a:ext cx="9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4707835" y="3137050"/>
            <a:ext cx="9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4760117" y="3482666"/>
            <a:ext cx="9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4707835" y="3904241"/>
            <a:ext cx="9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4680464" y="4242667"/>
            <a:ext cx="9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4707835" y="4658121"/>
            <a:ext cx="9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1224144" y="3505716"/>
            <a:ext cx="99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Max!</a:t>
            </a:r>
            <a:endParaRPr b="0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38" name="Google Shape;138;p3"/>
          <p:cNvCxnSpPr/>
          <p:nvPr/>
        </p:nvCxnSpPr>
        <p:spPr>
          <a:xfrm>
            <a:off x="1821676" y="3701570"/>
            <a:ext cx="15108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</p:cxnSp>
      <p:sp>
        <p:nvSpPr>
          <p:cNvPr id="139" name="Google Shape;139;p3"/>
          <p:cNvSpPr/>
          <p:nvPr/>
        </p:nvSpPr>
        <p:spPr>
          <a:xfrm>
            <a:off x="5455523" y="1052845"/>
            <a:ext cx="3059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What is a maximum subarray?</a:t>
            </a:r>
            <a:endParaRPr b="0" i="0" sz="1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5455504" y="1855195"/>
            <a:ext cx="3059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Ans: The subarray with the largest sum</a:t>
            </a:r>
            <a:endParaRPr b="0" i="0" sz="1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5455523" y="3020464"/>
            <a:ext cx="2757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What is the brute-force time?</a:t>
            </a:r>
            <a:endParaRPr b="0" i="0" sz="2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2" name="Google Shape;142;p3"/>
          <p:cNvSpPr txBox="1"/>
          <p:nvPr>
            <p:ph idx="4294967295" type="title"/>
          </p:nvPr>
        </p:nvSpPr>
        <p:spPr>
          <a:xfrm>
            <a:off x="457200" y="43110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Maximum Subarray Problem</a:t>
            </a:r>
            <a:endParaRPr/>
          </a:p>
        </p:txBody>
      </p:sp>
      <p:sp>
        <p:nvSpPr>
          <p:cNvPr id="143" name="Google Shape;143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4"/>
          <p:cNvSpPr txBox="1"/>
          <p:nvPr>
            <p:ph idx="4294967295" type="title"/>
          </p:nvPr>
        </p:nvSpPr>
        <p:spPr>
          <a:xfrm>
            <a:off x="457200" y="290525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Brute-Force Algorithm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304800" y="837400"/>
            <a:ext cx="8610600" cy="41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b="0" i="0" lang="en" sz="21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All possible contiguous subarrays</a:t>
            </a:r>
            <a:endParaRPr b="0" i="0" sz="2100" u="none" cap="none" strike="noStrike">
              <a:solidFill>
                <a:srgbClr val="0000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25400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060"/>
              <a:buFont typeface="Proxima Nova"/>
              <a:buChar char="●"/>
            </a:pPr>
            <a:r>
              <a:rPr b="0"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A[1..1], A[1..2], A[1..3], ..., A[1..(</a:t>
            </a:r>
            <a:r>
              <a:rPr b="0" i="1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-1)], A[1..</a:t>
            </a:r>
            <a:r>
              <a:rPr b="0" i="1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b="0"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5400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060"/>
              <a:buFont typeface="Proxima Nova"/>
              <a:buChar char="●"/>
            </a:pPr>
            <a:r>
              <a:rPr b="0"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A[2..2], A[2..3], ..., A[2..(</a:t>
            </a:r>
            <a:r>
              <a:rPr b="0" i="1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-1)], A[2..</a:t>
            </a:r>
            <a:r>
              <a:rPr b="0" i="1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b="0"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5400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060"/>
              <a:buFont typeface="Proxima Nova"/>
              <a:buChar char="●"/>
            </a:pPr>
            <a:r>
              <a:rPr b="0"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...</a:t>
            </a:r>
            <a:endParaRPr b="0"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5400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060"/>
              <a:buFont typeface="Proxima Nova"/>
              <a:buChar char="●"/>
            </a:pPr>
            <a:r>
              <a:rPr b="0"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               A[(</a:t>
            </a:r>
            <a:r>
              <a:rPr b="0" i="1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-1)..(</a:t>
            </a:r>
            <a:r>
              <a:rPr b="0" i="1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-1)], A[(</a:t>
            </a:r>
            <a:r>
              <a:rPr b="0" i="1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-1)..</a:t>
            </a:r>
            <a:r>
              <a:rPr b="0" i="1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b="0"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5400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060"/>
              <a:buFont typeface="Proxima Nova"/>
              <a:buChar char="●"/>
            </a:pPr>
            <a:r>
              <a:rPr b="0"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                                              A[</a:t>
            </a:r>
            <a:r>
              <a:rPr b="0" i="1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b="0" i="1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b="0"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b="0" i="0" lang="en" sz="21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How many of them in total?</a:t>
            </a:r>
            <a:endParaRPr b="0" i="0" sz="9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b="0" i="0" lang="en" sz="21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Algorithm:</a:t>
            </a:r>
            <a:r>
              <a:rPr b="0" i="0" lang="en" sz="21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b="0" i="0" lang="en" sz="21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	</a:t>
            </a:r>
            <a:r>
              <a:rPr b="0" i="0" lang="en" sz="21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For each subarray, compute the sum. </a:t>
            </a:r>
            <a:endParaRPr b="0"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b="0" i="0" lang="en" sz="21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		Find the subarray that has the maximum sum.</a:t>
            </a:r>
            <a:endParaRPr b="0"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5220072" y="3111810"/>
            <a:ext cx="2607000" cy="754800"/>
          </a:xfrm>
          <a:prstGeom prst="cloudCallout">
            <a:avLst>
              <a:gd fmla="val -82425" name="adj1"/>
              <a:gd fmla="val -13584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O(n</a:t>
            </a:r>
            <a:r>
              <a:rPr b="1" baseline="30000" i="0" lang="en" sz="24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1" i="0" lang="en" sz="24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 b="1" i="0" sz="2400" u="none" cap="none" strike="noStrike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5"/>
          <p:cNvSpPr txBox="1"/>
          <p:nvPr>
            <p:ph idx="4294967295" type="title"/>
          </p:nvPr>
        </p:nvSpPr>
        <p:spPr>
          <a:xfrm>
            <a:off x="457200" y="17145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Brute-Force Algorithm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330200" y="914400"/>
            <a:ext cx="8058300" cy="3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Example:	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		2	-6	-1	3	-1	2	-2</a:t>
            </a:r>
            <a:endParaRPr b="0"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sum from A[1]: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	2	-4	-5	-2	-3	-1	-3</a:t>
            </a:r>
            <a:endParaRPr b="0"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sum from A[2]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:		-6	-7	-4	-5	-3	-5</a:t>
            </a:r>
            <a:endParaRPr b="0"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sum from A[3]: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			-1	2	1	3	1</a:t>
            </a:r>
            <a:endParaRPr b="0"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sum from A[4]: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				3	2	4	2</a:t>
            </a:r>
            <a:endParaRPr b="0"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sum from A[5]: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					-1	1	-1</a:t>
            </a:r>
            <a:endParaRPr b="0"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sum from A[6]: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						2	0</a:t>
            </a:r>
            <a:endParaRPr b="0"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sum from A[7]: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							-2</a:t>
            </a:r>
            <a:endParaRPr b="0"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748985" y="2789658"/>
            <a:ext cx="720600" cy="432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0f4d1ae16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ff7898153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g3eff7898153_0_0"/>
          <p:cNvSpPr txBox="1"/>
          <p:nvPr>
            <p:ph idx="4294967295" type="title"/>
          </p:nvPr>
        </p:nvSpPr>
        <p:spPr>
          <a:xfrm>
            <a:off x="457200" y="17145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Brute-Force Algorithm</a:t>
            </a:r>
            <a:endParaRPr/>
          </a:p>
        </p:txBody>
      </p:sp>
      <p:sp>
        <p:nvSpPr>
          <p:cNvPr id="171" name="Google Shape;171;g3eff7898153_0_0"/>
          <p:cNvSpPr txBox="1"/>
          <p:nvPr/>
        </p:nvSpPr>
        <p:spPr>
          <a:xfrm>
            <a:off x="330200" y="914400"/>
            <a:ext cx="8058300" cy="3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Example:	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		2	-6	-1	3	-1	2	-2</a:t>
            </a:r>
            <a:endParaRPr b="0"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sum from A[1]: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	2	-4	-5	-2	-3	-1	-3</a:t>
            </a:r>
            <a:endParaRPr b="0"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sum from A[2]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:		-6	-7	-4	-5	-3	-5</a:t>
            </a:r>
            <a:endParaRPr b="0"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sum from A[3]: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			-1	2	1	3	1</a:t>
            </a:r>
            <a:endParaRPr b="0"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sum from A[4]: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				3	2	4	2</a:t>
            </a:r>
            <a:endParaRPr b="0"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sum from A[5]: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					-1	1	-1</a:t>
            </a:r>
            <a:endParaRPr b="0"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sum from A[6]: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						2	0</a:t>
            </a:r>
            <a:endParaRPr b="0"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sum from A[7]: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							-2</a:t>
            </a:r>
            <a:endParaRPr b="0"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72" name="Google Shape;172;g3eff7898153_0_0"/>
          <p:cNvSpPr/>
          <p:nvPr/>
        </p:nvSpPr>
        <p:spPr>
          <a:xfrm>
            <a:off x="4748985" y="2789658"/>
            <a:ext cx="720600" cy="432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>
            <p:ph idx="4294967295" type="title"/>
          </p:nvPr>
        </p:nvSpPr>
        <p:spPr>
          <a:xfrm>
            <a:off x="457200" y="17145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Brute-Force Algorithm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330200" y="914400"/>
            <a:ext cx="7698300" cy="3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b="0" i="0" lang="en" sz="26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Outer loop: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index variable </a:t>
            </a:r>
            <a:r>
              <a:rPr b="0" i="1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to indicate start of subarray, for 1 ≤ </a:t>
            </a:r>
            <a:r>
              <a:rPr b="0" i="1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≤ n, i.e., A[1], A[2], ..., A[</a:t>
            </a:r>
            <a:r>
              <a:rPr b="0" i="1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560"/>
              <a:buFont typeface="Proxima Nova"/>
              <a:buChar char="●"/>
            </a:pPr>
            <a:r>
              <a:rPr b="0"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for </a:t>
            </a:r>
            <a:r>
              <a:rPr b="0"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0"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1 to </a:t>
            </a:r>
            <a:r>
              <a:rPr b="0"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do ...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b="0" i="0" lang="en" sz="26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Inner loop: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for each start index </a:t>
            </a:r>
            <a:r>
              <a:rPr b="0" i="1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we need to go through A[</a:t>
            </a:r>
            <a:r>
              <a:rPr b="0" i="1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b="0" i="1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], A[</a:t>
            </a:r>
            <a:r>
              <a:rPr b="0" i="1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..(</a:t>
            </a:r>
            <a:r>
              <a:rPr b="0" i="1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+1)], ..., A[</a:t>
            </a:r>
            <a:r>
              <a:rPr b="0" i="1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b="0" i="1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560"/>
              <a:buFont typeface="Proxima Nova"/>
              <a:buChar char="●"/>
            </a:pPr>
            <a:r>
              <a:rPr b="0"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use an index </a:t>
            </a:r>
            <a:r>
              <a:rPr b="0"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b="0"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for </a:t>
            </a:r>
            <a:r>
              <a:rPr b="0"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0"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≤ </a:t>
            </a:r>
            <a:r>
              <a:rPr b="0"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b="0"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≤ </a:t>
            </a:r>
            <a:r>
              <a:rPr b="0"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i.e., consider A[</a:t>
            </a:r>
            <a:r>
              <a:rPr b="0"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0"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b="0"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b="0"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560"/>
              <a:buFont typeface="Proxima Nova"/>
              <a:buChar char="●"/>
            </a:pPr>
            <a:r>
              <a:rPr b="0"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for </a:t>
            </a:r>
            <a:r>
              <a:rPr b="0"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b="0"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</a:t>
            </a:r>
            <a:r>
              <a:rPr b="0"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0"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to </a:t>
            </a:r>
            <a:r>
              <a:rPr b="0"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do ...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9" name="Google Shape;17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>
            <p:ph idx="4294967295" type="title"/>
          </p:nvPr>
        </p:nvSpPr>
        <p:spPr>
          <a:xfrm>
            <a:off x="457200" y="17145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Brute-Force Algorithm</a:t>
            </a:r>
            <a:endParaRPr/>
          </a:p>
        </p:txBody>
      </p:sp>
      <p:sp>
        <p:nvSpPr>
          <p:cNvPr id="185" name="Google Shape;185;p7"/>
          <p:cNvSpPr txBox="1"/>
          <p:nvPr/>
        </p:nvSpPr>
        <p:spPr>
          <a:xfrm>
            <a:off x="330200" y="789552"/>
            <a:ext cx="6114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max = -</a:t>
            </a:r>
            <a:r>
              <a:rPr b="1" i="0" lang="en" sz="19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i = 1 to n do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0" lang="en" sz="19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sum = 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for j = i to n do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begin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sum = sum + A[j]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if sum &gt; max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then max = sum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end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580385" y="951570"/>
            <a:ext cx="3240000" cy="1241700"/>
          </a:xfrm>
          <a:prstGeom prst="cloudCallout">
            <a:avLst>
              <a:gd fmla="val -65010" name="adj1"/>
              <a:gd fmla="val 884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Time complexity?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O(n</a:t>
            </a:r>
            <a:r>
              <a:rPr b="1" baseline="30000" i="0" lang="en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1" i="0" lang="en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1" i="0" sz="2400" u="none" cap="none" strike="noStrike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7" name="Google Shape;18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8"/>
          <p:cNvSpPr txBox="1"/>
          <p:nvPr>
            <p:ph idx="4294967295" type="title"/>
          </p:nvPr>
        </p:nvSpPr>
        <p:spPr>
          <a:xfrm>
            <a:off x="457200" y="17145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Divide-and-Conquer Algorithm</a:t>
            </a:r>
            <a:endParaRPr/>
          </a:p>
        </p:txBody>
      </p:sp>
      <p:sp>
        <p:nvSpPr>
          <p:cNvPr id="194" name="Google Shape;194;p8"/>
          <p:cNvSpPr txBox="1"/>
          <p:nvPr/>
        </p:nvSpPr>
        <p:spPr>
          <a:xfrm>
            <a:off x="468313" y="789552"/>
            <a:ext cx="8229600" cy="18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Possible locations of a maximum subarray </a:t>
            </a:r>
            <a:r>
              <a:rPr b="0" i="1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b="0" i="0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b="0" i="1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0" i="0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b="0" i="1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b="0" i="0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] of </a:t>
            </a:r>
            <a:r>
              <a:rPr b="0" i="1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b="0" i="0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b="0" i="1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low</a:t>
            </a:r>
            <a:r>
              <a:rPr b="0" i="0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b="0" i="1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high</a:t>
            </a:r>
            <a:r>
              <a:rPr b="0" i="0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], where </a:t>
            </a:r>
            <a:r>
              <a:rPr b="0" i="1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mid</a:t>
            </a:r>
            <a:r>
              <a:rPr b="0" i="0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= ⎣(</a:t>
            </a:r>
            <a:r>
              <a:rPr b="0" i="1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low </a:t>
            </a:r>
            <a:r>
              <a:rPr b="0" i="0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+ </a:t>
            </a:r>
            <a:r>
              <a:rPr b="0" i="1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high</a:t>
            </a:r>
            <a:r>
              <a:rPr b="0" i="0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)/2⎦</a:t>
            </a:r>
            <a:endParaRPr b="0" i="0" sz="25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730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Proxima Nova"/>
              <a:buChar char="▪"/>
            </a:pP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entirely in </a:t>
            </a:r>
            <a:r>
              <a:rPr b="0"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b="0"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low</a:t>
            </a: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b="0"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mid</a:t>
            </a: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] 		(</a:t>
            </a:r>
            <a:r>
              <a:rPr b="0"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low</a:t>
            </a: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 ≤ </a:t>
            </a:r>
            <a:r>
              <a:rPr b="0"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i </a:t>
            </a: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≤ </a:t>
            </a:r>
            <a:r>
              <a:rPr b="0"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j </a:t>
            </a: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≤ </a:t>
            </a:r>
            <a:r>
              <a:rPr b="0"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mid</a:t>
            </a: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b="0" i="0" sz="2200" u="none" cap="none" strike="noStrike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730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Proxima Nova"/>
              <a:buChar char="▪"/>
            </a:pP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entirely in </a:t>
            </a:r>
            <a:r>
              <a:rPr b="0"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b="0"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mid</a:t>
            </a: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+1</a:t>
            </a:r>
            <a:r>
              <a:rPr b="0"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..high</a:t>
            </a: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] 	(</a:t>
            </a:r>
            <a:r>
              <a:rPr b="0"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mid</a:t>
            </a: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 &lt; </a:t>
            </a:r>
            <a:r>
              <a:rPr b="0"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i </a:t>
            </a: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≤ </a:t>
            </a:r>
            <a:r>
              <a:rPr b="0"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j </a:t>
            </a: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≤ </a:t>
            </a:r>
            <a:r>
              <a:rPr b="0"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high</a:t>
            </a: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b="0" i="0" sz="2200" u="none" cap="none" strike="noStrike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730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Proxima Nova"/>
              <a:buChar char="▪"/>
            </a:pP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crossing the midpoint 		(</a:t>
            </a:r>
            <a:r>
              <a:rPr b="0"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low</a:t>
            </a: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 ≤ </a:t>
            </a:r>
            <a:r>
              <a:rPr b="0"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i </a:t>
            </a: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≤ </a:t>
            </a:r>
            <a:r>
              <a:rPr b="0"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mid</a:t>
            </a: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 &lt; </a:t>
            </a:r>
            <a:r>
              <a:rPr b="0"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j </a:t>
            </a: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≤ </a:t>
            </a:r>
            <a:r>
              <a:rPr b="0"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high</a:t>
            </a:r>
            <a:r>
              <a:rPr b="0"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b="0" i="0" sz="2200" u="none" cap="none" strike="noStrike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95" name="Google Shape;195;p8"/>
          <p:cNvGraphicFramePr/>
          <p:nvPr/>
        </p:nvGraphicFramePr>
        <p:xfrm>
          <a:off x="1476375" y="3652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{BF829549-F00F-4137-B3E1-3B3B9526D766}</a:tableStyleId>
              </a:tblPr>
              <a:tblGrid>
                <a:gridCol w="434975"/>
                <a:gridCol w="436575"/>
                <a:gridCol w="434975"/>
                <a:gridCol w="434975"/>
                <a:gridCol w="434975"/>
                <a:gridCol w="436550"/>
                <a:gridCol w="434975"/>
                <a:gridCol w="434975"/>
                <a:gridCol w="436575"/>
                <a:gridCol w="434975"/>
                <a:gridCol w="434975"/>
                <a:gridCol w="434975"/>
                <a:gridCol w="436550"/>
                <a:gridCol w="434975"/>
              </a:tblGrid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</a:tbl>
          </a:graphicData>
        </a:graphic>
      </p:graphicFrame>
      <p:cxnSp>
        <p:nvCxnSpPr>
          <p:cNvPr id="196" name="Google Shape;196;p8"/>
          <p:cNvCxnSpPr/>
          <p:nvPr/>
        </p:nvCxnSpPr>
        <p:spPr>
          <a:xfrm rot="5400000">
            <a:off x="4366013" y="3787388"/>
            <a:ext cx="269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8"/>
          <p:cNvSpPr txBox="1"/>
          <p:nvPr/>
        </p:nvSpPr>
        <p:spPr>
          <a:xfrm>
            <a:off x="1415213" y="3356769"/>
            <a:ext cx="628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1" lang="en" sz="16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low                                               mid                                                 high</a:t>
            </a:r>
            <a:endParaRPr b="0" i="1" sz="16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1763701" y="4246950"/>
            <a:ext cx="244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entirely in </a:t>
            </a:r>
            <a:r>
              <a:rPr b="0"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b="0"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b="0"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low</a:t>
            </a:r>
            <a:r>
              <a:rPr b="0"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b="0"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mid</a:t>
            </a:r>
            <a:r>
              <a:rPr b="0"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b="0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4810949" y="4202660"/>
            <a:ext cx="262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entirely in </a:t>
            </a:r>
            <a:r>
              <a:rPr b="0"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b="0"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b="0"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mid+1</a:t>
            </a:r>
            <a:r>
              <a:rPr b="0"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b="0"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high</a:t>
            </a:r>
            <a:r>
              <a:rPr b="0"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b="0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2527582" y="2938500"/>
            <a:ext cx="373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crossing the midpoint</a:t>
            </a:r>
            <a:endParaRPr b="0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01" name="Google Shape;20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4850" y="2490788"/>
            <a:ext cx="85726" cy="161923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8"/>
          <p:cNvSpPr/>
          <p:nvPr/>
        </p:nvSpPr>
        <p:spPr>
          <a:xfrm rot="5400000">
            <a:off x="4355400" y="1924341"/>
            <a:ext cx="215700" cy="2808300"/>
          </a:xfrm>
          <a:prstGeom prst="leftBrace">
            <a:avLst>
              <a:gd fmla="val 8333" name="adj1"/>
              <a:gd fmla="val 4951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 rot="-5400000">
            <a:off x="2880335" y="2859300"/>
            <a:ext cx="215400" cy="2448000"/>
          </a:xfrm>
          <a:prstGeom prst="leftBrace">
            <a:avLst>
              <a:gd fmla="val 8333" name="adj1"/>
              <a:gd fmla="val 4951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 rot="-5400000">
            <a:off x="5987092" y="2739100"/>
            <a:ext cx="216600" cy="2712900"/>
          </a:xfrm>
          <a:prstGeom prst="leftBrace">
            <a:avLst>
              <a:gd fmla="val 8333" name="adj1"/>
              <a:gd fmla="val 4951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1619250" y="4624388"/>
            <a:ext cx="583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ahoma"/>
              <a:buNone/>
            </a:pPr>
            <a:r>
              <a:rPr b="0" i="0" lang="en" sz="18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Possible locations of subarrays of A[low..high]</a:t>
            </a:r>
            <a:endParaRPr b="0" i="0" sz="18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9"/>
          <p:cNvSpPr txBox="1"/>
          <p:nvPr>
            <p:ph idx="4294967295" type="title"/>
          </p:nvPr>
        </p:nvSpPr>
        <p:spPr>
          <a:xfrm>
            <a:off x="457200" y="17145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Divide-and-Conquer Algorithm</a:t>
            </a:r>
            <a:endParaRPr/>
          </a:p>
        </p:txBody>
      </p:sp>
      <p:sp>
        <p:nvSpPr>
          <p:cNvPr id="212" name="Google Shape;212;p9"/>
          <p:cNvSpPr txBox="1"/>
          <p:nvPr/>
        </p:nvSpPr>
        <p:spPr>
          <a:xfrm>
            <a:off x="128700" y="519150"/>
            <a:ext cx="6693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None/>
            </a:pPr>
            <a:r>
              <a:rPr b="0" i="0" lang="en" sz="19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FIND-MAX-CROSSING-SUBARRAY (A</a:t>
            </a:r>
            <a:r>
              <a:rPr b="0" i="1" lang="en" sz="19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,</a:t>
            </a:r>
            <a:r>
              <a:rPr b="0" i="0" lang="en" sz="19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b="0" i="1" lang="en" sz="19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low</a:t>
            </a:r>
            <a:r>
              <a:rPr b="0" i="0" lang="en" sz="19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,</a:t>
            </a:r>
            <a:r>
              <a:rPr b="0" i="1" lang="en" sz="19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mid, high</a:t>
            </a:r>
            <a:r>
              <a:rPr b="0" i="0" lang="en" sz="19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) </a:t>
            </a:r>
            <a:endParaRPr b="0" i="0" sz="1900" u="none" cap="none" strike="noStrike">
              <a:solidFill>
                <a:srgbClr val="0000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684325" y="881400"/>
            <a:ext cx="78702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left-sum = -</a:t>
            </a:r>
            <a:r>
              <a:rPr b="0" i="0" lang="en" sz="13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∞</a:t>
            </a:r>
            <a:r>
              <a:rPr b="1" i="0" lang="en" sz="13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 	</a:t>
            </a:r>
            <a:r>
              <a:rPr b="0" i="0" lang="en" sz="1300" u="none" cap="none" strike="noStrike">
                <a:solidFill>
                  <a:srgbClr val="783F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Find a maximum subarray of the form A[</a:t>
            </a:r>
            <a:r>
              <a:rPr b="0" i="1" lang="en" sz="1300" u="none" cap="none" strike="noStrike">
                <a:solidFill>
                  <a:srgbClr val="783F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" sz="1300" u="none" cap="none" strike="noStrike">
                <a:solidFill>
                  <a:srgbClr val="783F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b="0" i="1" lang="en" sz="1300" u="none" cap="none" strike="noStrike">
                <a:solidFill>
                  <a:srgbClr val="783F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b="0" i="0" lang="en" sz="1300" u="none" cap="none" strike="noStrike">
                <a:solidFill>
                  <a:srgbClr val="783F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endParaRPr b="0" i="1" sz="1300" u="none" cap="none" strike="noStrike">
              <a:solidFill>
                <a:srgbClr val="783F0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= 0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</a:t>
            </a:r>
            <a:r>
              <a:rPr b="1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downto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low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sum = sum + A</a:t>
            </a: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1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&gt; left-sum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left-sum = sum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max-left = i 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right-sum = -</a:t>
            </a:r>
            <a:r>
              <a:rPr b="0" i="0" lang="en" sz="13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∞ 	</a:t>
            </a:r>
            <a:r>
              <a:rPr b="0" i="0" lang="en" sz="1300" u="none" cap="none" strike="noStrike">
                <a:solidFill>
                  <a:srgbClr val="783F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Find a maximum subarray of the form A[</a:t>
            </a:r>
            <a:r>
              <a:rPr b="0" i="1" lang="en" sz="1300" u="none" cap="none" strike="noStrike">
                <a:solidFill>
                  <a:srgbClr val="783F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+ 1 .. j </a:t>
            </a:r>
            <a:r>
              <a:rPr b="0" i="0" lang="en" sz="1300" u="none" cap="none" strike="noStrike">
                <a:solidFill>
                  <a:srgbClr val="783F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700" u="none" cap="none" strike="noStrike">
              <a:solidFill>
                <a:srgbClr val="783F0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=0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+1 </a:t>
            </a:r>
            <a:r>
              <a:rPr b="1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sum = sum + A</a:t>
            </a: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1" sz="1500" u="none" cap="none" strike="noStrik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1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&gt; right-sum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right-sum = sum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max-right = j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b="0" i="0" lang="en" sz="1300" u="none" cap="none" strike="noStrike">
                <a:solidFill>
                  <a:srgbClr val="783F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Return the indices and the sum of the two subarrays</a:t>
            </a:r>
            <a:endParaRPr b="0" i="0" sz="1300" u="none" cap="none" strike="noStrike">
              <a:solidFill>
                <a:srgbClr val="783F0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max-left, max-right, left-sum + right-sum</a:t>
            </a: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500" u="none" cap="none" strike="noStrik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/>
          <p:nvPr>
            <p:ph idx="4294967295" type="title"/>
          </p:nvPr>
        </p:nvSpPr>
        <p:spPr>
          <a:xfrm>
            <a:off x="457200" y="17145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Divide-and-Conquer Algorithm</a:t>
            </a:r>
            <a:endParaRPr/>
          </a:p>
        </p:txBody>
      </p:sp>
      <p:graphicFrame>
        <p:nvGraphicFramePr>
          <p:cNvPr id="219" name="Google Shape;219;p10"/>
          <p:cNvGraphicFramePr/>
          <p:nvPr/>
        </p:nvGraphicFramePr>
        <p:xfrm>
          <a:off x="1331913" y="17073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{BF829549-F00F-4137-B3E1-3B3B9526D766}</a:tableStyleId>
              </a:tblPr>
              <a:tblGrid>
                <a:gridCol w="434975"/>
                <a:gridCol w="436550"/>
                <a:gridCol w="434975"/>
                <a:gridCol w="434975"/>
                <a:gridCol w="434975"/>
                <a:gridCol w="436575"/>
                <a:gridCol w="434975"/>
                <a:gridCol w="434975"/>
                <a:gridCol w="436550"/>
                <a:gridCol w="434975"/>
                <a:gridCol w="434975"/>
                <a:gridCol w="434975"/>
                <a:gridCol w="436575"/>
                <a:gridCol w="434975"/>
              </a:tblGrid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cxnSp>
        <p:nvCxnSpPr>
          <p:cNvPr id="220" name="Google Shape;220;p10"/>
          <p:cNvCxnSpPr/>
          <p:nvPr/>
        </p:nvCxnSpPr>
        <p:spPr>
          <a:xfrm rot="5400000">
            <a:off x="4249137" y="1841907"/>
            <a:ext cx="269100" cy="0"/>
          </a:xfrm>
          <a:prstGeom prst="straightConnector1">
            <a:avLst/>
          </a:prstGeom>
          <a:noFill/>
          <a:ln cap="flat" cmpd="sng" w="57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10"/>
          <p:cNvSpPr txBox="1"/>
          <p:nvPr/>
        </p:nvSpPr>
        <p:spPr>
          <a:xfrm>
            <a:off x="1241163" y="1354075"/>
            <a:ext cx="628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1" lang="en" sz="16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low                                                mid                                                high</a:t>
            </a:r>
            <a:endParaRPr b="0" i="1" sz="16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4155572" y="1976438"/>
            <a:ext cx="108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1" lang="en" sz="16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mid </a:t>
            </a:r>
            <a:r>
              <a:rPr b="0" i="0" lang="en" sz="16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+1</a:t>
            </a:r>
            <a:endParaRPr b="0" i="0" sz="16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3" name="Google Shape;223;p10"/>
          <p:cNvSpPr txBox="1"/>
          <p:nvPr/>
        </p:nvSpPr>
        <p:spPr>
          <a:xfrm>
            <a:off x="3203848" y="2301479"/>
            <a:ext cx="100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b="0"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b="0"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0"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b="0"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mid</a:t>
            </a:r>
            <a:r>
              <a:rPr b="0"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b="0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5795963" y="1958468"/>
            <a:ext cx="2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endParaRPr b="0" i="1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4355976" y="907256"/>
            <a:ext cx="180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b="0"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b="0"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mid+1</a:t>
            </a:r>
            <a:r>
              <a:rPr b="0"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b="0"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b="0"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b="0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6" name="Google Shape;226;p10"/>
          <p:cNvSpPr/>
          <p:nvPr/>
        </p:nvSpPr>
        <p:spPr>
          <a:xfrm rot="5400000">
            <a:off x="5111025" y="493979"/>
            <a:ext cx="215700" cy="1582800"/>
          </a:xfrm>
          <a:prstGeom prst="leftBrace">
            <a:avLst>
              <a:gd fmla="val 8333" name="adj1"/>
              <a:gd fmla="val 4951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10"/>
          <p:cNvSpPr/>
          <p:nvPr/>
        </p:nvSpPr>
        <p:spPr>
          <a:xfrm rot="-5400000">
            <a:off x="3630485" y="1617478"/>
            <a:ext cx="215400" cy="1152600"/>
          </a:xfrm>
          <a:prstGeom prst="leftBrace">
            <a:avLst>
              <a:gd fmla="val 8333" name="adj1"/>
              <a:gd fmla="val 4951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3142682" y="1312615"/>
            <a:ext cx="24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endParaRPr b="0" i="1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1116013" y="2680097"/>
            <a:ext cx="7056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1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b="0" i="0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b="0" i="1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0" i="0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b="0" i="1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b="0" i="0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] comprises two subarrays </a:t>
            </a:r>
            <a:r>
              <a:rPr b="0" i="1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b="0" i="0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b="0" i="1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0" i="0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b="0" i="1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mid</a:t>
            </a:r>
            <a:r>
              <a:rPr b="0" i="0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] and </a:t>
            </a:r>
            <a:r>
              <a:rPr b="0" i="1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b="0" i="0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b="0" i="1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mid</a:t>
            </a:r>
            <a:r>
              <a:rPr b="0" i="0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+1..</a:t>
            </a:r>
            <a:r>
              <a:rPr b="0" i="1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b="0" i="0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b="0" i="0" sz="24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0" name="Google Shape;23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11"/>
          <p:cNvSpPr txBox="1"/>
          <p:nvPr>
            <p:ph idx="4294967295" type="title"/>
          </p:nvPr>
        </p:nvSpPr>
        <p:spPr>
          <a:xfrm>
            <a:off x="457200" y="17145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Divide-and-Conquer Algorithm</a:t>
            </a:r>
            <a:endParaRPr/>
          </a:p>
        </p:txBody>
      </p:sp>
      <p:graphicFrame>
        <p:nvGraphicFramePr>
          <p:cNvPr id="237" name="Google Shape;237;p11"/>
          <p:cNvGraphicFramePr/>
          <p:nvPr/>
        </p:nvGraphicFramePr>
        <p:xfrm>
          <a:off x="1668463" y="96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{BF829549-F00F-4137-B3E1-3B3B9526D766}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27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7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-25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-16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-23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238" name="Google Shape;238;p11"/>
          <p:cNvSpPr txBox="1"/>
          <p:nvPr/>
        </p:nvSpPr>
        <p:spPr>
          <a:xfrm>
            <a:off x="1248197" y="1245554"/>
            <a:ext cx="37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1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741475" y="1556425"/>
            <a:ext cx="51942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b="0"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[5 .. 5] =	   		              		      -3</a:t>
            </a:r>
            <a:endParaRPr b="0" i="0" sz="1600" u="none" cap="none" strike="noStrike">
              <a:solidFill>
                <a:srgbClr val="00269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b="0"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[4 .. 5] =		           		   17 </a:t>
            </a:r>
            <a:r>
              <a:rPr b="0" i="0" lang="en" sz="16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⇐ (max-left = 4)</a:t>
            </a:r>
            <a:endParaRPr b="0" i="0" sz="16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b="0"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[3 .. 5] =	          		-8</a:t>
            </a:r>
            <a:endParaRPr b="0" i="0" sz="1600" u="none" cap="none" strike="noStrike">
              <a:solidFill>
                <a:srgbClr val="00269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b="0"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[2 .. 5] =		     -11</a:t>
            </a:r>
            <a:endParaRPr b="0" i="0" sz="1600" u="none" cap="none" strike="noStrike">
              <a:solidFill>
                <a:srgbClr val="00269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b="0"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[1 .. 5] =  	   2</a:t>
            </a:r>
            <a:endParaRPr b="0" i="0" sz="1400" u="none" cap="none" strike="noStrike">
              <a:solidFill>
                <a:srgbClr val="00269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40" name="Google Shape;240;p11"/>
          <p:cNvCxnSpPr/>
          <p:nvPr/>
        </p:nvCxnSpPr>
        <p:spPr>
          <a:xfrm rot="5400000">
            <a:off x="4446163" y="1245582"/>
            <a:ext cx="540600" cy="0"/>
          </a:xfrm>
          <a:prstGeom prst="straightConnector1">
            <a:avLst/>
          </a:prstGeom>
          <a:noFill/>
          <a:ln cap="flat" cmpd="sng" w="57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11"/>
          <p:cNvSpPr txBox="1"/>
          <p:nvPr/>
        </p:nvSpPr>
        <p:spPr>
          <a:xfrm>
            <a:off x="3995738" y="651431"/>
            <a:ext cx="10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imes New Roman"/>
              <a:buNone/>
            </a:pPr>
            <a:r>
              <a:rPr b="0" i="0" lang="en" sz="1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=5</a:t>
            </a:r>
            <a:endParaRPr b="0" i="0" sz="18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2" name="Google Shape;242;p11"/>
          <p:cNvGraphicFramePr/>
          <p:nvPr/>
        </p:nvGraphicFramePr>
        <p:xfrm>
          <a:off x="1811338" y="2854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{BF829549-F00F-4137-B3E1-3B3B9526D766}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27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7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-25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-16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-23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243" name="Google Shape;243;p11"/>
          <p:cNvSpPr txBox="1"/>
          <p:nvPr/>
        </p:nvSpPr>
        <p:spPr>
          <a:xfrm>
            <a:off x="1403350" y="3136266"/>
            <a:ext cx="37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1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3995758" y="3417931"/>
            <a:ext cx="4572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b="0"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[6 .. 6] =	  -16</a:t>
            </a:r>
            <a:endParaRPr b="0" i="0" sz="1600" u="none" cap="none" strike="noStrike">
              <a:solidFill>
                <a:srgbClr val="00269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b="0"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[6 .. 7] =	             -39</a:t>
            </a:r>
            <a:endParaRPr b="0" i="0" sz="1600" u="none" cap="none" strike="noStrike">
              <a:solidFill>
                <a:srgbClr val="00269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b="0"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[6 .. 8] =	                        -21</a:t>
            </a:r>
            <a:endParaRPr b="0" i="0" sz="1600" u="none" cap="none" strike="noStrike">
              <a:solidFill>
                <a:srgbClr val="00269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b="0"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[6 .. 9] =	      </a:t>
            </a:r>
            <a:r>
              <a:rPr b="0" i="0" lang="en" sz="16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 (max-right = 9) ⇒</a:t>
            </a:r>
            <a:r>
              <a:rPr b="0"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 - 1</a:t>
            </a:r>
            <a:endParaRPr b="0" i="0" sz="1600" u="none" cap="none" strike="noStrike">
              <a:solidFill>
                <a:srgbClr val="00269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b="0"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[6..10] =                                                   -8</a:t>
            </a:r>
            <a:endParaRPr b="0" i="0" sz="1600" u="none" cap="none" strike="noStrike">
              <a:solidFill>
                <a:srgbClr val="00269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45" name="Google Shape;245;p11"/>
          <p:cNvCxnSpPr/>
          <p:nvPr/>
        </p:nvCxnSpPr>
        <p:spPr>
          <a:xfrm rot="5400000">
            <a:off x="4589038" y="3136294"/>
            <a:ext cx="540600" cy="0"/>
          </a:xfrm>
          <a:prstGeom prst="straightConnector1">
            <a:avLst/>
          </a:prstGeom>
          <a:noFill/>
          <a:ln cap="flat" cmpd="sng" w="57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11"/>
          <p:cNvSpPr txBox="1"/>
          <p:nvPr/>
        </p:nvSpPr>
        <p:spPr>
          <a:xfrm>
            <a:off x="4140200" y="2542144"/>
            <a:ext cx="84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=5</a:t>
            </a:r>
            <a:endParaRPr b="0" i="0" sz="18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369218" y="4744822"/>
            <a:ext cx="672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Times New Roman"/>
              <a:buNone/>
            </a:pPr>
            <a:r>
              <a:rPr b="0" i="0" lang="en" sz="19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⇒ maximum subarray crossing </a:t>
            </a:r>
            <a:r>
              <a:rPr b="0" i="1" lang="en" sz="19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mid</a:t>
            </a:r>
            <a:r>
              <a:rPr b="0" i="0" lang="en" sz="19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is </a:t>
            </a:r>
            <a:r>
              <a:rPr b="0" i="1" lang="en" sz="19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</a:t>
            </a:r>
            <a:r>
              <a:rPr b="0" i="0" lang="en" sz="19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[4..9] = 16</a:t>
            </a:r>
            <a:endParaRPr b="0" i="0" sz="1900" u="none" cap="none" strike="noStrike">
              <a:solidFill>
                <a:srgbClr val="0000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5383200" y="4204475"/>
            <a:ext cx="1494600" cy="3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3969175" y="1872263"/>
            <a:ext cx="1494600" cy="3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12"/>
          <p:cNvSpPr txBox="1"/>
          <p:nvPr>
            <p:ph idx="4294967295" type="title"/>
          </p:nvPr>
        </p:nvSpPr>
        <p:spPr>
          <a:xfrm>
            <a:off x="457200" y="17145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Divide-and-Conquer Algorithm</a:t>
            </a:r>
            <a:endParaRPr/>
          </a:p>
        </p:txBody>
      </p:sp>
      <p:sp>
        <p:nvSpPr>
          <p:cNvPr id="256" name="Google Shape;256;p12"/>
          <p:cNvSpPr txBox="1"/>
          <p:nvPr/>
        </p:nvSpPr>
        <p:spPr>
          <a:xfrm>
            <a:off x="457194" y="551383"/>
            <a:ext cx="734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Times New Roman"/>
              <a:buNone/>
            </a:pPr>
            <a:r>
              <a:rPr b="0" i="0" lang="en" sz="20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FIND-MAXIMUM-SUBARRAY (</a:t>
            </a:r>
            <a:r>
              <a:rPr b="0" i="1" lang="en" sz="20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</a:t>
            </a:r>
            <a:r>
              <a:rPr b="0" i="0" lang="en" sz="20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, </a:t>
            </a:r>
            <a:r>
              <a:rPr b="0" i="1" lang="en" sz="20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low, high</a:t>
            </a:r>
            <a:r>
              <a:rPr b="0" i="0" lang="en" sz="20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)</a:t>
            </a:r>
            <a:endParaRPr b="0" i="0" sz="2000" u="none" cap="none" strike="noStrike">
              <a:solidFill>
                <a:srgbClr val="0000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755576" y="900170"/>
            <a:ext cx="8064600" cy="37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if 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high == low</a:t>
            </a:r>
            <a:endParaRPr b="0"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return 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low, high, A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low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])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// base case: only one element</a:t>
            </a:r>
            <a:endParaRPr b="0"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else 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mid =       </a:t>
            </a:r>
            <a:endParaRPr b="0"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left-low, left-high, left-sum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= </a:t>
            </a:r>
            <a:endParaRPr b="0"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FIND-MAXIMUM-SUBARRAY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A, low, mid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b="0"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(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right-low, right-high, right-sum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1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=  </a:t>
            </a:r>
            <a:endParaRPr b="0"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FIND-MAXIMUM-SUBARRAY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A, mid + 1, high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b="0"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(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cross-low, cross-high, cross-sum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= </a:t>
            </a:r>
            <a:endParaRPr b="0"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FIND-MAX-CROSSING-SUBARRAY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A, low, mid, high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b="0"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if 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left-sum 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≧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right-sum </a:t>
            </a:r>
            <a:r>
              <a:rPr b="1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and 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left-sum 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≧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cross-sum</a:t>
            </a:r>
            <a:endParaRPr b="0"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return 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left-low, left-high, left-sum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b="0"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elseif 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right-sum 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≧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left-sum </a:t>
            </a:r>
            <a:r>
              <a:rPr b="1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and 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right-sum 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≧ 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cross-sum</a:t>
            </a:r>
            <a:endParaRPr b="0"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return 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right-low, right-high, right-sum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b="0"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else return 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b="0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cross-low, cross-high, cross-sum</a:t>
            </a:r>
            <a:r>
              <a:rPr b="0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b="0" i="0" sz="15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58" name="Google Shape;25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132" y="1535897"/>
            <a:ext cx="1348981" cy="32385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 txBox="1"/>
          <p:nvPr/>
        </p:nvSpPr>
        <p:spPr>
          <a:xfrm>
            <a:off x="-238131" y="4690684"/>
            <a:ext cx="581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" sz="16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Initial call: FIND-MAXIMUM-SUBARRAY (A, </a:t>
            </a:r>
            <a:r>
              <a:rPr b="0" i="0" lang="en" sz="16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1,</a:t>
            </a:r>
            <a:r>
              <a:rPr b="0" i="1" lang="en" sz="16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n</a:t>
            </a:r>
            <a:r>
              <a:rPr b="0" i="0" lang="en" sz="16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)</a:t>
            </a:r>
            <a:endParaRPr b="0" i="0" sz="1600" u="none" cap="none" strike="noStrike">
              <a:solidFill>
                <a:srgbClr val="0000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13"/>
          <p:cNvSpPr txBox="1"/>
          <p:nvPr/>
        </p:nvSpPr>
        <p:spPr>
          <a:xfrm>
            <a:off x="348050" y="847136"/>
            <a:ext cx="8229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0" i="0" lang="en" sz="32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Analyzing time complexity</a:t>
            </a:r>
            <a:endParaRPr b="0" i="0" sz="32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66" name="Google Shape;266;p13"/>
          <p:cNvSpPr txBox="1"/>
          <p:nvPr/>
        </p:nvSpPr>
        <p:spPr>
          <a:xfrm>
            <a:off x="457200" y="1545625"/>
            <a:ext cx="8534100" cy="3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b="0" i="0" lang="en" sz="24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FIND-MAX-CROSSING-SUBARRAY </a:t>
            </a:r>
            <a:r>
              <a:rPr b="0"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: 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Θ(</a:t>
            </a:r>
            <a:r>
              <a:rPr b="0"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), </a:t>
            </a:r>
            <a:r>
              <a:rPr b="0" i="0" lang="en" sz="2000" u="none" cap="none" strike="noStrike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where </a:t>
            </a:r>
            <a:r>
              <a:rPr b="0" i="1" lang="en" sz="2000" u="none" cap="none" strike="noStrike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2000" u="none" cap="none" strike="noStrike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 = </a:t>
            </a:r>
            <a:r>
              <a:rPr b="0" i="1" lang="en" sz="2000" u="none" cap="none" strike="noStrike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high</a:t>
            </a:r>
            <a:r>
              <a:rPr b="0" i="0" lang="en" sz="2000" u="none" cap="none" strike="noStrike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 − </a:t>
            </a:r>
            <a:r>
              <a:rPr b="0" i="1" lang="en" sz="2000" u="none" cap="none" strike="noStrike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low</a:t>
            </a:r>
            <a:r>
              <a:rPr b="0" i="0" lang="en" sz="2000" u="none" cap="none" strike="noStrike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 + 1</a:t>
            </a:r>
            <a:endParaRPr b="0" i="0" sz="1000" u="none" cap="none" strike="noStrike">
              <a:solidFill>
                <a:srgbClr val="CC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b="0" i="0" lang="en" sz="24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FIND-MAXIMUM-SUBARRAY</a:t>
            </a:r>
            <a:r>
              <a:rPr b="0"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	</a:t>
            </a:r>
            <a:endParaRPr b="0" i="0" sz="24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b="0"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T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b="0"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  = 2</a:t>
            </a:r>
            <a:r>
              <a:rPr b="0"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b="0"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/2) + Θ(</a:t>
            </a:r>
            <a:r>
              <a:rPr b="0"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	</a:t>
            </a:r>
            <a:endParaRPr b="0" i="0" sz="24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=  Θ(</a:t>
            </a:r>
            <a:r>
              <a:rPr b="0"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1" lang="en" sz="1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lg</a:t>
            </a:r>
            <a:r>
              <a:rPr b="0" i="0" lang="en" sz="12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0"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 </a:t>
            </a:r>
            <a:r>
              <a:rPr b="0"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	(</a:t>
            </a:r>
            <a:r>
              <a:rPr b="0" i="0" lang="en" sz="2400" u="none" cap="none" strike="noStrike">
                <a:solidFill>
                  <a:srgbClr val="0000CC"/>
                </a:solidFill>
                <a:latin typeface="Proxima Nova"/>
                <a:ea typeface="Proxima Nova"/>
                <a:cs typeface="Proxima Nova"/>
                <a:sym typeface="Proxima Nova"/>
              </a:rPr>
              <a:t>similar to merge-sort</a:t>
            </a:r>
            <a:r>
              <a:rPr b="0"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b="0" i="0" sz="24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67" name="Google Shape;2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0075" y="2730885"/>
            <a:ext cx="3042046" cy="672703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3"/>
          <p:cNvSpPr txBox="1"/>
          <p:nvPr>
            <p:ph idx="4294967295" type="title"/>
          </p:nvPr>
        </p:nvSpPr>
        <p:spPr>
          <a:xfrm>
            <a:off x="457200" y="35005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Divide-and-Conquer Algorithm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Practice</a:t>
            </a:r>
            <a:endParaRPr/>
          </a:p>
        </p:txBody>
      </p:sp>
      <p:graphicFrame>
        <p:nvGraphicFramePr>
          <p:cNvPr id="274" name="Google Shape;274;p14"/>
          <p:cNvGraphicFramePr/>
          <p:nvPr/>
        </p:nvGraphicFramePr>
        <p:xfrm>
          <a:off x="867863" y="1100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{C12D9A6B-17B4-40BF-8E3F-ABE9F2372598}</a:tableStyleId>
              </a:tblPr>
              <a:tblGrid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-2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1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-3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4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-1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2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1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-5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4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Can we do better?</a:t>
            </a:r>
            <a:endParaRPr/>
          </a:p>
        </p:txBody>
      </p:sp>
      <p:pic>
        <p:nvPicPr>
          <p:cNvPr id="280" name="Google Shape;280;p15"/>
          <p:cNvPicPr preferRelativeResize="0"/>
          <p:nvPr/>
        </p:nvPicPr>
        <p:blipFill rotWithShape="1">
          <a:blip r:embed="rId3">
            <a:alphaModFix/>
          </a:blip>
          <a:srcRect b="0" l="0" r="0" t="3325"/>
          <a:stretch/>
        </p:blipFill>
        <p:spPr>
          <a:xfrm>
            <a:off x="311700" y="1479950"/>
            <a:ext cx="7993375" cy="379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Can we do better?</a:t>
            </a:r>
            <a:endParaRPr/>
          </a:p>
        </p:txBody>
      </p:sp>
      <p:pic>
        <p:nvPicPr>
          <p:cNvPr id="286" name="Google Shape;286;p16"/>
          <p:cNvPicPr preferRelativeResize="0"/>
          <p:nvPr/>
        </p:nvPicPr>
        <p:blipFill rotWithShape="1">
          <a:blip r:embed="rId3">
            <a:alphaModFix/>
          </a:blip>
          <a:srcRect b="34089" l="0" r="-1295" t="0"/>
          <a:stretch/>
        </p:blipFill>
        <p:spPr>
          <a:xfrm>
            <a:off x="416900" y="1303425"/>
            <a:ext cx="6046300" cy="363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Can we do better?</a:t>
            </a:r>
            <a:endParaRPr/>
          </a:p>
        </p:txBody>
      </p:sp>
      <p:pic>
        <p:nvPicPr>
          <p:cNvPr id="292" name="Google Shape;292;p17"/>
          <p:cNvPicPr preferRelativeResize="0"/>
          <p:nvPr/>
        </p:nvPicPr>
        <p:blipFill rotWithShape="1">
          <a:blip r:embed="rId3">
            <a:alphaModFix/>
          </a:blip>
          <a:srcRect b="0" l="0" r="0" t="64399"/>
          <a:stretch/>
        </p:blipFill>
        <p:spPr>
          <a:xfrm>
            <a:off x="311700" y="2010625"/>
            <a:ext cx="6233451" cy="20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Can we do better?</a:t>
            </a:r>
            <a:endParaRPr/>
          </a:p>
        </p:txBody>
      </p:sp>
      <p:pic>
        <p:nvPicPr>
          <p:cNvPr id="298" name="Google Shape;29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038" y="1826525"/>
            <a:ext cx="8459925" cy="230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4174bdd360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Can we do better?</a:t>
            </a:r>
            <a:endParaRPr/>
          </a:p>
        </p:txBody>
      </p:sp>
      <p:pic>
        <p:nvPicPr>
          <p:cNvPr id="304" name="Google Shape;304;g34174bdd360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575" y="1017725"/>
            <a:ext cx="7942573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Practice</a:t>
            </a:r>
            <a:endParaRPr/>
          </a:p>
        </p:txBody>
      </p:sp>
      <p:graphicFrame>
        <p:nvGraphicFramePr>
          <p:cNvPr id="310" name="Google Shape;310;p19"/>
          <p:cNvGraphicFramePr/>
          <p:nvPr/>
        </p:nvGraphicFramePr>
        <p:xfrm>
          <a:off x="952538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{C12D9A6B-17B4-40BF-8E3F-ABE9F2372598}</a:tableStyleId>
              </a:tblPr>
              <a:tblGrid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-2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1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-3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4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-1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2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1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-5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4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316" name="Google Shape;316;p20"/>
          <p:cNvSpPr txBox="1"/>
          <p:nvPr/>
        </p:nvSpPr>
        <p:spPr>
          <a:xfrm>
            <a:off x="493775" y="1378450"/>
            <a:ext cx="79314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roxima Nova"/>
              <a:buChar char="●"/>
            </a:pPr>
            <a:r>
              <a:rPr b="0" i="0" lang="en" sz="2200" u="sng" cap="none" strike="noStrike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CLRS Book</a:t>
            </a:r>
            <a:r>
              <a:rPr b="0" i="0" lang="en" sz="2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: </a:t>
            </a:r>
            <a:endParaRPr b="0" i="0" sz="2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roxima Nova"/>
              <a:buChar char="○"/>
            </a:pPr>
            <a:r>
              <a:rPr b="0" i="0" lang="en" sz="2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Chapter 4.1 - The Maximum Subarray Problem</a:t>
            </a:r>
            <a:endParaRPr b="0" i="0" sz="2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roxima Nova"/>
              <a:buChar char="●"/>
            </a:pPr>
            <a:r>
              <a:rPr b="0" i="0" lang="en" sz="2200" u="sng" cap="none" strike="noStrike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Kadane's Algorithm</a:t>
            </a:r>
            <a:endParaRPr b="0" i="0" sz="2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roxima Nova"/>
              <a:buChar char="●"/>
            </a:pPr>
            <a:r>
              <a:rPr b="0" i="0" lang="en" sz="2200" u="sng" cap="none" strike="noStrike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5"/>
              </a:rPr>
              <a:t>Kadane's Algo visualizer</a:t>
            </a:r>
            <a:endParaRPr b="0" i="0" sz="2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17" name="Google Shape;31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