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Nunito"/>
      <p:regular r:id="rId23"/>
      <p:bold r:id="rId24"/>
      <p:italic r:id="rId25"/>
      <p:boldItalic r:id="rId26"/>
    </p:embeddedFont>
    <p:embeddedFont>
      <p:font typeface="Proxima Nova Semibold"/>
      <p:regular r:id="rId27"/>
      <p:bold r:id="rId28"/>
      <p:boldItalic r:id="rId29"/>
    </p:embeddedFont>
    <p:embeddedFont>
      <p:font typeface="Alfa Slab One"/>
      <p:regular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iHgRREU9GqLE3XLUMNMiW9M2T/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ProximaNovaSemibold-bold.fntdata"/><Relationship Id="rId27" Type="http://schemas.openxmlformats.org/officeDocument/2006/relationships/font" Target="fonts/ProximaNova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roximaNova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7beb1a8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7beb1a8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 txBox="1"/>
          <p:nvPr>
            <p:ph type="title"/>
          </p:nvPr>
        </p:nvSpPr>
        <p:spPr>
          <a:xfrm>
            <a:off x="623890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" type="body"/>
          </p:nvPr>
        </p:nvSpPr>
        <p:spPr>
          <a:xfrm>
            <a:off x="623890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p28"/>
          <p:cNvSpPr txBox="1"/>
          <p:nvPr>
            <p:ph idx="10" type="dt"/>
          </p:nvPr>
        </p:nvSpPr>
        <p:spPr>
          <a:xfrm>
            <a:off x="6286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28"/>
          <p:cNvSpPr txBox="1"/>
          <p:nvPr>
            <p:ph idx="11" type="ftr"/>
          </p:nvPr>
        </p:nvSpPr>
        <p:spPr>
          <a:xfrm>
            <a:off x="3028953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81" name="Google Shape;81;p1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5B0F00"/>
                </a:solidFill>
              </a:rPr>
              <a:t>Lecture 6</a:t>
            </a:r>
            <a:endParaRPr b="1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0000FF"/>
                </a:solidFill>
              </a:rPr>
              <a:t>Karatsuba for Multiplication (Divide and Conquer)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Prantik Paul [PNP]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University </a:t>
            </a:r>
            <a:endParaRPr b="1" i="0" sz="1700" u="none" cap="none" strike="noStrike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idx="4294967295" type="body"/>
          </p:nvPr>
        </p:nvSpPr>
        <p:spPr>
          <a:xfrm>
            <a:off x="1357025" y="1533750"/>
            <a:ext cx="15900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x	34</a:t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5049650" y="1533750"/>
            <a:ext cx="3183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2699"/>
                </a:solidFill>
                <a:latin typeface="Open Sans"/>
                <a:ea typeface="Open Sans"/>
                <a:cs typeface="Open Sans"/>
                <a:sym typeface="Open Sans"/>
              </a:rPr>
              <a:t>2*4=8</a:t>
            </a:r>
            <a:endParaRPr b="0" i="0" sz="2300" u="none" cap="none" strike="noStrike">
              <a:solidFill>
                <a:srgbClr val="0026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2699"/>
                </a:solidFill>
                <a:latin typeface="Open Sans"/>
                <a:ea typeface="Open Sans"/>
                <a:cs typeface="Open Sans"/>
                <a:sym typeface="Open Sans"/>
              </a:rPr>
              <a:t>1*4=4</a:t>
            </a:r>
            <a:endParaRPr b="0" i="0" sz="2300" u="none" cap="none" strike="noStrike">
              <a:solidFill>
                <a:srgbClr val="0026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2699"/>
                </a:solidFill>
                <a:latin typeface="Open Sans"/>
                <a:ea typeface="Open Sans"/>
                <a:cs typeface="Open Sans"/>
                <a:sym typeface="Open Sans"/>
              </a:rPr>
              <a:t>2*3=6</a:t>
            </a:r>
            <a:endParaRPr b="0" i="0" sz="1600" u="none" cap="none" strike="noStrike">
              <a:solidFill>
                <a:srgbClr val="0026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300" u="none" cap="none" strike="noStrike">
                <a:solidFill>
                  <a:srgbClr val="002699"/>
                </a:solidFill>
                <a:latin typeface="Open Sans"/>
                <a:ea typeface="Open Sans"/>
                <a:cs typeface="Open Sans"/>
                <a:sym typeface="Open Sans"/>
              </a:rPr>
              <a:t>1*3=3</a:t>
            </a:r>
            <a:endParaRPr b="0" i="0" sz="2300" u="none" cap="none" strike="noStrike">
              <a:solidFill>
                <a:srgbClr val="0026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357025" y="2473350"/>
            <a:ext cx="168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	48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36</a:t>
            </a:r>
            <a:r>
              <a:rPr b="0" i="0" lang="en" sz="1800" u="none" cap="none" strike="noStrike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0" i="0" sz="1800" u="none" cap="none" strike="noStrike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1" name="Google Shape;91;p2"/>
          <p:cNvCxnSpPr/>
          <p:nvPr/>
        </p:nvCxnSpPr>
        <p:spPr>
          <a:xfrm flipH="1" rot="10800000">
            <a:off x="1357025" y="2473350"/>
            <a:ext cx="1103100" cy="1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2"/>
          <p:cNvSpPr txBox="1"/>
          <p:nvPr/>
        </p:nvSpPr>
        <p:spPr>
          <a:xfrm>
            <a:off x="4443800" y="3435425"/>
            <a:ext cx="358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 multiplications required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Naive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Naive Algorithm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357500" y="1332875"/>
            <a:ext cx="86241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= 1234 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 = 5678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1234 x 5678  (many many steps)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(1200 + 34)(5600 +78)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(1200 x 5600) + 1200 x 78 + 5600 x 34 + 34 x 78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(12 x 56) x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(12 x 78 + 56 x 34) x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+ 34 x 78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20825" y="3639400"/>
            <a:ext cx="1238450" cy="2996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270450" y="3639400"/>
            <a:ext cx="1238450" cy="2996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781125" y="3639400"/>
            <a:ext cx="1238450" cy="2996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960975" y="3639400"/>
            <a:ext cx="1238450" cy="2996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423400" y="2310975"/>
            <a:ext cx="2410800" cy="41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02150" y="2975071"/>
            <a:ext cx="8029800" cy="110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357500" y="1332875"/>
            <a:ext cx="86241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= 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  [X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and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contain leftmost and rightmost n/2 bits of X]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 = 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 [Y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and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contain leftmost and rightmost n/2 bits of Y]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)(Y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= 1234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 = 5678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12,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34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56,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78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357500" y="1332875"/>
            <a:ext cx="8624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= 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  [X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and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contain leftmost and rightmost n/2 bits of X]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 = 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 [Y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and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contain leftmost and rightmost n/2 bits of Y]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)(Y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454750" y="3079525"/>
            <a:ext cx="617700" cy="3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908175" y="3079525"/>
            <a:ext cx="617700" cy="3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755850" y="3079525"/>
            <a:ext cx="691500" cy="3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784550" y="3079525"/>
            <a:ext cx="566400" cy="3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122150" y="3639600"/>
            <a:ext cx="6165000" cy="4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We have divided the entire problem to 4 subproblems</a:t>
            </a:r>
            <a:endParaRPr b="0" i="0" sz="1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1122150" y="4330475"/>
            <a:ext cx="6165000" cy="4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Still same 4 multiplications required, not an optimization</a:t>
            </a:r>
            <a:endParaRPr b="0" i="0" sz="1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357500" y="1332875"/>
            <a:ext cx="8624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 =  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   [X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and 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contain leftmost and rightmost n/2 bits of X]</a:t>
            </a:r>
            <a:endParaRPr b="1" i="0" sz="1800" u="none" cap="none" strike="noStrike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 =  Y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  [Y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and Y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contain leftmost and rightmost n/2 bits of Y]</a:t>
            </a:r>
            <a:endParaRPr b="1" i="0" sz="1800" u="none" cap="none" strike="noStrike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XY = (X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baseline="30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+ 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)(Y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*10</a:t>
            </a:r>
            <a:r>
              <a:rPr b="1" baseline="30000" i="0" lang="en" sz="15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i="0" sz="1800" u="none" cap="none" strike="noStrike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= 10</a:t>
            </a:r>
            <a:r>
              <a:rPr b="1" baseline="30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5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6D9EE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800" u="none" cap="none" strike="noStrike">
              <a:solidFill>
                <a:srgbClr val="6D9EE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878350" y="3090625"/>
            <a:ext cx="1578000" cy="366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1074550" y="3577675"/>
            <a:ext cx="6165000" cy="50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21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Change this term to something better</a:t>
            </a:r>
            <a:endParaRPr b="0" i="0" sz="21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311700" y="1310050"/>
            <a:ext cx="86241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Tricky expression for middle two terms:</a:t>
            </a:r>
            <a:endParaRPr b="1" i="0" sz="16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6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273500" y="2159550"/>
            <a:ext cx="4259700" cy="41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311700" y="1310050"/>
            <a:ext cx="86241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Tricky expression for middle two terms: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6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815300" y="2168200"/>
            <a:ext cx="706200" cy="352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689575" y="2168200"/>
            <a:ext cx="706200" cy="352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8"/>
          <p:cNvCxnSpPr>
            <a:endCxn id="145" idx="2"/>
          </p:cNvCxnSpPr>
          <p:nvPr/>
        </p:nvCxnSpPr>
        <p:spPr>
          <a:xfrm rot="10800000">
            <a:off x="5168400" y="2520700"/>
            <a:ext cx="309300" cy="6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p8"/>
          <p:cNvCxnSpPr>
            <a:endCxn id="146" idx="2"/>
          </p:cNvCxnSpPr>
          <p:nvPr/>
        </p:nvCxnSpPr>
        <p:spPr>
          <a:xfrm flipH="1" rot="10800000">
            <a:off x="5980275" y="2520700"/>
            <a:ext cx="62400" cy="6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p8"/>
          <p:cNvSpPr txBox="1"/>
          <p:nvPr/>
        </p:nvSpPr>
        <p:spPr>
          <a:xfrm>
            <a:off x="3587475" y="3097900"/>
            <a:ext cx="4134900" cy="7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We already calculated these two,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No extra multiplication needed for them</a:t>
            </a:r>
            <a:endParaRPr b="0" i="0" sz="1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/>
        </p:nvSpPr>
        <p:spPr>
          <a:xfrm>
            <a:off x="259950" y="1274650"/>
            <a:ext cx="86241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Tricky expression for middle two terms: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6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)x(Y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824050" y="2168200"/>
            <a:ext cx="181800" cy="27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2037451" y="2168200"/>
            <a:ext cx="181800" cy="27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9"/>
          <p:cNvCxnSpPr>
            <a:endCxn id="156" idx="2"/>
          </p:cNvCxnSpPr>
          <p:nvPr/>
        </p:nvCxnSpPr>
        <p:spPr>
          <a:xfrm rot="10800000">
            <a:off x="914950" y="2441500"/>
            <a:ext cx="309300" cy="6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" name="Google Shape;159;p9"/>
          <p:cNvCxnSpPr>
            <a:endCxn id="157" idx="2"/>
          </p:cNvCxnSpPr>
          <p:nvPr/>
        </p:nvCxnSpPr>
        <p:spPr>
          <a:xfrm flipH="1" rot="10800000">
            <a:off x="2065951" y="2441500"/>
            <a:ext cx="62400" cy="6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9"/>
          <p:cNvSpPr txBox="1"/>
          <p:nvPr/>
        </p:nvSpPr>
        <p:spPr>
          <a:xfrm>
            <a:off x="372525" y="3097900"/>
            <a:ext cx="30057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Instead of these two multiplications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9"/>
          <p:cNvSpPr/>
          <p:nvPr/>
        </p:nvSpPr>
        <p:spPr>
          <a:xfrm flipH="1">
            <a:off x="4035550" y="2168200"/>
            <a:ext cx="135300" cy="27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4276300" y="2898550"/>
            <a:ext cx="30057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Only one new multiplication needed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3" name="Google Shape;163;p9"/>
          <p:cNvCxnSpPr>
            <a:stCxn id="162" idx="0"/>
            <a:endCxn id="161" idx="2"/>
          </p:cNvCxnSpPr>
          <p:nvPr/>
        </p:nvCxnSpPr>
        <p:spPr>
          <a:xfrm rot="10800000">
            <a:off x="4103350" y="2441350"/>
            <a:ext cx="16758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501150" y="1280750"/>
            <a:ext cx="82062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 the final value of XY becomes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5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1945075" y="2632275"/>
            <a:ext cx="5876400" cy="4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900" u="none" cap="none" strike="noStrike">
                <a:solidFill>
                  <a:srgbClr val="99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 multiplications required instead of 4</a:t>
            </a:r>
            <a:endParaRPr b="0" i="0" sz="1900" u="none" cap="none" strike="noStrike">
              <a:solidFill>
                <a:srgbClr val="99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609225" y="3325800"/>
            <a:ext cx="82062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12 x 56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=   (12 x 56) x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+ ((12 + 34) x (56 + 78) - 12 x 56 - 34 x 78) x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baseline="30000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 +  34 x 78</a:t>
            </a:r>
            <a:endParaRPr b="1" i="0" sz="1800" u="none" cap="none" strike="noStrike">
              <a:solidFill>
                <a:srgbClr val="002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822800" y="2035129"/>
            <a:ext cx="526200" cy="380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7821475" y="2035054"/>
            <a:ext cx="526200" cy="380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386000" y="2035050"/>
            <a:ext cx="2208900" cy="380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521125" y="1610325"/>
            <a:ext cx="82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457200" y="1101486"/>
            <a:ext cx="8229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Times New Roman"/>
              <a:buNone/>
            </a:pPr>
            <a:r>
              <a:rPr b="0" i="0" lang="en" sz="2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Analyzing time complexity</a:t>
            </a:r>
            <a:endParaRPr b="0" i="0" sz="28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579250" y="2347050"/>
            <a:ext cx="4326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 = 4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/2) + Θ(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	</a:t>
            </a:r>
            <a:endParaRPr b="0" i="0" sz="24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=  Θ(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baseline="3000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 (master th</a:t>
            </a:r>
            <a:r>
              <a:rPr b="0" baseline="30000" i="0" lang="en" sz="30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m)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1998675" y="2948050"/>
            <a:ext cx="2685900" cy="41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89" name="Google Shape;189;p12"/>
          <p:cNvSpPr txBox="1"/>
          <p:nvPr/>
        </p:nvSpPr>
        <p:spPr>
          <a:xfrm>
            <a:off x="521125" y="1610325"/>
            <a:ext cx="82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10</a:t>
            </a:r>
            <a:r>
              <a:rPr b="1" baseline="30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5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((X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X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8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457200" y="1101486"/>
            <a:ext cx="8229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Times New Roman"/>
              <a:buNone/>
            </a:pPr>
            <a:r>
              <a:rPr b="0" i="0" lang="en" sz="2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Analyzing time complexity</a:t>
            </a:r>
            <a:endParaRPr b="0" i="0" sz="28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579250" y="2347050"/>
            <a:ext cx="54750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 = 3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/2) + Θ(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	</a:t>
            </a:r>
            <a:endParaRPr b="0" i="0" sz="24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=  Θ(</a:t>
            </a:r>
            <a:r>
              <a:rPr b="0"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n^(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log</a:t>
            </a:r>
            <a:r>
              <a:rPr b="0" baseline="-2500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3))  (master th</a:t>
            </a:r>
            <a:r>
              <a:rPr b="0" baseline="30000" i="0" lang="en" sz="30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m)</a:t>
            </a:r>
            <a:endParaRPr b="0" i="0" sz="24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= Θ(n</a:t>
            </a:r>
            <a:r>
              <a:rPr b="0" baseline="3000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1.59</a:t>
            </a:r>
            <a:r>
              <a:rPr b="0"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</a:t>
            </a:r>
            <a:r>
              <a:rPr b="0" i="0" lang="en" sz="16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which is less than </a:t>
            </a:r>
            <a:r>
              <a:rPr b="0" i="0" lang="en" sz="18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Θ(</a:t>
            </a:r>
            <a:r>
              <a:rPr b="0" i="1" lang="en" sz="18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0" baseline="30000" i="1" lang="en" sz="18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0" i="0" lang="en" sz="18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b="0" i="0" sz="10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7beb1a85e_0_0"/>
          <p:cNvSpPr txBox="1"/>
          <p:nvPr>
            <p:ph type="title"/>
          </p:nvPr>
        </p:nvSpPr>
        <p:spPr>
          <a:xfrm>
            <a:off x="9485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Divide and Conquer Approach</a:t>
            </a:r>
            <a:endParaRPr/>
          </a:p>
        </p:txBody>
      </p:sp>
      <p:sp>
        <p:nvSpPr>
          <p:cNvPr id="197" name="Google Shape;197;g3f7beb1a85e_0_0"/>
          <p:cNvSpPr txBox="1"/>
          <p:nvPr/>
        </p:nvSpPr>
        <p:spPr>
          <a:xfrm>
            <a:off x="521125" y="1610325"/>
            <a:ext cx="820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g3f7beb1a85e_0_0"/>
          <p:cNvSpPr txBox="1"/>
          <p:nvPr/>
        </p:nvSpPr>
        <p:spPr>
          <a:xfrm>
            <a:off x="579250" y="2347050"/>
            <a:ext cx="547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9" name="Google Shape;199;g3f7beb1a85e_0_0"/>
          <p:cNvSpPr txBox="1"/>
          <p:nvPr/>
        </p:nvSpPr>
        <p:spPr>
          <a:xfrm>
            <a:off x="417700" y="658075"/>
            <a:ext cx="6580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def karatsuba(x, y):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if x &lt; 10 or y &lt; 10: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 return x * y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n = max(len(str(x)), len(str(y)))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m = ceil(n / 2)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p = 10 ** m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xh = x // p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xl = x % p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yh = y // p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yl = y % p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 = karatsuba(xh, yh)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b = karatsuba(xl, yl)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c = karatsuba(xh + xl, yh + yl)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return a * (10 ** (2*m)) + (c - a - b) * (10 ** m) + b</a:t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0" name="Google Shape;200;g3f7beb1a85e_0_0"/>
          <p:cNvSpPr txBox="1"/>
          <p:nvPr/>
        </p:nvSpPr>
        <p:spPr>
          <a:xfrm>
            <a:off x="3474225" y="658075"/>
            <a:ext cx="551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XY = 10</a:t>
            </a:r>
            <a:r>
              <a:rPr b="1" baseline="30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+ 10</a:t>
            </a:r>
            <a:r>
              <a:rPr b="1" baseline="30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n/2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((X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X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)(Y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+ Y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- X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 - X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) + X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baseline="-25000" i="0" lang="en" sz="1200" u="none" cap="none" strike="noStrike">
                <a:solidFill>
                  <a:srgbClr val="0026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g3f7beb1a85e_0_0"/>
          <p:cNvSpPr txBox="1"/>
          <p:nvPr/>
        </p:nvSpPr>
        <p:spPr>
          <a:xfrm>
            <a:off x="5908225" y="4067500"/>
            <a:ext cx="281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Consider m = n/2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