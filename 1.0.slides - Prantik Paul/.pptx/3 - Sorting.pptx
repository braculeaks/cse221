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</p:sldIdLst>
  <p:sldSz cy="5143500" cx="9144000"/>
  <p:notesSz cx="6858000" cy="9144000"/>
  <p:embeddedFontLst>
    <p:embeddedFont>
      <p:font typeface="Proxima Nova"/>
      <p:regular r:id="rId86"/>
      <p:bold r:id="rId87"/>
      <p:italic r:id="rId88"/>
      <p:boldItalic r:id="rId89"/>
    </p:embeddedFont>
    <p:embeddedFont>
      <p:font typeface="Proxima Nova Semibold"/>
      <p:regular r:id="rId90"/>
      <p:bold r:id="rId91"/>
      <p:boldItalic r:id="rId92"/>
    </p:embeddedFont>
    <p:embeddedFont>
      <p:font typeface="Noto Sans Symbols"/>
      <p:regular r:id="rId93"/>
      <p:bold r:id="rId94"/>
    </p:embeddedFont>
    <p:embeddedFont>
      <p:font typeface="Alfa Slab One"/>
      <p:regular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96" roundtripDataSignature="AMtx7mgeeXqUKHz+xt3nSDZp1ICuGhX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font" Target="fonts/ProximaNova-regular.fntdata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font" Target="fonts/ProximaNova-italic.fntdata"/><Relationship Id="rId43" Type="http://schemas.openxmlformats.org/officeDocument/2006/relationships/slide" Target="slides/slide38.xml"/><Relationship Id="rId87" Type="http://schemas.openxmlformats.org/officeDocument/2006/relationships/font" Target="fonts/ProximaNova-bold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ProximaNova-boldItalic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95" Type="http://schemas.openxmlformats.org/officeDocument/2006/relationships/font" Target="fonts/AlfaSlabOne-regular.fntdata"/><Relationship Id="rId50" Type="http://schemas.openxmlformats.org/officeDocument/2006/relationships/slide" Target="slides/slide45.xml"/><Relationship Id="rId94" Type="http://schemas.openxmlformats.org/officeDocument/2006/relationships/font" Target="fonts/NotoSansSymbols-bold.fntdata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96" Type="http://customschemas.google.com/relationships/presentationmetadata" Target="metadata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ProximaNovaSemibold-bold.fntdata"/><Relationship Id="rId90" Type="http://schemas.openxmlformats.org/officeDocument/2006/relationships/font" Target="fonts/ProximaNovaSemibold-regular.fntdata"/><Relationship Id="rId93" Type="http://schemas.openxmlformats.org/officeDocument/2006/relationships/font" Target="fonts/NotoSansSymbols-regular.fntdata"/><Relationship Id="rId92" Type="http://schemas.openxmlformats.org/officeDocument/2006/relationships/font" Target="fonts/ProximaNovaSemibold-bold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eaae8706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3eaae8706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eaae870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3eaae870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Time Complexity: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Best Case: In optimized version: O(n) when array is in sorted order          Average Case: O(n^2) when array is in random order.               Worst Case: O(n^2) when array is in reverse order.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Space Complexity: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Best/Average/Worst case: O(1)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Stable: Yes.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Inplace: Yes.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Suitable for smaller arrays. Unsuitable for larger arrays and when lesser swapping is preferred.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e6b4bd7f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ee6b4bd7f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Time Complexity: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Best Case: In optimized version: O(n) when array is in sorted order          Average Case: O(n^2) when array is in random order.               Worst Case: O(n^2) when array is in reverse order.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Space Complexity: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Best/Average/Worst case: O(1)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Stable: Yes.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Inplace: Yes.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Suitable for smaller arrays. Unsuitable for larger arrays and when lesser swapping is preferred.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Time Complexity: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Best Case: O(n^2) when array is in sorted order          Average Case: O(n^2) when array is in random order.               Worst Case: O(n^2) when array is in reverse order.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Space Complexity: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Best/Average/Worst case: O(1)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Stable: Yes.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Inplace: Yes.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Suitable for smaller arrays. Unsuitable for larger arrays and when lesser swapping is preferred.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Time Complexity: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Best Case: O(n) when array is sorted already. Average Case: O(n^2) when array is in random order. Worst Case: O(n^2) when array is in reverse order.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Space Complexity: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Best/Average/Worst case: O(1).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Stable: Yes.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Inplace: Yes.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Suitable for smaller arrays and when a few elements needs to be sorted. Unsuitable for larger arrays.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Time Complexity: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Best Case: O(n log n)     Average Case: </a:t>
            </a:r>
            <a:r>
              <a:rPr lang="en">
                <a:solidFill>
                  <a:schemeClr val="dk1"/>
                </a:solidFill>
              </a:rPr>
              <a:t>O(n log n</a:t>
            </a:r>
            <a:r>
              <a:rPr lang="en"/>
              <a:t>)           Worst Case: </a:t>
            </a:r>
            <a:r>
              <a:rPr lang="en">
                <a:solidFill>
                  <a:schemeClr val="dk1"/>
                </a:solidFill>
              </a:rPr>
              <a:t>O(n log n</a:t>
            </a: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Space Complexity: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Best/Average/Worst case: O(n).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Stable: Yes.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Inplace: No.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268bf605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f268bf605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Time Complexity: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Best Case: O(n log n)     Average Case: </a:t>
            </a:r>
            <a:r>
              <a:rPr lang="en">
                <a:solidFill>
                  <a:schemeClr val="dk1"/>
                </a:solidFill>
              </a:rPr>
              <a:t>O(n log n</a:t>
            </a:r>
            <a:r>
              <a:rPr lang="en"/>
              <a:t>)           Worst Case: </a:t>
            </a:r>
            <a:r>
              <a:rPr lang="en">
                <a:solidFill>
                  <a:schemeClr val="dk1"/>
                </a:solidFill>
              </a:rPr>
              <a:t>O(n log n</a:t>
            </a: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Space Complexity: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Best/Average/Worst case: O(n).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Stable: Yes.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Inplace: No.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Time Complexity: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Best Case: O(n log n)     Average Case: O(n log n)           Worst Case: O(n ^ 2) when partition always divides the array into subproblem of 0 and n-1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Space Complexity: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Best/Average/Worst case: O(1).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Stable: Yes.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Inplace: Yes.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Worst Case: O(n ^ 2) when partition always divides the array into subproblem of 0 and n-1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Best Case: O(n log n) when partition always divides the array into subproblems of (n-1)/2 - 1 and (n-1)/2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3eaae8706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3eaae8706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using RANDOMIZED-PARTITION, the expected running time of quicksort is O.n lg n/ when element values are distinct.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408604fedd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408604fed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https://stackoverflow.com/questions/2572195/how-is-counting-sort-a-stable-sort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408604fedd_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408604fedd_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408604fedd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3408604fedd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408604fedd_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408604fedd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40c3beda34_1_0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g340c3beda34_1_0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40c3beda34_1_40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4" name="Google Shape;574;g340c3beda34_1_40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40c3beda34_1_89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4" name="Google Shape;624;g340c3beda34_1_89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40c3beda34_1_138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4" name="Google Shape;674;g340c3beda34_1_138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40c3beda34_1_187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4" name="Google Shape;724;g340c3beda34_1_187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40c3beda34_1_236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4" name="Google Shape;774;g340c3beda34_1_236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40c3beda34_1_285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4" name="Google Shape;824;g340c3beda34_1_285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40c3beda34_1_334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4" name="Google Shape;874;g340c3beda34_1_334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40c3beda34_1_397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9" name="Google Shape;939;g340c3beda34_1_397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40c3beda34_1_460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4" name="Google Shape;1004;g340c3beda34_1_460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40c3beda34_1_523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9" name="Google Shape;1069;g340c3beda34_1_523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40c3beda34_1_588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6" name="Google Shape;1136;g340c3beda34_1_588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40c3beda34_1_655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5" name="Google Shape;1205;g340c3beda34_1_655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340c3beda34_1_724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6" name="Google Shape;1276;g340c3beda34_1_724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340c3beda34_1_795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9" name="Google Shape;1349;g340c3beda34_1_795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3408604fedd_5_0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4" name="Google Shape;1424;g3408604fedd_5_0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408604fedd_5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3" name="Google Shape;1443;g3408604fedd_5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3408604fedd_5_45:notes"/>
          <p:cNvSpPr txBox="1"/>
          <p:nvPr>
            <p:ph idx="1" type="body"/>
          </p:nvPr>
        </p:nvSpPr>
        <p:spPr>
          <a:xfrm>
            <a:off x="685787" y="4343386"/>
            <a:ext cx="5486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0" name="Google Shape;1450;g3408604fedd_5_45:notes"/>
          <p:cNvSpPr/>
          <p:nvPr>
            <p:ph idx="2" type="sldImg"/>
          </p:nvPr>
        </p:nvSpPr>
        <p:spPr>
          <a:xfrm>
            <a:off x="381153" y="685795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55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55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55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5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5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8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1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61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2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3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6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63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8" name="Google Shape;48;p63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" name="Google Shape;49;p6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53" name="Google Shape;53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5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65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6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6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6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6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6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6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9"/>
          <p:cNvSpPr txBox="1"/>
          <p:nvPr>
            <p:ph type="title"/>
          </p:nvPr>
        </p:nvSpPr>
        <p:spPr>
          <a:xfrm>
            <a:off x="623890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69"/>
          <p:cNvSpPr txBox="1"/>
          <p:nvPr>
            <p:ph idx="1" type="body"/>
          </p:nvPr>
        </p:nvSpPr>
        <p:spPr>
          <a:xfrm>
            <a:off x="623890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p69"/>
          <p:cNvSpPr txBox="1"/>
          <p:nvPr>
            <p:ph idx="10" type="dt"/>
          </p:nvPr>
        </p:nvSpPr>
        <p:spPr>
          <a:xfrm>
            <a:off x="6286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69"/>
          <p:cNvSpPr txBox="1"/>
          <p:nvPr>
            <p:ph idx="11" type="ftr"/>
          </p:nvPr>
        </p:nvSpPr>
        <p:spPr>
          <a:xfrm>
            <a:off x="3028953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6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81" name="Google Shape;81;p1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5B0F00"/>
                </a:solidFill>
              </a:rPr>
              <a:t>Lecture 3</a:t>
            </a:r>
            <a:endParaRPr b="1">
              <a:solidFill>
                <a:srgbClr val="5B0F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0000FF"/>
                </a:solidFill>
              </a:rPr>
              <a:t>Sorting with Divide and Conquer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978800" y="3899325"/>
            <a:ext cx="51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Muhammad Ehsanul Kader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Lecturer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Department of Computer Science and Engineering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BRAC University 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Stable Sorting algorithm</a:t>
            </a:r>
            <a:endParaRPr/>
          </a:p>
        </p:txBody>
      </p:sp>
      <p:sp>
        <p:nvSpPr>
          <p:cNvPr id="89" name="Google Shape;89;p2"/>
          <p:cNvSpPr txBox="1"/>
          <p:nvPr>
            <p:ph idx="1" type="body"/>
          </p:nvPr>
        </p:nvSpPr>
        <p:spPr>
          <a:xfrm>
            <a:off x="311700" y="945050"/>
            <a:ext cx="8709300" cy="3718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60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 sorting algorithm is </a:t>
            </a:r>
            <a:r>
              <a:rPr b="1" lang="en" sz="1600">
                <a:solidFill>
                  <a:srgbClr val="434343"/>
                </a:solidFill>
                <a:highlight>
                  <a:srgbClr val="F5F5F5"/>
                </a:highlight>
              </a:rPr>
              <a:t>stable</a:t>
            </a:r>
            <a:r>
              <a:rPr lang="en" sz="160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if it maintains the relative order of equal elements. For example, if two elements have the same value, their order remains the same as in the input array.</a:t>
            </a:r>
            <a:endParaRPr sz="160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160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600" u="sng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Example</a:t>
            </a:r>
            <a:endParaRPr sz="1600" u="sng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600">
                <a:solidFill>
                  <a:srgbClr val="07376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Input: </a:t>
            </a:r>
            <a:r>
              <a:rPr lang="en" sz="160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[(4, 'apple'), (2, 'banana'), (4, 'pear')]</a:t>
            </a:r>
            <a:endParaRPr sz="160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600">
                <a:solidFill>
                  <a:srgbClr val="07376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Stable Sort Result (sorted by the left element):</a:t>
            </a:r>
            <a:r>
              <a:rPr lang="en" sz="160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[(2, 'banana'), (4, 'apple'), (4, 'pear')]</a:t>
            </a:r>
            <a:endParaRPr sz="160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600">
                <a:solidFill>
                  <a:srgbClr val="07376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Unstable Sort Result (sorted by the left element):</a:t>
            </a:r>
            <a:r>
              <a:rPr lang="en" sz="160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[(2, 'banana'), (4, 'pear'), (4, 'apple')]</a:t>
            </a:r>
            <a:endParaRPr sz="160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160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60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Stable sorting is important when multiple criteria are involved, and the order of equal elements matters.</a:t>
            </a:r>
            <a:endParaRPr sz="160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5647800" y="1152475"/>
            <a:ext cx="3184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91" name="Google Shape;9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eaae87064_0_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Inplace Sorting algorithm</a:t>
            </a:r>
            <a:endParaRPr/>
          </a:p>
        </p:txBody>
      </p:sp>
      <p:sp>
        <p:nvSpPr>
          <p:cNvPr id="97" name="Google Shape;97;g33eaae87064_0_8"/>
          <p:cNvSpPr txBox="1"/>
          <p:nvPr>
            <p:ph idx="1" type="body"/>
          </p:nvPr>
        </p:nvSpPr>
        <p:spPr>
          <a:xfrm>
            <a:off x="311700" y="945050"/>
            <a:ext cx="8709300" cy="37182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An </a:t>
            </a:r>
            <a:r>
              <a:rPr b="1" lang="en">
                <a:solidFill>
                  <a:srgbClr val="434343"/>
                </a:solidFill>
                <a:highlight>
                  <a:srgbClr val="F5F5F5"/>
                </a:highlight>
              </a:rPr>
              <a:t>in-place</a:t>
            </a:r>
            <a:r>
              <a:rPr lang="en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sorting algorithm uses a constant amount of extra space for producing the final sorted array. The sorting is done within the original array with only a small, constant amount of extra storage.</a:t>
            </a:r>
            <a:endParaRPr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u="sng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Example</a:t>
            </a:r>
            <a:endParaRPr u="sng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>
                <a:solidFill>
                  <a:srgbClr val="07376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Quick Sort:</a:t>
            </a:r>
            <a:r>
              <a:rPr lang="en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Uses a divide-and-conquer approach but sorts elements within the array.</a:t>
            </a:r>
            <a:endParaRPr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>
                <a:solidFill>
                  <a:srgbClr val="07376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Insertion Sort:</a:t>
            </a:r>
            <a:r>
              <a:rPr lang="en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Inserts elements into their correct position within the array without needing extra space.</a:t>
            </a:r>
            <a:endParaRPr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98" name="Google Shape;98;g33eaae87064_0_8"/>
          <p:cNvSpPr txBox="1"/>
          <p:nvPr/>
        </p:nvSpPr>
        <p:spPr>
          <a:xfrm>
            <a:off x="5647800" y="1152475"/>
            <a:ext cx="3184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99" name="Google Shape;99;g33eaae87064_0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eaae87064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Bubble Sort</a:t>
            </a:r>
            <a:endParaRPr/>
          </a:p>
        </p:txBody>
      </p:sp>
      <p:sp>
        <p:nvSpPr>
          <p:cNvPr id="105" name="Google Shape;105;g33eaae87064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def 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bubble_sort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5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n = 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len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(arr)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</a:t>
            </a:r>
            <a:r>
              <a:rPr lang="en" sz="205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for 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 </a:t>
            </a:r>
            <a:r>
              <a:rPr lang="en" sz="205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 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range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(n-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</a:t>
            </a:r>
            <a:r>
              <a:rPr lang="en" sz="205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for 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j </a:t>
            </a:r>
            <a:r>
              <a:rPr lang="en" sz="205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 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range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(n-i-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</a:t>
            </a:r>
            <a:r>
              <a:rPr lang="en" sz="205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if 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arr[j] &gt; arr[j+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]: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temp = arr[j]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arr[j] = arr[j+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arr[j+</a:t>
            </a:r>
            <a:r>
              <a:rPr lang="en" sz="205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50">
                <a:solidFill>
                  <a:srgbClr val="43434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 = temp</a:t>
            </a:r>
            <a:endParaRPr sz="2050">
              <a:solidFill>
                <a:srgbClr val="43434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06" name="Google Shape;106;g33eaae87064_0_0"/>
          <p:cNvSpPr txBox="1"/>
          <p:nvPr/>
        </p:nvSpPr>
        <p:spPr>
          <a:xfrm>
            <a:off x="5647800" y="1152475"/>
            <a:ext cx="3184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Worst Case Complexity?</a:t>
            </a:r>
            <a:b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</a:b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Best Case Complexity?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Space Complexity?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Optimization?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07" name="Google Shape;107;g33eaae8706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e6b4bd7fd_0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Bubble Sort</a:t>
            </a:r>
            <a:endParaRPr/>
          </a:p>
        </p:txBody>
      </p:sp>
      <p:sp>
        <p:nvSpPr>
          <p:cNvPr id="113" name="Google Shape;113;g3ee6b4bd7fd_0_1"/>
          <p:cNvSpPr txBox="1"/>
          <p:nvPr/>
        </p:nvSpPr>
        <p:spPr>
          <a:xfrm>
            <a:off x="5647800" y="1152475"/>
            <a:ext cx="3184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Worst Case Complexity?</a:t>
            </a:r>
            <a:b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</a:b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Best Case Complexity?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Space Complexity?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Optimization?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4" name="Google Shape;114;g3ee6b4bd7fd_0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g3ee6b4bd7fd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Selection Sort</a:t>
            </a:r>
            <a:endParaRPr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311700" y="1152475"/>
            <a:ext cx="4983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def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selection_sort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n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len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for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i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range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n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min_idx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i</a:t>
            </a:r>
            <a:endParaRPr sz="2000">
              <a:solidFill>
                <a:srgbClr val="33333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for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j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range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+</a:t>
            </a:r>
            <a:r>
              <a:rPr lang="en" sz="2000">
                <a:solidFill>
                  <a:srgbClr val="9C5D2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,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n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if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j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&lt;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min_idx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    min_idx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j</a:t>
            </a:r>
            <a:endParaRPr sz="2000">
              <a:solidFill>
                <a:srgbClr val="333333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],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min_idx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min_idx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],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</a:t>
            </a:r>
            <a:endParaRPr sz="2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5647800" y="1152475"/>
            <a:ext cx="3184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Worst Case Complexity?</a:t>
            </a:r>
            <a:b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</a:b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Best Case Complexity?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Space Complexity?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Optimization?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3" name="Google Shape;12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Insertion Sort</a:t>
            </a:r>
            <a:endParaRPr/>
          </a:p>
        </p:txBody>
      </p:sp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311700" y="1152475"/>
            <a:ext cx="4983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def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insertion_sort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7A3E9D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n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len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for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i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in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range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,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n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):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key = arr[i]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j 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=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i -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sz="2000">
              <a:solidFill>
                <a:srgbClr val="AA3731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while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j &gt;= 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0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" sz="2000">
                <a:solidFill>
                  <a:srgbClr val="4B69C6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and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key &lt; arr[j]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: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arr [j+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 = arr[j]</a:t>
            </a:r>
            <a:endParaRPr sz="2000">
              <a:solidFill>
                <a:srgbClr val="777777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 j = j -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sz="2000">
              <a:solidFill>
                <a:srgbClr val="AA3731"/>
              </a:solidFill>
              <a:highlight>
                <a:srgbClr val="F5F5F5"/>
              </a:highlight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arr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[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j+</a:t>
            </a:r>
            <a:r>
              <a:rPr lang="en" sz="2000">
                <a:solidFill>
                  <a:srgbClr val="AA3731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r>
              <a:rPr lang="en" sz="2000">
                <a:solidFill>
                  <a:srgbClr val="777777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] = </a:t>
            </a:r>
            <a:r>
              <a:rPr lang="en" sz="2000">
                <a:solidFill>
                  <a:srgbClr val="333333"/>
                </a:solidFill>
                <a:highlight>
                  <a:srgbClr val="F5F5F5"/>
                </a:highlight>
                <a:latin typeface="Proxima Nova Semibold"/>
                <a:ea typeface="Proxima Nova Semibold"/>
                <a:cs typeface="Proxima Nova Semibold"/>
                <a:sym typeface="Proxima Nova Semibold"/>
              </a:rPr>
              <a:t>key </a:t>
            </a:r>
            <a:endParaRPr sz="2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5647800" y="1152475"/>
            <a:ext cx="3184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Worst Case Complexity?</a:t>
            </a:r>
            <a:b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</a:b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Best Case Complexity?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Space Complexity?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Optimization?</a:t>
            </a:r>
            <a:endParaRPr b="0" i="0" sz="2100" u="none" cap="none" strike="noStrike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31" name="Google Shape;13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>
            <p:ph type="title"/>
          </p:nvPr>
        </p:nvSpPr>
        <p:spPr>
          <a:xfrm>
            <a:off x="623888" y="429905"/>
            <a:ext cx="78867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3300"/>
              <a:t>Divide and Conquer Strategy</a:t>
            </a:r>
            <a:endParaRPr sz="3300"/>
          </a:p>
        </p:txBody>
      </p:sp>
      <p:sp>
        <p:nvSpPr>
          <p:cNvPr id="137" name="Google Shape;137;p5"/>
          <p:cNvSpPr txBox="1"/>
          <p:nvPr/>
        </p:nvSpPr>
        <p:spPr>
          <a:xfrm>
            <a:off x="623900" y="1354550"/>
            <a:ext cx="13629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Divide</a:t>
            </a:r>
            <a:endParaRPr b="0" i="0" sz="2200" u="none" cap="none" strike="noStrike">
              <a:solidFill>
                <a:srgbClr val="00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623900" y="2369725"/>
            <a:ext cx="13629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Conquer</a:t>
            </a:r>
            <a:endParaRPr b="0" i="0" sz="2200" u="none" cap="none" strike="noStrike">
              <a:solidFill>
                <a:srgbClr val="00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623900" y="3384900"/>
            <a:ext cx="13629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Combine</a:t>
            </a:r>
            <a:endParaRPr b="0" i="0" sz="2200" u="none" cap="none" strike="noStrike">
              <a:solidFill>
                <a:srgbClr val="00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2284400" y="1362200"/>
            <a:ext cx="53481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problem (instance) into subproblems.</a:t>
            </a:r>
            <a:endParaRPr b="0" i="0" sz="2200" u="none" cap="none" strike="noStrike">
              <a:solidFill>
                <a:srgbClr val="99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2289150" y="2204200"/>
            <a:ext cx="6226200" cy="86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subproblems by solving these recursively (or iteratively). </a:t>
            </a:r>
            <a:endParaRPr b="0" i="0" sz="2200" u="none" cap="none" strike="noStrike">
              <a:solidFill>
                <a:srgbClr val="99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2284400" y="3424000"/>
            <a:ext cx="53481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solutions to the subproblems.</a:t>
            </a:r>
            <a:endParaRPr b="0" i="0" sz="2200" u="none" cap="none" strike="noStrike">
              <a:solidFill>
                <a:srgbClr val="99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3" name="Google Shape;143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</a:t>
            </a:r>
            <a:endParaRPr/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563" y="1328725"/>
            <a:ext cx="8524875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3992" r="2913" t="0"/>
          <a:stretch/>
        </p:blipFill>
        <p:spPr>
          <a:xfrm>
            <a:off x="1635713" y="1120175"/>
            <a:ext cx="587257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1330325" y="2140950"/>
            <a:ext cx="6851400" cy="28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3992" r="2913" t="0"/>
          <a:stretch/>
        </p:blipFill>
        <p:spPr>
          <a:xfrm>
            <a:off x="1635713" y="1120175"/>
            <a:ext cx="587257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1330325" y="3040150"/>
            <a:ext cx="6851400" cy="190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6" name="Google Shape;16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3992" r="2913" t="0"/>
          <a:stretch/>
        </p:blipFill>
        <p:spPr>
          <a:xfrm>
            <a:off x="1635713" y="1120175"/>
            <a:ext cx="587257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/>
          <p:nvPr/>
        </p:nvSpPr>
        <p:spPr>
          <a:xfrm>
            <a:off x="1380250" y="3939025"/>
            <a:ext cx="6851400" cy="100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4" name="Google Shape;17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180" name="Google Shape;180;p10"/>
          <p:cNvPicPr preferRelativeResize="0"/>
          <p:nvPr/>
        </p:nvPicPr>
        <p:blipFill rotWithShape="1">
          <a:blip r:embed="rId3">
            <a:alphaModFix/>
          </a:blip>
          <a:srcRect b="0" l="3992" r="2913" t="0"/>
          <a:stretch/>
        </p:blipFill>
        <p:spPr>
          <a:xfrm>
            <a:off x="1635713" y="1120175"/>
            <a:ext cx="587257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187" name="Google Shape;1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9725" y="1272350"/>
            <a:ext cx="6244550" cy="372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194" name="Google Shape;194;p12"/>
          <p:cNvPicPr preferRelativeResize="0"/>
          <p:nvPr/>
        </p:nvPicPr>
        <p:blipFill rotWithShape="1">
          <a:blip r:embed="rId3">
            <a:alphaModFix/>
          </a:blip>
          <a:srcRect b="0" l="5267" r="0" t="0"/>
          <a:stretch/>
        </p:blipFill>
        <p:spPr>
          <a:xfrm>
            <a:off x="1626400" y="1289975"/>
            <a:ext cx="5891200" cy="369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(Simulation)</a:t>
            </a:r>
            <a:endParaRPr/>
          </a:p>
        </p:txBody>
      </p:sp>
      <p:pic>
        <p:nvPicPr>
          <p:cNvPr id="201" name="Google Shape;201;p13"/>
          <p:cNvPicPr preferRelativeResize="0"/>
          <p:nvPr/>
        </p:nvPicPr>
        <p:blipFill rotWithShape="1">
          <a:blip r:embed="rId3">
            <a:alphaModFix/>
          </a:blip>
          <a:srcRect b="0" l="3807" r="3062" t="0"/>
          <a:stretch/>
        </p:blipFill>
        <p:spPr>
          <a:xfrm>
            <a:off x="1685650" y="1170125"/>
            <a:ext cx="5852599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08" name="Google Shape;2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59900"/>
            <a:ext cx="8839200" cy="280948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15" name="Google Shape;215;p15"/>
          <p:cNvPicPr preferRelativeResize="0"/>
          <p:nvPr/>
        </p:nvPicPr>
        <p:blipFill rotWithShape="1">
          <a:blip r:embed="rId3">
            <a:alphaModFix/>
          </a:blip>
          <a:srcRect b="7526" l="5416" r="5209" t="0"/>
          <a:stretch/>
        </p:blipFill>
        <p:spPr>
          <a:xfrm>
            <a:off x="466200" y="1319925"/>
            <a:ext cx="8211601" cy="315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199" cy="30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200" cy="3342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201" cy="325071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200" cy="336814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50" name="Google Shape;2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200" cy="344944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57" name="Google Shape;2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201" cy="340928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pic>
        <p:nvPicPr>
          <p:cNvPr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199" cy="311971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sp>
        <p:nvSpPr>
          <p:cNvPr id="271" name="Google Shape;27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201" cy="308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(Simulation)</a:t>
            </a:r>
            <a:endParaRPr/>
          </a:p>
        </p:txBody>
      </p:sp>
      <p:sp>
        <p:nvSpPr>
          <p:cNvPr id="278" name="Google Shape;27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9" name="Google Shape;2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825" y="1220050"/>
            <a:ext cx="8758352" cy="30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(Algorithm)</a:t>
            </a:r>
            <a:endParaRPr/>
          </a:p>
        </p:txBody>
      </p:sp>
      <p:pic>
        <p:nvPicPr>
          <p:cNvPr id="285" name="Google Shape;2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175" y="1160150"/>
            <a:ext cx="741017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(Algorithm)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5460375" y="1102525"/>
            <a:ext cx="31707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accent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Out-of-Place Algorithm</a:t>
            </a:r>
            <a:endParaRPr b="0" i="0" sz="2200" u="none" cap="none" strike="noStrike">
              <a:solidFill>
                <a:schemeClr val="accent4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293" name="Google Shape;2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700479"/>
            <a:ext cx="8091425" cy="27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g3f268bf605c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75"/>
            <a:ext cx="8353425" cy="511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</a:t>
            </a:r>
            <a:endParaRPr/>
          </a:p>
        </p:txBody>
      </p:sp>
      <p:pic>
        <p:nvPicPr>
          <p:cNvPr id="305" name="Google Shape;3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900" y="1090225"/>
            <a:ext cx="8582192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12" name="Google Shape;3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8622" y="1194052"/>
            <a:ext cx="4066750" cy="90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8621" y="1194050"/>
            <a:ext cx="4066750" cy="90727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sp>
        <p:nvSpPr>
          <p:cNvPr id="320" name="Google Shape;32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26" name="Google Shape;32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5313" y="1112800"/>
            <a:ext cx="4373374" cy="18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33" name="Google Shape;3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725" y="1017725"/>
            <a:ext cx="4580551" cy="27256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40" name="Google Shape;3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1790" y="1122750"/>
            <a:ext cx="4680424" cy="355970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47" name="Google Shape;34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725" y="1017725"/>
            <a:ext cx="4450562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54" name="Google Shape;35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640" y="1017725"/>
            <a:ext cx="4440725" cy="41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61" name="Google Shape;36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6665" y="980525"/>
            <a:ext cx="4490674" cy="416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725" y="1017725"/>
            <a:ext cx="4450556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(Simulation)</a:t>
            </a:r>
            <a:endParaRPr/>
          </a:p>
        </p:txBody>
      </p:sp>
      <p:pic>
        <p:nvPicPr>
          <p:cNvPr id="375" name="Google Shape;37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725" y="1017725"/>
            <a:ext cx="4450547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(Algorithm)</a:t>
            </a:r>
            <a:endParaRPr/>
          </a:p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75" y="1172535"/>
            <a:ext cx="808863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389" name="Google Shape;38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2612" y="1214050"/>
            <a:ext cx="4438775" cy="115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396" name="Google Shape;39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6725" y="1224050"/>
            <a:ext cx="4430549" cy="11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03" name="Google Shape;40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2563" y="1194075"/>
            <a:ext cx="4478875" cy="11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10" name="Google Shape;41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4700" y="1154125"/>
            <a:ext cx="4534600" cy="17169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17" name="Google Shape;41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0437" y="1214075"/>
            <a:ext cx="4563126" cy="17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24" name="Google Shape;4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8300" y="1234025"/>
            <a:ext cx="4587401" cy="178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31" name="Google Shape;4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5075" y="1234025"/>
            <a:ext cx="4613849" cy="24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38" name="Google Shape;4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0638" y="1229250"/>
            <a:ext cx="4662725" cy="2491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45" name="Google Shape;4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275" y="1164100"/>
            <a:ext cx="4703451" cy="32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52" name="Google Shape;4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12" y="1224025"/>
            <a:ext cx="4724375" cy="3265951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59" name="Google Shape;45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8700" y="1234000"/>
            <a:ext cx="4846600" cy="32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(Simulation)</a:t>
            </a:r>
            <a:endParaRPr/>
          </a:p>
        </p:txBody>
      </p:sp>
      <p:pic>
        <p:nvPicPr>
          <p:cNvPr id="466" name="Google Shape;46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8412" y="1216625"/>
            <a:ext cx="4687174" cy="37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(Algorithm)</a:t>
            </a:r>
            <a:endParaRPr/>
          </a:p>
        </p:txBody>
      </p:sp>
      <p:pic>
        <p:nvPicPr>
          <p:cNvPr id="473" name="Google Shape;47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300" y="1180125"/>
            <a:ext cx="7439407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1"/>
          <p:cNvSpPr/>
          <p:nvPr/>
        </p:nvSpPr>
        <p:spPr>
          <a:xfrm>
            <a:off x="721100" y="3859125"/>
            <a:ext cx="7760100" cy="10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5" name="Google Shape;47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(Soft Analysis - Worst Case)</a:t>
            </a:r>
            <a:endParaRPr/>
          </a:p>
        </p:txBody>
      </p:sp>
      <p:pic>
        <p:nvPicPr>
          <p:cNvPr id="481" name="Google Shape;48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975" y="1627300"/>
            <a:ext cx="8520599" cy="1888896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2"/>
          <p:cNvSpPr/>
          <p:nvPr/>
        </p:nvSpPr>
        <p:spPr>
          <a:xfrm>
            <a:off x="531325" y="2510850"/>
            <a:ext cx="7760100" cy="4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3" name="Google Shape;483;p52"/>
          <p:cNvSpPr/>
          <p:nvPr/>
        </p:nvSpPr>
        <p:spPr>
          <a:xfrm>
            <a:off x="633775" y="3010350"/>
            <a:ext cx="1195800" cy="4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4" name="Google Shape;484;p52"/>
          <p:cNvSpPr/>
          <p:nvPr/>
        </p:nvSpPr>
        <p:spPr>
          <a:xfrm>
            <a:off x="1909575" y="2935500"/>
            <a:ext cx="7146300" cy="4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5" name="Google Shape;48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(Soft Analysis - Best Case)</a:t>
            </a:r>
            <a:endParaRPr/>
          </a:p>
        </p:txBody>
      </p:sp>
      <p:pic>
        <p:nvPicPr>
          <p:cNvPr id="491" name="Google Shape;49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729425"/>
            <a:ext cx="8839201" cy="10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3eaae87064_0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Randomized version of quicksort</a:t>
            </a:r>
            <a:endParaRPr/>
          </a:p>
        </p:txBody>
      </p:sp>
      <p:sp>
        <p:nvSpPr>
          <p:cNvPr id="498" name="Google Shape;498;g33eaae87064_0_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9" name="Google Shape;499;g33eaae87064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100" y="1242271"/>
            <a:ext cx="7441725" cy="34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408604fedd_4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Counting Sort</a:t>
            </a:r>
            <a:endParaRPr/>
          </a:p>
        </p:txBody>
      </p:sp>
      <p:sp>
        <p:nvSpPr>
          <p:cNvPr id="505" name="Google Shape;505;g3408604fedd_4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1560" lvl="0" marL="3427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a linear time sorting!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560" lvl="0" marL="342719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Complexity : O(n)   |        </a:t>
            </a: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+ </a:t>
            </a: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to be precise.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9720" lvl="1" marL="742679" rtl="0" algn="l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O(n) when k &lt;&lt; n, where k is the range of the values in input array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560" lvl="0" marL="342719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not a comparison sort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1560" lvl="0" marL="342719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a stable sorting algorithm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1560" lvl="0" marL="342719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suitable for direct use in situations where the variation in keys is not significantly greater than the number of items.</a:t>
            </a:r>
            <a:endParaRPr/>
          </a:p>
        </p:txBody>
      </p:sp>
      <p:sp>
        <p:nvSpPr>
          <p:cNvPr id="506" name="Google Shape;506;g3408604fedd_4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408604fedd_4_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Idea of Counting sort</a:t>
            </a:r>
            <a:endParaRPr/>
          </a:p>
        </p:txBody>
      </p:sp>
      <p:sp>
        <p:nvSpPr>
          <p:cNvPr id="512" name="Google Shape;512;g3408604fedd_4_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1560" lvl="0" marL="3427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you know prior hand that all the values in the array are within 1 and k.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560" lvl="0" marL="342719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 k boxes, 1 for each different value.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560" lvl="0" marL="342719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Put the value i in box i.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1560" lvl="0" marL="342719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box contains elements equal to the frequency of the corresponding element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1560" lvl="0" marL="342719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sorting in increasing order, take out values from the smallest box to the largest box and place them in a new array, which will provide the sorted sequence</a:t>
            </a:r>
            <a:endParaRPr/>
          </a:p>
        </p:txBody>
      </p:sp>
      <p:sp>
        <p:nvSpPr>
          <p:cNvPr id="513" name="Google Shape;513;g3408604fedd_4_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408604fedd_4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Implementation 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19" name="Google Shape;519;g3408604fedd_4_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1560" lvl="0" marL="3427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Array A : Main array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560" lvl="0" marL="342719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Array C : Counting box array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560" lvl="0" marL="342719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Array C’ : Keep cumulative sum of C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560" lvl="0" marL="342719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Array B : Build the sorted array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20" name="Google Shape;520;g3408604fedd_4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408604fedd_4_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Pseudocode of Counting Sort</a:t>
            </a:r>
            <a:endParaRPr/>
          </a:p>
        </p:txBody>
      </p:sp>
      <p:sp>
        <p:nvSpPr>
          <p:cNvPr id="526" name="Google Shape;526;g3408604fedd_4_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42360" lvl="0" marL="3427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void counting_sort(int A[], int k, int n)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C[1…k] = 0; // initialize all elements in C array to 0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(j = 1; j &lt;= n; j++)		// keep A[j] in C[A[j]]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C[A[j]] ++;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(i = 1; i &lt;= k; i++)		// cumulative sum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C[i] = C[i] + C[i-1];		//instead of taking a separate array C’, update the array C with cumulative sum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(j = n; j &gt;= 1; j--)		// put the sorted array in B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{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B[C[A[j]]] = A[j];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C[A[j]] --;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360" lvl="0" marL="342719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ct val="142857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/>
          </a:p>
        </p:txBody>
      </p:sp>
      <p:sp>
        <p:nvSpPr>
          <p:cNvPr id="527" name="Google Shape;527;g3408604fedd_4_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0c3beda34_1_0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Counting-sort example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40c3beda34_1_0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4" name="Google Shape;534;g340c3beda34_1_0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535" name="Google Shape;535;g340c3beda34_1_0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40c3beda34_1_0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7" name="Google Shape;537;g340c3beda34_1_0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538" name="Google Shape;538;g340c3beda34_1_0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340c3beda34_1_0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0" name="Google Shape;540;g340c3beda34_1_0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541" name="Google Shape;541;g340c3beda34_1_0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g340c3beda34_1_0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3" name="Google Shape;543;g340c3beda34_1_0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544" name="Google Shape;544;g340c3beda34_1_0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340c3beda34_1_0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6" name="Google Shape;546;g340c3beda34_1_0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547" name="Google Shape;547;g340c3beda34_1_0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340c3beda34_1_0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9" name="Google Shape;549;g340c3beda34_1_0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40c3beda34_1_0"/>
          <p:cNvSpPr/>
          <p:nvPr/>
        </p:nvSpPr>
        <p:spPr>
          <a:xfrm>
            <a:off x="8539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40c3beda34_1_0"/>
          <p:cNvSpPr/>
          <p:nvPr/>
        </p:nvSpPr>
        <p:spPr>
          <a:xfrm>
            <a:off x="15397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40c3beda34_1_0"/>
          <p:cNvSpPr/>
          <p:nvPr/>
        </p:nvSpPr>
        <p:spPr>
          <a:xfrm>
            <a:off x="22255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40c3beda34_1_0"/>
          <p:cNvSpPr/>
          <p:nvPr/>
        </p:nvSpPr>
        <p:spPr>
          <a:xfrm>
            <a:off x="29113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40c3beda34_1_0"/>
          <p:cNvSpPr/>
          <p:nvPr/>
        </p:nvSpPr>
        <p:spPr>
          <a:xfrm>
            <a:off x="35971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40c3beda34_1_0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40c3beda34_1_0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40c3beda34_1_0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40c3beda34_1_0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40c3beda34_1_0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340c3beda34_1_0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40c3beda34_1_0"/>
          <p:cNvSpPr/>
          <p:nvPr/>
        </p:nvSpPr>
        <p:spPr>
          <a:xfrm>
            <a:off x="5678640" y="16002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40c3beda34_1_0"/>
          <p:cNvSpPr/>
          <p:nvPr/>
        </p:nvSpPr>
        <p:spPr>
          <a:xfrm>
            <a:off x="6364440" y="16002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40c3beda34_1_0"/>
          <p:cNvSpPr/>
          <p:nvPr/>
        </p:nvSpPr>
        <p:spPr>
          <a:xfrm>
            <a:off x="7050240" y="16002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40c3beda34_1_0"/>
          <p:cNvSpPr/>
          <p:nvPr/>
        </p:nvSpPr>
        <p:spPr>
          <a:xfrm>
            <a:off x="7736040" y="16002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40c3beda34_1_0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40c3beda34_1_0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40c3beda34_1_0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40c3beda34_1_0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40c3beda34_1_0"/>
          <p:cNvSpPr txBox="1"/>
          <p:nvPr/>
        </p:nvSpPr>
        <p:spPr>
          <a:xfrm>
            <a:off x="89825" y="1085525"/>
            <a:ext cx="112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Input array</a:t>
            </a:r>
            <a:endParaRPr b="1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0" name="Google Shape;570;g340c3beda34_1_0"/>
          <p:cNvSpPr txBox="1"/>
          <p:nvPr/>
        </p:nvSpPr>
        <p:spPr>
          <a:xfrm>
            <a:off x="89825" y="3174675"/>
            <a:ext cx="112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output array</a:t>
            </a:r>
            <a:endParaRPr b="1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1" name="Google Shape;571;g340c3beda34_1_0"/>
          <p:cNvSpPr txBox="1"/>
          <p:nvPr/>
        </p:nvSpPr>
        <p:spPr>
          <a:xfrm>
            <a:off x="5093425" y="2144875"/>
            <a:ext cx="304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Count Array</a:t>
            </a:r>
            <a:endParaRPr b="1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&amp; </a:t>
            </a:r>
            <a:endParaRPr b="1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cumulative Count Array</a:t>
            </a:r>
            <a:endParaRPr b="1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40c3beda34_1_40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1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40c3beda34_1_40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8" name="Google Shape;578;g340c3beda34_1_40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579" name="Google Shape;579;g340c3beda34_1_40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340c3beda34_1_40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1" name="Google Shape;581;g340c3beda34_1_40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582" name="Google Shape;582;g340c3beda34_1_40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g340c3beda34_1_40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4" name="Google Shape;584;g340c3beda34_1_40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585" name="Google Shape;585;g340c3beda34_1_40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340c3beda34_1_40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7" name="Google Shape;587;g340c3beda34_1_40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588" name="Google Shape;588;g340c3beda34_1_40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340c3beda34_1_40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0" name="Google Shape;590;g340c3beda34_1_40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591" name="Google Shape;591;g340c3beda34_1_40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g340c3beda34_1_40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3" name="Google Shape;593;g340c3beda34_1_40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340c3beda34_1_40"/>
          <p:cNvSpPr/>
          <p:nvPr/>
        </p:nvSpPr>
        <p:spPr>
          <a:xfrm>
            <a:off x="8539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40c3beda34_1_40"/>
          <p:cNvSpPr/>
          <p:nvPr/>
        </p:nvSpPr>
        <p:spPr>
          <a:xfrm>
            <a:off x="15397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40c3beda34_1_40"/>
          <p:cNvSpPr/>
          <p:nvPr/>
        </p:nvSpPr>
        <p:spPr>
          <a:xfrm>
            <a:off x="22255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40c3beda34_1_40"/>
          <p:cNvSpPr/>
          <p:nvPr/>
        </p:nvSpPr>
        <p:spPr>
          <a:xfrm>
            <a:off x="29113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40c3beda34_1_40"/>
          <p:cNvSpPr/>
          <p:nvPr/>
        </p:nvSpPr>
        <p:spPr>
          <a:xfrm>
            <a:off x="35971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40c3beda34_1_40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340c3beda34_1_40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340c3beda34_1_40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340c3beda34_1_40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40c3beda34_1_40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40c3beda34_1_40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5" name="Google Shape;605;g340c3beda34_1_40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606" name="Google Shape;606;g340c3beda34_1_40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g340c3beda34_1_40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8" name="Google Shape;608;g340c3beda34_1_40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609" name="Google Shape;609;g340c3beda34_1_40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g340c3beda34_1_40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1" name="Google Shape;611;g340c3beda34_1_40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612" name="Google Shape;612;g340c3beda34_1_40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g340c3beda34_1_40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4" name="Google Shape;614;g340c3beda34_1_40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615" name="Google Shape;615;g340c3beda34_1_40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340c3beda34_1_40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7" name="Google Shape;617;g340c3beda34_1_40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40c3beda34_1_40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40c3beda34_1_40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40c3beda34_1_40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g340c3beda34_1_40"/>
          <p:cNvSpPr/>
          <p:nvPr/>
        </p:nvSpPr>
        <p:spPr>
          <a:xfrm>
            <a:off x="361800" y="3600450"/>
            <a:ext cx="8420058" cy="801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C[1…k] = 0; // initialize all elements in C array to 0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40c3beda34_1_89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2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40c3beda34_1_89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8" name="Google Shape;628;g340c3beda34_1_89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629" name="Google Shape;629;g340c3beda34_1_89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340c3beda34_1_89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1" name="Google Shape;631;g340c3beda34_1_89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632" name="Google Shape;632;g340c3beda34_1_89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g340c3beda34_1_89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4" name="Google Shape;634;g340c3beda34_1_89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635" name="Google Shape;635;g340c3beda34_1_89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340c3beda34_1_89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7" name="Google Shape;637;g340c3beda34_1_89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638" name="Google Shape;638;g340c3beda34_1_89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340c3beda34_1_89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0" name="Google Shape;640;g340c3beda34_1_89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641" name="Google Shape;641;g340c3beda34_1_89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340c3beda34_1_89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3" name="Google Shape;643;g340c3beda34_1_89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40c3beda34_1_89"/>
          <p:cNvSpPr/>
          <p:nvPr/>
        </p:nvSpPr>
        <p:spPr>
          <a:xfrm>
            <a:off x="8539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40c3beda34_1_89"/>
          <p:cNvSpPr/>
          <p:nvPr/>
        </p:nvSpPr>
        <p:spPr>
          <a:xfrm>
            <a:off x="15397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40c3beda34_1_89"/>
          <p:cNvSpPr/>
          <p:nvPr/>
        </p:nvSpPr>
        <p:spPr>
          <a:xfrm>
            <a:off x="22255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40c3beda34_1_89"/>
          <p:cNvSpPr/>
          <p:nvPr/>
        </p:nvSpPr>
        <p:spPr>
          <a:xfrm>
            <a:off x="29113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40c3beda34_1_89"/>
          <p:cNvSpPr/>
          <p:nvPr/>
        </p:nvSpPr>
        <p:spPr>
          <a:xfrm>
            <a:off x="35971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40c3beda34_1_89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40c3beda34_1_89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40c3beda34_1_89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40c3beda34_1_89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40c3beda34_1_89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40c3beda34_1_89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5" name="Google Shape;655;g340c3beda34_1_89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656" name="Google Shape;656;g340c3beda34_1_89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40c3beda34_1_89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8" name="Google Shape;658;g340c3beda34_1_89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659" name="Google Shape;659;g340c3beda34_1_89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340c3beda34_1_89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1" name="Google Shape;661;g340c3beda34_1_89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662" name="Google Shape;662;g340c3beda34_1_89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340c3beda34_1_89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4" name="Google Shape;664;g340c3beda34_1_89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665" name="Google Shape;665;g340c3beda34_1_89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340c3beda34_1_89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7" name="Google Shape;667;g340c3beda34_1_89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40c3beda34_1_89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40c3beda34_1_89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40c3beda34_1_89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40c3beda34_1_89"/>
          <p:cNvSpPr/>
          <p:nvPr/>
        </p:nvSpPr>
        <p:spPr>
          <a:xfrm>
            <a:off x="361800" y="3600450"/>
            <a:ext cx="8781858" cy="8775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1; j &lt;= n; j++)	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C[A[j]] ++;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40c3beda34_1_138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2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40c3beda34_1_138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8" name="Google Shape;678;g340c3beda34_1_138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679" name="Google Shape;679;g340c3beda34_1_138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340c3beda34_1_138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1" name="Google Shape;681;g340c3beda34_1_138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682" name="Google Shape;682;g340c3beda34_1_138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g340c3beda34_1_138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" name="Google Shape;684;g340c3beda34_1_138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685" name="Google Shape;685;g340c3beda34_1_138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340c3beda34_1_138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7" name="Google Shape;687;g340c3beda34_1_138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688" name="Google Shape;688;g340c3beda34_1_138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340c3beda34_1_138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0" name="Google Shape;690;g340c3beda34_1_138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691" name="Google Shape;691;g340c3beda34_1_138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g340c3beda34_1_138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3" name="Google Shape;693;g340c3beda34_1_138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40c3beda34_1_138"/>
          <p:cNvSpPr/>
          <p:nvPr/>
        </p:nvSpPr>
        <p:spPr>
          <a:xfrm>
            <a:off x="8539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40c3beda34_1_138"/>
          <p:cNvSpPr/>
          <p:nvPr/>
        </p:nvSpPr>
        <p:spPr>
          <a:xfrm>
            <a:off x="15397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40c3beda34_1_138"/>
          <p:cNvSpPr/>
          <p:nvPr/>
        </p:nvSpPr>
        <p:spPr>
          <a:xfrm>
            <a:off x="22255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340c3beda34_1_138"/>
          <p:cNvSpPr/>
          <p:nvPr/>
        </p:nvSpPr>
        <p:spPr>
          <a:xfrm>
            <a:off x="29113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40c3beda34_1_138"/>
          <p:cNvSpPr/>
          <p:nvPr/>
        </p:nvSpPr>
        <p:spPr>
          <a:xfrm>
            <a:off x="35971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340c3beda34_1_138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40c3beda34_1_138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g340c3beda34_1_138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340c3beda34_1_138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g340c3beda34_1_138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g340c3beda34_1_138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5" name="Google Shape;705;g340c3beda34_1_138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706" name="Google Shape;706;g340c3beda34_1_138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340c3beda34_1_138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8" name="Google Shape;708;g340c3beda34_1_138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709" name="Google Shape;709;g340c3beda34_1_138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340c3beda34_1_138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1" name="Google Shape;711;g340c3beda34_1_138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712" name="Google Shape;712;g340c3beda34_1_138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340c3beda34_1_138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g340c3beda34_1_138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715" name="Google Shape;715;g340c3beda34_1_138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g340c3beda34_1_138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7" name="Google Shape;717;g340c3beda34_1_138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340c3beda34_1_138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g340c3beda34_1_138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g340c3beda34_1_138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340c3beda34_1_138"/>
          <p:cNvSpPr/>
          <p:nvPr/>
        </p:nvSpPr>
        <p:spPr>
          <a:xfrm>
            <a:off x="361800" y="3600450"/>
            <a:ext cx="8781858" cy="8775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1; j &lt;= n; j++)	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C[A[j]] ++;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40c3beda34_1_187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2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40c3beda34_1_187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8" name="Google Shape;728;g340c3beda34_1_187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729" name="Google Shape;729;g340c3beda34_1_187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40c3beda34_1_187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1" name="Google Shape;731;g340c3beda34_1_187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732" name="Google Shape;732;g340c3beda34_1_187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g340c3beda34_1_187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4" name="Google Shape;734;g340c3beda34_1_187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735" name="Google Shape;735;g340c3beda34_1_187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g340c3beda34_1_187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7" name="Google Shape;737;g340c3beda34_1_187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738" name="Google Shape;738;g340c3beda34_1_187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g340c3beda34_1_187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0" name="Google Shape;740;g340c3beda34_1_187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741" name="Google Shape;741;g340c3beda34_1_187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g340c3beda34_1_187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3" name="Google Shape;743;g340c3beda34_1_187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340c3beda34_1_187"/>
          <p:cNvSpPr/>
          <p:nvPr/>
        </p:nvSpPr>
        <p:spPr>
          <a:xfrm>
            <a:off x="8539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40c3beda34_1_187"/>
          <p:cNvSpPr/>
          <p:nvPr/>
        </p:nvSpPr>
        <p:spPr>
          <a:xfrm>
            <a:off x="15397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40c3beda34_1_187"/>
          <p:cNvSpPr/>
          <p:nvPr/>
        </p:nvSpPr>
        <p:spPr>
          <a:xfrm>
            <a:off x="22255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340c3beda34_1_187"/>
          <p:cNvSpPr/>
          <p:nvPr/>
        </p:nvSpPr>
        <p:spPr>
          <a:xfrm>
            <a:off x="29113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40c3beda34_1_187"/>
          <p:cNvSpPr/>
          <p:nvPr/>
        </p:nvSpPr>
        <p:spPr>
          <a:xfrm>
            <a:off x="35971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340c3beda34_1_187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40c3beda34_1_187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340c3beda34_1_187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g340c3beda34_1_187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g340c3beda34_1_187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40c3beda34_1_187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5" name="Google Shape;755;g340c3beda34_1_187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756" name="Google Shape;756;g340c3beda34_1_187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g340c3beda34_1_187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8" name="Google Shape;758;g340c3beda34_1_187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759" name="Google Shape;759;g340c3beda34_1_187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g340c3beda34_1_187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1" name="Google Shape;761;g340c3beda34_1_187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762" name="Google Shape;762;g340c3beda34_1_187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g340c3beda34_1_187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g340c3beda34_1_187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765" name="Google Shape;765;g340c3beda34_1_187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g340c3beda34_1_187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7" name="Google Shape;767;g340c3beda34_1_187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40c3beda34_1_187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40c3beda34_1_187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40c3beda34_1_187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40c3beda34_1_187"/>
          <p:cNvSpPr/>
          <p:nvPr/>
        </p:nvSpPr>
        <p:spPr>
          <a:xfrm>
            <a:off x="361800" y="3600450"/>
            <a:ext cx="8781858" cy="8775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1; j &lt;= n; j++)	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C[A[j]] ++;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40c3beda34_1_236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2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340c3beda34_1_236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8" name="Google Shape;778;g340c3beda34_1_236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779" name="Google Shape;779;g340c3beda34_1_236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g340c3beda34_1_236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1" name="Google Shape;781;g340c3beda34_1_236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782" name="Google Shape;782;g340c3beda34_1_236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340c3beda34_1_236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4" name="Google Shape;784;g340c3beda34_1_236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785" name="Google Shape;785;g340c3beda34_1_236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g340c3beda34_1_236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7" name="Google Shape;787;g340c3beda34_1_236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788" name="Google Shape;788;g340c3beda34_1_236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g340c3beda34_1_236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0" name="Google Shape;790;g340c3beda34_1_236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791" name="Google Shape;791;g340c3beda34_1_236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340c3beda34_1_236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3" name="Google Shape;793;g340c3beda34_1_236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340c3beda34_1_236"/>
          <p:cNvSpPr/>
          <p:nvPr/>
        </p:nvSpPr>
        <p:spPr>
          <a:xfrm>
            <a:off x="8539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g340c3beda34_1_236"/>
          <p:cNvSpPr/>
          <p:nvPr/>
        </p:nvSpPr>
        <p:spPr>
          <a:xfrm>
            <a:off x="15397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g340c3beda34_1_236"/>
          <p:cNvSpPr/>
          <p:nvPr/>
        </p:nvSpPr>
        <p:spPr>
          <a:xfrm>
            <a:off x="22255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340c3beda34_1_236"/>
          <p:cNvSpPr/>
          <p:nvPr/>
        </p:nvSpPr>
        <p:spPr>
          <a:xfrm>
            <a:off x="29113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340c3beda34_1_236"/>
          <p:cNvSpPr/>
          <p:nvPr/>
        </p:nvSpPr>
        <p:spPr>
          <a:xfrm>
            <a:off x="35971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340c3beda34_1_236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40c3beda34_1_236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340c3beda34_1_236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340c3beda34_1_236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340c3beda34_1_236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40c3beda34_1_236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5" name="Google Shape;805;g340c3beda34_1_236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806" name="Google Shape;806;g340c3beda34_1_236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g340c3beda34_1_236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8" name="Google Shape;808;g340c3beda34_1_236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809" name="Google Shape;809;g340c3beda34_1_236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g340c3beda34_1_236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1" name="Google Shape;811;g340c3beda34_1_236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812" name="Google Shape;812;g340c3beda34_1_236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g340c3beda34_1_236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4" name="Google Shape;814;g340c3beda34_1_236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815" name="Google Shape;815;g340c3beda34_1_236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g340c3beda34_1_236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7" name="Google Shape;817;g340c3beda34_1_236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g340c3beda34_1_236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g340c3beda34_1_236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g340c3beda34_1_236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340c3beda34_1_236"/>
          <p:cNvSpPr/>
          <p:nvPr/>
        </p:nvSpPr>
        <p:spPr>
          <a:xfrm>
            <a:off x="361800" y="3600450"/>
            <a:ext cx="8781858" cy="8775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1; j &lt;= n; j++)	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C[A[j]] ++;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40c3beda34_1_285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2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40c3beda34_1_285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8" name="Google Shape;828;g340c3beda34_1_285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829" name="Google Shape;829;g340c3beda34_1_285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g340c3beda34_1_285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1" name="Google Shape;831;g340c3beda34_1_285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832" name="Google Shape;832;g340c3beda34_1_285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g340c3beda34_1_285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4" name="Google Shape;834;g340c3beda34_1_285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835" name="Google Shape;835;g340c3beda34_1_285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g340c3beda34_1_285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7" name="Google Shape;837;g340c3beda34_1_285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838" name="Google Shape;838;g340c3beda34_1_285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g340c3beda34_1_285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0" name="Google Shape;840;g340c3beda34_1_285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841" name="Google Shape;841;g340c3beda34_1_285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g340c3beda34_1_285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3" name="Google Shape;843;g340c3beda34_1_285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40c3beda34_1_285"/>
          <p:cNvSpPr/>
          <p:nvPr/>
        </p:nvSpPr>
        <p:spPr>
          <a:xfrm>
            <a:off x="8539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g340c3beda34_1_285"/>
          <p:cNvSpPr/>
          <p:nvPr/>
        </p:nvSpPr>
        <p:spPr>
          <a:xfrm>
            <a:off x="15397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40c3beda34_1_285"/>
          <p:cNvSpPr/>
          <p:nvPr/>
        </p:nvSpPr>
        <p:spPr>
          <a:xfrm>
            <a:off x="22255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40c3beda34_1_285"/>
          <p:cNvSpPr/>
          <p:nvPr/>
        </p:nvSpPr>
        <p:spPr>
          <a:xfrm>
            <a:off x="29113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40c3beda34_1_285"/>
          <p:cNvSpPr/>
          <p:nvPr/>
        </p:nvSpPr>
        <p:spPr>
          <a:xfrm>
            <a:off x="35971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g340c3beda34_1_285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g340c3beda34_1_285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g340c3beda34_1_285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g340c3beda34_1_285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g340c3beda34_1_285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g340c3beda34_1_285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5" name="Google Shape;855;g340c3beda34_1_285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856" name="Google Shape;856;g340c3beda34_1_285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g340c3beda34_1_285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8" name="Google Shape;858;g340c3beda34_1_285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859" name="Google Shape;859;g340c3beda34_1_285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g340c3beda34_1_285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1" name="Google Shape;861;g340c3beda34_1_285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862" name="Google Shape;862;g340c3beda34_1_285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g340c3beda34_1_285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4" name="Google Shape;864;g340c3beda34_1_285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865" name="Google Shape;865;g340c3beda34_1_285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g340c3beda34_1_285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7" name="Google Shape;867;g340c3beda34_1_285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340c3beda34_1_285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g340c3beda34_1_285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g340c3beda34_1_285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g340c3beda34_1_285"/>
          <p:cNvSpPr/>
          <p:nvPr/>
        </p:nvSpPr>
        <p:spPr>
          <a:xfrm>
            <a:off x="361800" y="3600450"/>
            <a:ext cx="8781858" cy="8775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1; j &lt;= n; j++)	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C[A[j]] ++;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40c3beda34_1_334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3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g340c3beda34_1_334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8" name="Google Shape;878;g340c3beda34_1_334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879" name="Google Shape;879;g340c3beda34_1_334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g340c3beda34_1_334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1" name="Google Shape;881;g340c3beda34_1_334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882" name="Google Shape;882;g340c3beda34_1_334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g340c3beda34_1_334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4" name="Google Shape;884;g340c3beda34_1_334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885" name="Google Shape;885;g340c3beda34_1_334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g340c3beda34_1_334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7" name="Google Shape;887;g340c3beda34_1_334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888" name="Google Shape;888;g340c3beda34_1_334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g340c3beda34_1_334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0" name="Google Shape;890;g340c3beda34_1_334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891" name="Google Shape;891;g340c3beda34_1_334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g340c3beda34_1_334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3" name="Google Shape;893;g340c3beda34_1_334"/>
          <p:cNvGrpSpPr/>
          <p:nvPr/>
        </p:nvGrpSpPr>
        <p:grpSpPr>
          <a:xfrm>
            <a:off x="201240" y="2628990"/>
            <a:ext cx="4079521" cy="448469"/>
            <a:chOff x="201240" y="3505320"/>
            <a:chExt cx="4079521" cy="597958"/>
          </a:xfrm>
        </p:grpSpPr>
        <p:sp>
          <p:nvSpPr>
            <p:cNvPr id="894" name="Google Shape;894;g340c3beda34_1_334"/>
            <p:cNvSpPr/>
            <p:nvPr/>
          </p:nvSpPr>
          <p:spPr>
            <a:xfrm>
              <a:off x="201240" y="3514320"/>
              <a:ext cx="61020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1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1" i="0" lang="en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g340c3beda34_1_334"/>
            <p:cNvSpPr/>
            <p:nvPr/>
          </p:nvSpPr>
          <p:spPr>
            <a:xfrm>
              <a:off x="86472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g340c3beda34_1_334"/>
            <p:cNvSpPr/>
            <p:nvPr/>
          </p:nvSpPr>
          <p:spPr>
            <a:xfrm>
              <a:off x="1548720" y="3505320"/>
              <a:ext cx="683281" cy="597958"/>
            </a:xfrm>
            <a:custGeom>
              <a:rect b="b" l="l" r="r" t="t"/>
              <a:pathLst>
                <a:path extrusionOk="0" h="1664" w="1901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5" y="1662"/>
                  </a:lnTo>
                  <a:lnTo>
                    <a:pt x="1896" y="1663"/>
                  </a:lnTo>
                  <a:cubicBezTo>
                    <a:pt x="1896" y="1663"/>
                    <a:pt x="1897" y="1663"/>
                    <a:pt x="1898" y="1662"/>
                  </a:cubicBezTo>
                  <a:lnTo>
                    <a:pt x="1899" y="1661"/>
                  </a:lnTo>
                  <a:cubicBezTo>
                    <a:pt x="1900" y="1660"/>
                    <a:pt x="1900" y="1659"/>
                    <a:pt x="1900" y="1659"/>
                  </a:cubicBezTo>
                  <a:lnTo>
                    <a:pt x="1900" y="4"/>
                  </a:lnTo>
                  <a:lnTo>
                    <a:pt x="1900" y="4"/>
                  </a:lnTo>
                  <a:lnTo>
                    <a:pt x="1900" y="4"/>
                  </a:lnTo>
                  <a:cubicBezTo>
                    <a:pt x="1900" y="4"/>
                    <a:pt x="1900" y="3"/>
                    <a:pt x="1899" y="2"/>
                  </a:cubicBezTo>
                  <a:lnTo>
                    <a:pt x="1898" y="1"/>
                  </a:lnTo>
                  <a:cubicBezTo>
                    <a:pt x="1897" y="0"/>
                    <a:pt x="1896" y="0"/>
                    <a:pt x="1896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g340c3beda34_1_334"/>
            <p:cNvSpPr/>
            <p:nvPr/>
          </p:nvSpPr>
          <p:spPr>
            <a:xfrm>
              <a:off x="223128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g340c3beda34_1_334"/>
            <p:cNvSpPr/>
            <p:nvPr/>
          </p:nvSpPr>
          <p:spPr>
            <a:xfrm>
              <a:off x="2915280" y="3505320"/>
              <a:ext cx="683281" cy="597958"/>
            </a:xfrm>
            <a:custGeom>
              <a:rect b="b" l="l" r="r" t="t"/>
              <a:pathLst>
                <a:path extrusionOk="0" h="1664" w="1901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5" y="1662"/>
                  </a:lnTo>
                  <a:lnTo>
                    <a:pt x="1896" y="1663"/>
                  </a:lnTo>
                  <a:cubicBezTo>
                    <a:pt x="1896" y="1663"/>
                    <a:pt x="1897" y="1663"/>
                    <a:pt x="1898" y="1662"/>
                  </a:cubicBezTo>
                  <a:lnTo>
                    <a:pt x="1899" y="1661"/>
                  </a:lnTo>
                  <a:cubicBezTo>
                    <a:pt x="1900" y="1660"/>
                    <a:pt x="1900" y="1659"/>
                    <a:pt x="1900" y="1659"/>
                  </a:cubicBezTo>
                  <a:lnTo>
                    <a:pt x="1900" y="4"/>
                  </a:lnTo>
                  <a:lnTo>
                    <a:pt x="1900" y="4"/>
                  </a:lnTo>
                  <a:lnTo>
                    <a:pt x="1900" y="4"/>
                  </a:lnTo>
                  <a:cubicBezTo>
                    <a:pt x="1900" y="4"/>
                    <a:pt x="1900" y="3"/>
                    <a:pt x="1899" y="2"/>
                  </a:cubicBezTo>
                  <a:lnTo>
                    <a:pt x="1898" y="1"/>
                  </a:lnTo>
                  <a:cubicBezTo>
                    <a:pt x="1897" y="0"/>
                    <a:pt x="1896" y="0"/>
                    <a:pt x="1896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g340c3beda34_1_334"/>
            <p:cNvSpPr/>
            <p:nvPr/>
          </p:nvSpPr>
          <p:spPr>
            <a:xfrm>
              <a:off x="3597480" y="3505320"/>
              <a:ext cx="683281" cy="597958"/>
            </a:xfrm>
            <a:custGeom>
              <a:rect b="b" l="l" r="r" t="t"/>
              <a:pathLst>
                <a:path extrusionOk="0" h="1664" w="1901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5" y="1662"/>
                  </a:lnTo>
                  <a:lnTo>
                    <a:pt x="1896" y="1663"/>
                  </a:lnTo>
                  <a:cubicBezTo>
                    <a:pt x="1896" y="1663"/>
                    <a:pt x="1897" y="1663"/>
                    <a:pt x="1898" y="1662"/>
                  </a:cubicBezTo>
                  <a:lnTo>
                    <a:pt x="1899" y="1661"/>
                  </a:lnTo>
                  <a:cubicBezTo>
                    <a:pt x="1900" y="1660"/>
                    <a:pt x="1900" y="1659"/>
                    <a:pt x="1900" y="1659"/>
                  </a:cubicBezTo>
                  <a:lnTo>
                    <a:pt x="1900" y="4"/>
                  </a:lnTo>
                  <a:lnTo>
                    <a:pt x="1900" y="4"/>
                  </a:lnTo>
                  <a:lnTo>
                    <a:pt x="1900" y="4"/>
                  </a:lnTo>
                  <a:cubicBezTo>
                    <a:pt x="1900" y="4"/>
                    <a:pt x="1900" y="3"/>
                    <a:pt x="1899" y="2"/>
                  </a:cubicBezTo>
                  <a:lnTo>
                    <a:pt x="1898" y="1"/>
                  </a:lnTo>
                  <a:cubicBezTo>
                    <a:pt x="1897" y="0"/>
                    <a:pt x="1896" y="0"/>
                    <a:pt x="1896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0" name="Google Shape;900;g340c3beda34_1_334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340c3beda34_1_334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g340c3beda34_1_334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40c3beda34_1_334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340c3beda34_1_334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40c3beda34_1_334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6" name="Google Shape;906;g340c3beda34_1_334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907" name="Google Shape;907;g340c3beda34_1_334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g340c3beda34_1_334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9" name="Google Shape;909;g340c3beda34_1_334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910" name="Google Shape;910;g340c3beda34_1_334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g340c3beda34_1_334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2" name="Google Shape;912;g340c3beda34_1_334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913" name="Google Shape;913;g340c3beda34_1_334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g340c3beda34_1_334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5" name="Google Shape;915;g340c3beda34_1_334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916" name="Google Shape;916;g340c3beda34_1_334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g340c3beda34_1_334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8" name="Google Shape;918;g340c3beda34_1_334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g340c3beda34_1_334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40c3beda34_1_334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340c3beda34_1_334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40c3beda34_1_334"/>
          <p:cNvSpPr/>
          <p:nvPr/>
        </p:nvSpPr>
        <p:spPr>
          <a:xfrm>
            <a:off x="4916520" y="2636010"/>
            <a:ext cx="70632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C'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3" name="Google Shape;923;g340c3beda34_1_334"/>
          <p:cNvGrpSpPr/>
          <p:nvPr/>
        </p:nvGrpSpPr>
        <p:grpSpPr>
          <a:xfrm>
            <a:off x="5678640" y="2628990"/>
            <a:ext cx="683641" cy="448469"/>
            <a:chOff x="5678640" y="3505320"/>
            <a:chExt cx="683641" cy="597958"/>
          </a:xfrm>
        </p:grpSpPr>
        <p:sp>
          <p:nvSpPr>
            <p:cNvPr id="924" name="Google Shape;924;g340c3beda34_1_334"/>
            <p:cNvSpPr/>
            <p:nvPr/>
          </p:nvSpPr>
          <p:spPr>
            <a:xfrm>
              <a:off x="56786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g340c3beda34_1_334"/>
            <p:cNvSpPr/>
            <p:nvPr/>
          </p:nvSpPr>
          <p:spPr>
            <a:xfrm>
              <a:off x="58172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" name="Google Shape;926;g340c3beda34_1_334"/>
          <p:cNvGrpSpPr/>
          <p:nvPr/>
        </p:nvGrpSpPr>
        <p:grpSpPr>
          <a:xfrm>
            <a:off x="6364440" y="2628990"/>
            <a:ext cx="683641" cy="448469"/>
            <a:chOff x="6364440" y="3505320"/>
            <a:chExt cx="683641" cy="597958"/>
          </a:xfrm>
        </p:grpSpPr>
        <p:sp>
          <p:nvSpPr>
            <p:cNvPr id="927" name="Google Shape;927;g340c3beda34_1_334"/>
            <p:cNvSpPr/>
            <p:nvPr/>
          </p:nvSpPr>
          <p:spPr>
            <a:xfrm>
              <a:off x="63644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g340c3beda34_1_334"/>
            <p:cNvSpPr/>
            <p:nvPr/>
          </p:nvSpPr>
          <p:spPr>
            <a:xfrm>
              <a:off x="65030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9" name="Google Shape;929;g340c3beda34_1_334"/>
          <p:cNvGrpSpPr/>
          <p:nvPr/>
        </p:nvGrpSpPr>
        <p:grpSpPr>
          <a:xfrm>
            <a:off x="7050240" y="2628990"/>
            <a:ext cx="683641" cy="448469"/>
            <a:chOff x="7050240" y="3505320"/>
            <a:chExt cx="683641" cy="597958"/>
          </a:xfrm>
        </p:grpSpPr>
        <p:sp>
          <p:nvSpPr>
            <p:cNvPr id="930" name="Google Shape;930;g340c3beda34_1_334"/>
            <p:cNvSpPr/>
            <p:nvPr/>
          </p:nvSpPr>
          <p:spPr>
            <a:xfrm>
              <a:off x="70502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g340c3beda34_1_334"/>
            <p:cNvSpPr/>
            <p:nvPr/>
          </p:nvSpPr>
          <p:spPr>
            <a:xfrm>
              <a:off x="71888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2" name="Google Shape;932;g340c3beda34_1_334"/>
          <p:cNvGrpSpPr/>
          <p:nvPr/>
        </p:nvGrpSpPr>
        <p:grpSpPr>
          <a:xfrm>
            <a:off x="7736040" y="2628990"/>
            <a:ext cx="683641" cy="448469"/>
            <a:chOff x="7736040" y="3505320"/>
            <a:chExt cx="683641" cy="597958"/>
          </a:xfrm>
        </p:grpSpPr>
        <p:sp>
          <p:nvSpPr>
            <p:cNvPr id="933" name="Google Shape;933;g340c3beda34_1_334"/>
            <p:cNvSpPr/>
            <p:nvPr/>
          </p:nvSpPr>
          <p:spPr>
            <a:xfrm>
              <a:off x="77360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g340c3beda34_1_334"/>
            <p:cNvSpPr/>
            <p:nvPr/>
          </p:nvSpPr>
          <p:spPr>
            <a:xfrm>
              <a:off x="78746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5" name="Google Shape;935;g340c3beda34_1_334"/>
          <p:cNvSpPr/>
          <p:nvPr/>
        </p:nvSpPr>
        <p:spPr>
          <a:xfrm>
            <a:off x="361800" y="3600450"/>
            <a:ext cx="8781858" cy="8775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(i = 1; i &lt;= k; i++)	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C[i] = C[i] + C[i-1];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6" name="Google Shape;936;g340c3beda34_1_334"/>
          <p:cNvSpPr/>
          <p:nvPr/>
        </p:nvSpPr>
        <p:spPr>
          <a:xfrm>
            <a:off x="4916525" y="3399350"/>
            <a:ext cx="4210812" cy="801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C’ represents the state of C after C[i] = C[i] + C[i-1] operation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40c3beda34_1_397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3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40c3beda34_1_397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3" name="Google Shape;943;g340c3beda34_1_397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944" name="Google Shape;944;g340c3beda34_1_397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g340c3beda34_1_397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6" name="Google Shape;946;g340c3beda34_1_397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947" name="Google Shape;947;g340c3beda34_1_397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g340c3beda34_1_397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9" name="Google Shape;949;g340c3beda34_1_397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950" name="Google Shape;950;g340c3beda34_1_397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g340c3beda34_1_397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2" name="Google Shape;952;g340c3beda34_1_397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953" name="Google Shape;953;g340c3beda34_1_397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g340c3beda34_1_397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5" name="Google Shape;955;g340c3beda34_1_397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956" name="Google Shape;956;g340c3beda34_1_397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g340c3beda34_1_397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8" name="Google Shape;958;g340c3beda34_1_397"/>
          <p:cNvGrpSpPr/>
          <p:nvPr/>
        </p:nvGrpSpPr>
        <p:grpSpPr>
          <a:xfrm>
            <a:off x="201240" y="2628990"/>
            <a:ext cx="4079521" cy="448469"/>
            <a:chOff x="201240" y="3505320"/>
            <a:chExt cx="4079521" cy="597958"/>
          </a:xfrm>
        </p:grpSpPr>
        <p:sp>
          <p:nvSpPr>
            <p:cNvPr id="959" name="Google Shape;959;g340c3beda34_1_397"/>
            <p:cNvSpPr/>
            <p:nvPr/>
          </p:nvSpPr>
          <p:spPr>
            <a:xfrm>
              <a:off x="201240" y="3514320"/>
              <a:ext cx="61020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1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1" i="0" lang="en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g340c3beda34_1_397"/>
            <p:cNvSpPr/>
            <p:nvPr/>
          </p:nvSpPr>
          <p:spPr>
            <a:xfrm>
              <a:off x="86472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g340c3beda34_1_397"/>
            <p:cNvSpPr/>
            <p:nvPr/>
          </p:nvSpPr>
          <p:spPr>
            <a:xfrm>
              <a:off x="1548720" y="3505320"/>
              <a:ext cx="683281" cy="597958"/>
            </a:xfrm>
            <a:custGeom>
              <a:rect b="b" l="l" r="r" t="t"/>
              <a:pathLst>
                <a:path extrusionOk="0" h="1664" w="1901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5" y="1662"/>
                  </a:lnTo>
                  <a:lnTo>
                    <a:pt x="1896" y="1663"/>
                  </a:lnTo>
                  <a:cubicBezTo>
                    <a:pt x="1896" y="1663"/>
                    <a:pt x="1897" y="1663"/>
                    <a:pt x="1898" y="1662"/>
                  </a:cubicBezTo>
                  <a:lnTo>
                    <a:pt x="1899" y="1661"/>
                  </a:lnTo>
                  <a:cubicBezTo>
                    <a:pt x="1900" y="1660"/>
                    <a:pt x="1900" y="1659"/>
                    <a:pt x="1900" y="1659"/>
                  </a:cubicBezTo>
                  <a:lnTo>
                    <a:pt x="1900" y="4"/>
                  </a:lnTo>
                  <a:lnTo>
                    <a:pt x="1900" y="4"/>
                  </a:lnTo>
                  <a:lnTo>
                    <a:pt x="1900" y="4"/>
                  </a:lnTo>
                  <a:cubicBezTo>
                    <a:pt x="1900" y="4"/>
                    <a:pt x="1900" y="3"/>
                    <a:pt x="1899" y="2"/>
                  </a:cubicBezTo>
                  <a:lnTo>
                    <a:pt x="1898" y="1"/>
                  </a:lnTo>
                  <a:cubicBezTo>
                    <a:pt x="1897" y="0"/>
                    <a:pt x="1896" y="0"/>
                    <a:pt x="1896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g340c3beda34_1_397"/>
            <p:cNvSpPr/>
            <p:nvPr/>
          </p:nvSpPr>
          <p:spPr>
            <a:xfrm>
              <a:off x="223128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g340c3beda34_1_397"/>
            <p:cNvSpPr/>
            <p:nvPr/>
          </p:nvSpPr>
          <p:spPr>
            <a:xfrm>
              <a:off x="2915280" y="3505320"/>
              <a:ext cx="683281" cy="597958"/>
            </a:xfrm>
            <a:custGeom>
              <a:rect b="b" l="l" r="r" t="t"/>
              <a:pathLst>
                <a:path extrusionOk="0" h="1664" w="1901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5" y="1662"/>
                  </a:lnTo>
                  <a:lnTo>
                    <a:pt x="1896" y="1663"/>
                  </a:lnTo>
                  <a:cubicBezTo>
                    <a:pt x="1896" y="1663"/>
                    <a:pt x="1897" y="1663"/>
                    <a:pt x="1898" y="1662"/>
                  </a:cubicBezTo>
                  <a:lnTo>
                    <a:pt x="1899" y="1661"/>
                  </a:lnTo>
                  <a:cubicBezTo>
                    <a:pt x="1900" y="1660"/>
                    <a:pt x="1900" y="1659"/>
                    <a:pt x="1900" y="1659"/>
                  </a:cubicBezTo>
                  <a:lnTo>
                    <a:pt x="1900" y="4"/>
                  </a:lnTo>
                  <a:lnTo>
                    <a:pt x="1900" y="4"/>
                  </a:lnTo>
                  <a:lnTo>
                    <a:pt x="1900" y="4"/>
                  </a:lnTo>
                  <a:cubicBezTo>
                    <a:pt x="1900" y="4"/>
                    <a:pt x="1900" y="3"/>
                    <a:pt x="1899" y="2"/>
                  </a:cubicBezTo>
                  <a:lnTo>
                    <a:pt x="1898" y="1"/>
                  </a:lnTo>
                  <a:cubicBezTo>
                    <a:pt x="1897" y="0"/>
                    <a:pt x="1896" y="0"/>
                    <a:pt x="1896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g340c3beda34_1_397"/>
            <p:cNvSpPr/>
            <p:nvPr/>
          </p:nvSpPr>
          <p:spPr>
            <a:xfrm>
              <a:off x="3597480" y="3505320"/>
              <a:ext cx="683281" cy="597958"/>
            </a:xfrm>
            <a:custGeom>
              <a:rect b="b" l="l" r="r" t="t"/>
              <a:pathLst>
                <a:path extrusionOk="0" h="1664" w="1901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5" y="1662"/>
                  </a:lnTo>
                  <a:lnTo>
                    <a:pt x="1896" y="1663"/>
                  </a:lnTo>
                  <a:cubicBezTo>
                    <a:pt x="1896" y="1663"/>
                    <a:pt x="1897" y="1663"/>
                    <a:pt x="1898" y="1662"/>
                  </a:cubicBezTo>
                  <a:lnTo>
                    <a:pt x="1899" y="1661"/>
                  </a:lnTo>
                  <a:cubicBezTo>
                    <a:pt x="1900" y="1660"/>
                    <a:pt x="1900" y="1659"/>
                    <a:pt x="1900" y="1659"/>
                  </a:cubicBezTo>
                  <a:lnTo>
                    <a:pt x="1900" y="4"/>
                  </a:lnTo>
                  <a:lnTo>
                    <a:pt x="1900" y="4"/>
                  </a:lnTo>
                  <a:lnTo>
                    <a:pt x="1900" y="4"/>
                  </a:lnTo>
                  <a:cubicBezTo>
                    <a:pt x="1900" y="4"/>
                    <a:pt x="1900" y="3"/>
                    <a:pt x="1899" y="2"/>
                  </a:cubicBezTo>
                  <a:lnTo>
                    <a:pt x="1898" y="1"/>
                  </a:lnTo>
                  <a:cubicBezTo>
                    <a:pt x="1897" y="0"/>
                    <a:pt x="1896" y="0"/>
                    <a:pt x="1896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5" name="Google Shape;965;g340c3beda34_1_397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340c3beda34_1_397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340c3beda34_1_397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g340c3beda34_1_397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g340c3beda34_1_397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g340c3beda34_1_397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1" name="Google Shape;971;g340c3beda34_1_397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972" name="Google Shape;972;g340c3beda34_1_397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g340c3beda34_1_397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4" name="Google Shape;974;g340c3beda34_1_397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975" name="Google Shape;975;g340c3beda34_1_397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g340c3beda34_1_397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7" name="Google Shape;977;g340c3beda34_1_397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978" name="Google Shape;978;g340c3beda34_1_397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g340c3beda34_1_397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0" name="Google Shape;980;g340c3beda34_1_397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981" name="Google Shape;981;g340c3beda34_1_397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g340c3beda34_1_397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3" name="Google Shape;983;g340c3beda34_1_397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g340c3beda34_1_397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g340c3beda34_1_397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g340c3beda34_1_397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g340c3beda34_1_397"/>
          <p:cNvSpPr/>
          <p:nvPr/>
        </p:nvSpPr>
        <p:spPr>
          <a:xfrm>
            <a:off x="4916520" y="2636010"/>
            <a:ext cx="70632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C'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8" name="Google Shape;988;g340c3beda34_1_397"/>
          <p:cNvGrpSpPr/>
          <p:nvPr/>
        </p:nvGrpSpPr>
        <p:grpSpPr>
          <a:xfrm>
            <a:off x="5678640" y="2628990"/>
            <a:ext cx="683641" cy="448469"/>
            <a:chOff x="5678640" y="3505320"/>
            <a:chExt cx="683641" cy="597958"/>
          </a:xfrm>
        </p:grpSpPr>
        <p:sp>
          <p:nvSpPr>
            <p:cNvPr id="989" name="Google Shape;989;g340c3beda34_1_397"/>
            <p:cNvSpPr/>
            <p:nvPr/>
          </p:nvSpPr>
          <p:spPr>
            <a:xfrm>
              <a:off x="56786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g340c3beda34_1_397"/>
            <p:cNvSpPr/>
            <p:nvPr/>
          </p:nvSpPr>
          <p:spPr>
            <a:xfrm>
              <a:off x="58172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1" name="Google Shape;991;g340c3beda34_1_397"/>
          <p:cNvGrpSpPr/>
          <p:nvPr/>
        </p:nvGrpSpPr>
        <p:grpSpPr>
          <a:xfrm>
            <a:off x="6364440" y="2628990"/>
            <a:ext cx="683641" cy="448469"/>
            <a:chOff x="6364440" y="3505320"/>
            <a:chExt cx="683641" cy="597958"/>
          </a:xfrm>
        </p:grpSpPr>
        <p:sp>
          <p:nvSpPr>
            <p:cNvPr id="992" name="Google Shape;992;g340c3beda34_1_397"/>
            <p:cNvSpPr/>
            <p:nvPr/>
          </p:nvSpPr>
          <p:spPr>
            <a:xfrm>
              <a:off x="63644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g340c3beda34_1_397"/>
            <p:cNvSpPr/>
            <p:nvPr/>
          </p:nvSpPr>
          <p:spPr>
            <a:xfrm>
              <a:off x="65030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4" name="Google Shape;994;g340c3beda34_1_397"/>
          <p:cNvGrpSpPr/>
          <p:nvPr/>
        </p:nvGrpSpPr>
        <p:grpSpPr>
          <a:xfrm>
            <a:off x="7050240" y="2628990"/>
            <a:ext cx="683641" cy="448469"/>
            <a:chOff x="7050240" y="3505320"/>
            <a:chExt cx="683641" cy="597958"/>
          </a:xfrm>
        </p:grpSpPr>
        <p:sp>
          <p:nvSpPr>
            <p:cNvPr id="995" name="Google Shape;995;g340c3beda34_1_397"/>
            <p:cNvSpPr/>
            <p:nvPr/>
          </p:nvSpPr>
          <p:spPr>
            <a:xfrm>
              <a:off x="70502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g340c3beda34_1_397"/>
            <p:cNvSpPr/>
            <p:nvPr/>
          </p:nvSpPr>
          <p:spPr>
            <a:xfrm>
              <a:off x="71888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7" name="Google Shape;997;g340c3beda34_1_397"/>
          <p:cNvGrpSpPr/>
          <p:nvPr/>
        </p:nvGrpSpPr>
        <p:grpSpPr>
          <a:xfrm>
            <a:off x="7736040" y="2628990"/>
            <a:ext cx="683641" cy="448469"/>
            <a:chOff x="7736040" y="3505320"/>
            <a:chExt cx="683641" cy="597958"/>
          </a:xfrm>
        </p:grpSpPr>
        <p:sp>
          <p:nvSpPr>
            <p:cNvPr id="998" name="Google Shape;998;g340c3beda34_1_397"/>
            <p:cNvSpPr/>
            <p:nvPr/>
          </p:nvSpPr>
          <p:spPr>
            <a:xfrm>
              <a:off x="77360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g340c3beda34_1_397"/>
            <p:cNvSpPr/>
            <p:nvPr/>
          </p:nvSpPr>
          <p:spPr>
            <a:xfrm>
              <a:off x="78746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0" name="Google Shape;1000;g340c3beda34_1_397"/>
          <p:cNvSpPr/>
          <p:nvPr/>
        </p:nvSpPr>
        <p:spPr>
          <a:xfrm>
            <a:off x="361800" y="3600450"/>
            <a:ext cx="8781858" cy="8775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(i = 1; i &lt;= k; i++)	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C[i] = C[i] + C[i-1];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1" name="Google Shape;1001;g340c3beda34_1_397"/>
          <p:cNvSpPr/>
          <p:nvPr/>
        </p:nvSpPr>
        <p:spPr>
          <a:xfrm>
            <a:off x="4916525" y="3399350"/>
            <a:ext cx="4210812" cy="801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C’ represents the state of C after C[i] = C[i] + C[i-1] operation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40c3beda34_1_460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3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g340c3beda34_1_460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8" name="Google Shape;1008;g340c3beda34_1_460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1009" name="Google Shape;1009;g340c3beda34_1_460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g340c3beda34_1_460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1" name="Google Shape;1011;g340c3beda34_1_460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1012" name="Google Shape;1012;g340c3beda34_1_460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g340c3beda34_1_460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4" name="Google Shape;1014;g340c3beda34_1_460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1015" name="Google Shape;1015;g340c3beda34_1_460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g340c3beda34_1_460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7" name="Google Shape;1017;g340c3beda34_1_460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1018" name="Google Shape;1018;g340c3beda34_1_460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g340c3beda34_1_460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0" name="Google Shape;1020;g340c3beda34_1_460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1021" name="Google Shape;1021;g340c3beda34_1_460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g340c3beda34_1_460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3" name="Google Shape;1023;g340c3beda34_1_460"/>
          <p:cNvGrpSpPr/>
          <p:nvPr/>
        </p:nvGrpSpPr>
        <p:grpSpPr>
          <a:xfrm>
            <a:off x="201240" y="2628990"/>
            <a:ext cx="4079521" cy="448469"/>
            <a:chOff x="201240" y="3505320"/>
            <a:chExt cx="4079521" cy="597958"/>
          </a:xfrm>
        </p:grpSpPr>
        <p:sp>
          <p:nvSpPr>
            <p:cNvPr id="1024" name="Google Shape;1024;g340c3beda34_1_460"/>
            <p:cNvSpPr/>
            <p:nvPr/>
          </p:nvSpPr>
          <p:spPr>
            <a:xfrm>
              <a:off x="201240" y="3514320"/>
              <a:ext cx="61020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1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1" i="0" lang="en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g340c3beda34_1_460"/>
            <p:cNvSpPr/>
            <p:nvPr/>
          </p:nvSpPr>
          <p:spPr>
            <a:xfrm>
              <a:off x="86472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g340c3beda34_1_460"/>
            <p:cNvSpPr/>
            <p:nvPr/>
          </p:nvSpPr>
          <p:spPr>
            <a:xfrm>
              <a:off x="1548720" y="3505320"/>
              <a:ext cx="683281" cy="597958"/>
            </a:xfrm>
            <a:custGeom>
              <a:rect b="b" l="l" r="r" t="t"/>
              <a:pathLst>
                <a:path extrusionOk="0" h="1664" w="1901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5" y="1662"/>
                  </a:lnTo>
                  <a:lnTo>
                    <a:pt x="1896" y="1663"/>
                  </a:lnTo>
                  <a:cubicBezTo>
                    <a:pt x="1896" y="1663"/>
                    <a:pt x="1897" y="1663"/>
                    <a:pt x="1898" y="1662"/>
                  </a:cubicBezTo>
                  <a:lnTo>
                    <a:pt x="1899" y="1661"/>
                  </a:lnTo>
                  <a:cubicBezTo>
                    <a:pt x="1900" y="1660"/>
                    <a:pt x="1900" y="1659"/>
                    <a:pt x="1900" y="1659"/>
                  </a:cubicBezTo>
                  <a:lnTo>
                    <a:pt x="1900" y="4"/>
                  </a:lnTo>
                  <a:lnTo>
                    <a:pt x="1900" y="4"/>
                  </a:lnTo>
                  <a:lnTo>
                    <a:pt x="1900" y="4"/>
                  </a:lnTo>
                  <a:cubicBezTo>
                    <a:pt x="1900" y="4"/>
                    <a:pt x="1900" y="3"/>
                    <a:pt x="1899" y="2"/>
                  </a:cubicBezTo>
                  <a:lnTo>
                    <a:pt x="1898" y="1"/>
                  </a:lnTo>
                  <a:cubicBezTo>
                    <a:pt x="1897" y="0"/>
                    <a:pt x="1896" y="0"/>
                    <a:pt x="1896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g340c3beda34_1_460"/>
            <p:cNvSpPr/>
            <p:nvPr/>
          </p:nvSpPr>
          <p:spPr>
            <a:xfrm>
              <a:off x="223128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g340c3beda34_1_460"/>
            <p:cNvSpPr/>
            <p:nvPr/>
          </p:nvSpPr>
          <p:spPr>
            <a:xfrm>
              <a:off x="2915280" y="3505320"/>
              <a:ext cx="683281" cy="597958"/>
            </a:xfrm>
            <a:custGeom>
              <a:rect b="b" l="l" r="r" t="t"/>
              <a:pathLst>
                <a:path extrusionOk="0" h="1664" w="1901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5" y="1662"/>
                  </a:lnTo>
                  <a:lnTo>
                    <a:pt x="1896" y="1663"/>
                  </a:lnTo>
                  <a:cubicBezTo>
                    <a:pt x="1896" y="1663"/>
                    <a:pt x="1897" y="1663"/>
                    <a:pt x="1898" y="1662"/>
                  </a:cubicBezTo>
                  <a:lnTo>
                    <a:pt x="1899" y="1661"/>
                  </a:lnTo>
                  <a:cubicBezTo>
                    <a:pt x="1900" y="1660"/>
                    <a:pt x="1900" y="1659"/>
                    <a:pt x="1900" y="1659"/>
                  </a:cubicBezTo>
                  <a:lnTo>
                    <a:pt x="1900" y="4"/>
                  </a:lnTo>
                  <a:lnTo>
                    <a:pt x="1900" y="4"/>
                  </a:lnTo>
                  <a:lnTo>
                    <a:pt x="1900" y="4"/>
                  </a:lnTo>
                  <a:cubicBezTo>
                    <a:pt x="1900" y="4"/>
                    <a:pt x="1900" y="3"/>
                    <a:pt x="1899" y="2"/>
                  </a:cubicBezTo>
                  <a:lnTo>
                    <a:pt x="1898" y="1"/>
                  </a:lnTo>
                  <a:cubicBezTo>
                    <a:pt x="1897" y="0"/>
                    <a:pt x="1896" y="0"/>
                    <a:pt x="1896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g340c3beda34_1_460"/>
            <p:cNvSpPr/>
            <p:nvPr/>
          </p:nvSpPr>
          <p:spPr>
            <a:xfrm>
              <a:off x="3597480" y="3505320"/>
              <a:ext cx="683281" cy="597958"/>
            </a:xfrm>
            <a:custGeom>
              <a:rect b="b" l="l" r="r" t="t"/>
              <a:pathLst>
                <a:path extrusionOk="0" h="1664" w="1901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5" y="1662"/>
                  </a:lnTo>
                  <a:lnTo>
                    <a:pt x="1896" y="1663"/>
                  </a:lnTo>
                  <a:cubicBezTo>
                    <a:pt x="1896" y="1663"/>
                    <a:pt x="1897" y="1663"/>
                    <a:pt x="1898" y="1662"/>
                  </a:cubicBezTo>
                  <a:lnTo>
                    <a:pt x="1899" y="1661"/>
                  </a:lnTo>
                  <a:cubicBezTo>
                    <a:pt x="1900" y="1660"/>
                    <a:pt x="1900" y="1659"/>
                    <a:pt x="1900" y="1659"/>
                  </a:cubicBezTo>
                  <a:lnTo>
                    <a:pt x="1900" y="4"/>
                  </a:lnTo>
                  <a:lnTo>
                    <a:pt x="1900" y="4"/>
                  </a:lnTo>
                  <a:lnTo>
                    <a:pt x="1900" y="4"/>
                  </a:lnTo>
                  <a:cubicBezTo>
                    <a:pt x="1900" y="4"/>
                    <a:pt x="1900" y="3"/>
                    <a:pt x="1899" y="2"/>
                  </a:cubicBezTo>
                  <a:lnTo>
                    <a:pt x="1898" y="1"/>
                  </a:lnTo>
                  <a:cubicBezTo>
                    <a:pt x="1897" y="0"/>
                    <a:pt x="1896" y="0"/>
                    <a:pt x="1896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0" name="Google Shape;1030;g340c3beda34_1_460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g340c3beda34_1_460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g340c3beda34_1_460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g340c3beda34_1_460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g340c3beda34_1_460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340c3beda34_1_460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6" name="Google Shape;1036;g340c3beda34_1_460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1037" name="Google Shape;1037;g340c3beda34_1_460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g340c3beda34_1_460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9" name="Google Shape;1039;g340c3beda34_1_460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1040" name="Google Shape;1040;g340c3beda34_1_460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g340c3beda34_1_460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2" name="Google Shape;1042;g340c3beda34_1_460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1043" name="Google Shape;1043;g340c3beda34_1_460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g340c3beda34_1_460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5" name="Google Shape;1045;g340c3beda34_1_460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1046" name="Google Shape;1046;g340c3beda34_1_460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g340c3beda34_1_460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8" name="Google Shape;1048;g340c3beda34_1_460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g340c3beda34_1_460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g340c3beda34_1_460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g340c3beda34_1_460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g340c3beda34_1_460"/>
          <p:cNvSpPr/>
          <p:nvPr/>
        </p:nvSpPr>
        <p:spPr>
          <a:xfrm>
            <a:off x="4916520" y="2636010"/>
            <a:ext cx="70632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C'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3" name="Google Shape;1053;g340c3beda34_1_460"/>
          <p:cNvGrpSpPr/>
          <p:nvPr/>
        </p:nvGrpSpPr>
        <p:grpSpPr>
          <a:xfrm>
            <a:off x="5678640" y="2628990"/>
            <a:ext cx="683641" cy="448469"/>
            <a:chOff x="5678640" y="3505320"/>
            <a:chExt cx="683641" cy="597958"/>
          </a:xfrm>
        </p:grpSpPr>
        <p:sp>
          <p:nvSpPr>
            <p:cNvPr id="1054" name="Google Shape;1054;g340c3beda34_1_460"/>
            <p:cNvSpPr/>
            <p:nvPr/>
          </p:nvSpPr>
          <p:spPr>
            <a:xfrm>
              <a:off x="56786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g340c3beda34_1_460"/>
            <p:cNvSpPr/>
            <p:nvPr/>
          </p:nvSpPr>
          <p:spPr>
            <a:xfrm>
              <a:off x="58172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6" name="Google Shape;1056;g340c3beda34_1_460"/>
          <p:cNvGrpSpPr/>
          <p:nvPr/>
        </p:nvGrpSpPr>
        <p:grpSpPr>
          <a:xfrm>
            <a:off x="6364440" y="2628990"/>
            <a:ext cx="683641" cy="448469"/>
            <a:chOff x="6364440" y="3505320"/>
            <a:chExt cx="683641" cy="597958"/>
          </a:xfrm>
        </p:grpSpPr>
        <p:sp>
          <p:nvSpPr>
            <p:cNvPr id="1057" name="Google Shape;1057;g340c3beda34_1_460"/>
            <p:cNvSpPr/>
            <p:nvPr/>
          </p:nvSpPr>
          <p:spPr>
            <a:xfrm>
              <a:off x="63644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g340c3beda34_1_460"/>
            <p:cNvSpPr/>
            <p:nvPr/>
          </p:nvSpPr>
          <p:spPr>
            <a:xfrm>
              <a:off x="65030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9" name="Google Shape;1059;g340c3beda34_1_460"/>
          <p:cNvGrpSpPr/>
          <p:nvPr/>
        </p:nvGrpSpPr>
        <p:grpSpPr>
          <a:xfrm>
            <a:off x="7050240" y="2628990"/>
            <a:ext cx="683641" cy="448469"/>
            <a:chOff x="7050240" y="3505320"/>
            <a:chExt cx="683641" cy="597958"/>
          </a:xfrm>
        </p:grpSpPr>
        <p:sp>
          <p:nvSpPr>
            <p:cNvPr id="1060" name="Google Shape;1060;g340c3beda34_1_460"/>
            <p:cNvSpPr/>
            <p:nvPr/>
          </p:nvSpPr>
          <p:spPr>
            <a:xfrm>
              <a:off x="70502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g340c3beda34_1_460"/>
            <p:cNvSpPr/>
            <p:nvPr/>
          </p:nvSpPr>
          <p:spPr>
            <a:xfrm>
              <a:off x="71888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2" name="Google Shape;1062;g340c3beda34_1_460"/>
          <p:cNvGrpSpPr/>
          <p:nvPr/>
        </p:nvGrpSpPr>
        <p:grpSpPr>
          <a:xfrm>
            <a:off x="7736040" y="2628990"/>
            <a:ext cx="683641" cy="448469"/>
            <a:chOff x="7736040" y="3505320"/>
            <a:chExt cx="683641" cy="597958"/>
          </a:xfrm>
        </p:grpSpPr>
        <p:sp>
          <p:nvSpPr>
            <p:cNvPr id="1063" name="Google Shape;1063;g340c3beda34_1_460"/>
            <p:cNvSpPr/>
            <p:nvPr/>
          </p:nvSpPr>
          <p:spPr>
            <a:xfrm>
              <a:off x="77360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g340c3beda34_1_460"/>
            <p:cNvSpPr/>
            <p:nvPr/>
          </p:nvSpPr>
          <p:spPr>
            <a:xfrm>
              <a:off x="78746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5" name="Google Shape;1065;g340c3beda34_1_460"/>
          <p:cNvSpPr/>
          <p:nvPr/>
        </p:nvSpPr>
        <p:spPr>
          <a:xfrm>
            <a:off x="361800" y="3600450"/>
            <a:ext cx="8781858" cy="8775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(i = 1; i &lt;= k; i++)	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C[i] = C[i] + C[i-1];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6" name="Google Shape;1066;g340c3beda34_1_460"/>
          <p:cNvSpPr/>
          <p:nvPr/>
        </p:nvSpPr>
        <p:spPr>
          <a:xfrm>
            <a:off x="4916525" y="3399350"/>
            <a:ext cx="4210812" cy="801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C’ represents the state of C after C[i] = C[i] + C[i-1] operation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40c3beda34_1_523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4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g340c3beda34_1_523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3" name="Google Shape;1073;g340c3beda34_1_523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1074" name="Google Shape;1074;g340c3beda34_1_523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g340c3beda34_1_523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6" name="Google Shape;1076;g340c3beda34_1_523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1077" name="Google Shape;1077;g340c3beda34_1_523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g340c3beda34_1_523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9" name="Google Shape;1079;g340c3beda34_1_523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1080" name="Google Shape;1080;g340c3beda34_1_523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g340c3beda34_1_523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2" name="Google Shape;1082;g340c3beda34_1_523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1083" name="Google Shape;1083;g340c3beda34_1_523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g340c3beda34_1_523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5" name="Google Shape;1085;g340c3beda34_1_523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1086" name="Google Shape;1086;g340c3beda34_1_523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g340c3beda34_1_523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8" name="Google Shape;1088;g340c3beda34_1_523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340c3beda34_1_523"/>
          <p:cNvSpPr/>
          <p:nvPr/>
        </p:nvSpPr>
        <p:spPr>
          <a:xfrm>
            <a:off x="8539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340c3beda34_1_523"/>
          <p:cNvSpPr/>
          <p:nvPr/>
        </p:nvSpPr>
        <p:spPr>
          <a:xfrm>
            <a:off x="15397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1" name="Google Shape;1091;g340c3beda34_1_523"/>
          <p:cNvGrpSpPr/>
          <p:nvPr/>
        </p:nvGrpSpPr>
        <p:grpSpPr>
          <a:xfrm>
            <a:off x="2225520" y="2628990"/>
            <a:ext cx="684000" cy="448469"/>
            <a:chOff x="2225520" y="3505320"/>
            <a:chExt cx="684000" cy="597958"/>
          </a:xfrm>
        </p:grpSpPr>
        <p:sp>
          <p:nvSpPr>
            <p:cNvPr id="1092" name="Google Shape;1092;g340c3beda34_1_523"/>
            <p:cNvSpPr/>
            <p:nvPr/>
          </p:nvSpPr>
          <p:spPr>
            <a:xfrm>
              <a:off x="22255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g340c3beda34_1_523"/>
            <p:cNvSpPr/>
            <p:nvPr/>
          </p:nvSpPr>
          <p:spPr>
            <a:xfrm>
              <a:off x="23644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4" name="Google Shape;1094;g340c3beda34_1_523"/>
          <p:cNvSpPr/>
          <p:nvPr/>
        </p:nvSpPr>
        <p:spPr>
          <a:xfrm>
            <a:off x="29113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g340c3beda34_1_523"/>
          <p:cNvSpPr/>
          <p:nvPr/>
        </p:nvSpPr>
        <p:spPr>
          <a:xfrm>
            <a:off x="35971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g340c3beda34_1_523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g340c3beda34_1_523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g340c3beda34_1_523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g340c3beda34_1_523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g340c3beda34_1_523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g340c3beda34_1_523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2" name="Google Shape;1102;g340c3beda34_1_523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1103" name="Google Shape;1103;g340c3beda34_1_523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g340c3beda34_1_523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5" name="Google Shape;1105;g340c3beda34_1_523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1106" name="Google Shape;1106;g340c3beda34_1_523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g340c3beda34_1_523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8" name="Google Shape;1108;g340c3beda34_1_523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1109" name="Google Shape;1109;g340c3beda34_1_523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g340c3beda34_1_523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1" name="Google Shape;1111;g340c3beda34_1_523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1112" name="Google Shape;1112;g340c3beda34_1_523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g340c3beda34_1_523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4" name="Google Shape;1114;g340c3beda34_1_523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g340c3beda34_1_523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g340c3beda34_1_523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g340c3beda34_1_523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g340c3beda34_1_523"/>
          <p:cNvSpPr/>
          <p:nvPr/>
        </p:nvSpPr>
        <p:spPr>
          <a:xfrm>
            <a:off x="4916520" y="2636010"/>
            <a:ext cx="70632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C'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9" name="Google Shape;1119;g340c3beda34_1_523"/>
          <p:cNvGrpSpPr/>
          <p:nvPr/>
        </p:nvGrpSpPr>
        <p:grpSpPr>
          <a:xfrm>
            <a:off x="5678640" y="2628990"/>
            <a:ext cx="683641" cy="448469"/>
            <a:chOff x="5678640" y="3505320"/>
            <a:chExt cx="683641" cy="597958"/>
          </a:xfrm>
        </p:grpSpPr>
        <p:sp>
          <p:nvSpPr>
            <p:cNvPr id="1120" name="Google Shape;1120;g340c3beda34_1_523"/>
            <p:cNvSpPr/>
            <p:nvPr/>
          </p:nvSpPr>
          <p:spPr>
            <a:xfrm>
              <a:off x="56786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g340c3beda34_1_523"/>
            <p:cNvSpPr/>
            <p:nvPr/>
          </p:nvSpPr>
          <p:spPr>
            <a:xfrm>
              <a:off x="58172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2" name="Google Shape;1122;g340c3beda34_1_523"/>
          <p:cNvGrpSpPr/>
          <p:nvPr/>
        </p:nvGrpSpPr>
        <p:grpSpPr>
          <a:xfrm>
            <a:off x="6364440" y="2628990"/>
            <a:ext cx="683641" cy="448469"/>
            <a:chOff x="6364440" y="3505320"/>
            <a:chExt cx="683641" cy="597958"/>
          </a:xfrm>
        </p:grpSpPr>
        <p:sp>
          <p:nvSpPr>
            <p:cNvPr id="1123" name="Google Shape;1123;g340c3beda34_1_523"/>
            <p:cNvSpPr/>
            <p:nvPr/>
          </p:nvSpPr>
          <p:spPr>
            <a:xfrm>
              <a:off x="63644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g340c3beda34_1_523"/>
            <p:cNvSpPr/>
            <p:nvPr/>
          </p:nvSpPr>
          <p:spPr>
            <a:xfrm>
              <a:off x="65030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5" name="Google Shape;1125;g340c3beda34_1_523"/>
          <p:cNvGrpSpPr/>
          <p:nvPr/>
        </p:nvGrpSpPr>
        <p:grpSpPr>
          <a:xfrm>
            <a:off x="7050240" y="2628990"/>
            <a:ext cx="683641" cy="448469"/>
            <a:chOff x="7050240" y="3505320"/>
            <a:chExt cx="683641" cy="597958"/>
          </a:xfrm>
        </p:grpSpPr>
        <p:sp>
          <p:nvSpPr>
            <p:cNvPr id="1126" name="Google Shape;1126;g340c3beda34_1_523"/>
            <p:cNvSpPr/>
            <p:nvPr/>
          </p:nvSpPr>
          <p:spPr>
            <a:xfrm>
              <a:off x="70502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g340c3beda34_1_523"/>
            <p:cNvSpPr/>
            <p:nvPr/>
          </p:nvSpPr>
          <p:spPr>
            <a:xfrm>
              <a:off x="71888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8" name="Google Shape;1128;g340c3beda34_1_523"/>
          <p:cNvGrpSpPr/>
          <p:nvPr/>
        </p:nvGrpSpPr>
        <p:grpSpPr>
          <a:xfrm>
            <a:off x="7736040" y="2628990"/>
            <a:ext cx="683641" cy="448469"/>
            <a:chOff x="7736040" y="3505320"/>
            <a:chExt cx="683641" cy="597958"/>
          </a:xfrm>
        </p:grpSpPr>
        <p:sp>
          <p:nvSpPr>
            <p:cNvPr id="1129" name="Google Shape;1129;g340c3beda34_1_523"/>
            <p:cNvSpPr/>
            <p:nvPr/>
          </p:nvSpPr>
          <p:spPr>
            <a:xfrm>
              <a:off x="77360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g340c3beda34_1_523"/>
            <p:cNvSpPr/>
            <p:nvPr/>
          </p:nvSpPr>
          <p:spPr>
            <a:xfrm>
              <a:off x="78746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1" name="Google Shape;1131;g340c3beda34_1_523"/>
          <p:cNvSpPr/>
          <p:nvPr/>
        </p:nvSpPr>
        <p:spPr>
          <a:xfrm>
            <a:off x="319450" y="3280825"/>
            <a:ext cx="8057880" cy="14859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n; j &gt;= 1; j--)	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B[C[A[j]]] = A[j];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C[A[j]] --;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2" name="Google Shape;1132;g340c3beda34_1_523"/>
          <p:cNvSpPr/>
          <p:nvPr/>
        </p:nvSpPr>
        <p:spPr>
          <a:xfrm flipH="1">
            <a:off x="2605662" y="2032290"/>
            <a:ext cx="1371978" cy="59697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28425">
            <a:solidFill>
              <a:srgbClr val="000000"/>
            </a:solidFill>
            <a:prstDash val="solid"/>
            <a:miter lim="80"/>
            <a:headEnd len="sm" w="sm" type="none"/>
            <a:tailEnd len="lg" w="lg" type="triangle"/>
          </a:ln>
        </p:spPr>
      </p:sp>
      <p:sp>
        <p:nvSpPr>
          <p:cNvPr id="1133" name="Google Shape;1133;g340c3beda34_1_523"/>
          <p:cNvSpPr/>
          <p:nvPr/>
        </p:nvSpPr>
        <p:spPr>
          <a:xfrm>
            <a:off x="5047875" y="3399350"/>
            <a:ext cx="3897126" cy="801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C’ represents the state of C after C[A[j]]-- operation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40c3beda34_1_588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4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g340c3beda34_1_588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0" name="Google Shape;1140;g340c3beda34_1_588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1141" name="Google Shape;1141;g340c3beda34_1_588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g340c3beda34_1_588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3" name="Google Shape;1143;g340c3beda34_1_588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1144" name="Google Shape;1144;g340c3beda34_1_588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g340c3beda34_1_588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6" name="Google Shape;1146;g340c3beda34_1_588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1147" name="Google Shape;1147;g340c3beda34_1_588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g340c3beda34_1_588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9" name="Google Shape;1149;g340c3beda34_1_588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1150" name="Google Shape;1150;g340c3beda34_1_588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g340c3beda34_1_588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2" name="Google Shape;1152;g340c3beda34_1_588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1153" name="Google Shape;1153;g340c3beda34_1_588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g340c3beda34_1_588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5" name="Google Shape;1155;g340c3beda34_1_588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340c3beda34_1_588"/>
          <p:cNvSpPr/>
          <p:nvPr/>
        </p:nvSpPr>
        <p:spPr>
          <a:xfrm>
            <a:off x="8539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g340c3beda34_1_588"/>
          <p:cNvSpPr/>
          <p:nvPr/>
        </p:nvSpPr>
        <p:spPr>
          <a:xfrm>
            <a:off x="15397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8" name="Google Shape;1158;g340c3beda34_1_588"/>
          <p:cNvGrpSpPr/>
          <p:nvPr/>
        </p:nvGrpSpPr>
        <p:grpSpPr>
          <a:xfrm>
            <a:off x="2225520" y="2628990"/>
            <a:ext cx="684000" cy="448469"/>
            <a:chOff x="2225520" y="3505320"/>
            <a:chExt cx="684000" cy="597958"/>
          </a:xfrm>
        </p:grpSpPr>
        <p:sp>
          <p:nvSpPr>
            <p:cNvPr id="1159" name="Google Shape;1159;g340c3beda34_1_588"/>
            <p:cNvSpPr/>
            <p:nvPr/>
          </p:nvSpPr>
          <p:spPr>
            <a:xfrm>
              <a:off x="22255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g340c3beda34_1_588"/>
            <p:cNvSpPr/>
            <p:nvPr/>
          </p:nvSpPr>
          <p:spPr>
            <a:xfrm>
              <a:off x="23644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1" name="Google Shape;1161;g340c3beda34_1_588"/>
          <p:cNvSpPr/>
          <p:nvPr/>
        </p:nvSpPr>
        <p:spPr>
          <a:xfrm>
            <a:off x="29113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2" name="Google Shape;1162;g340c3beda34_1_588"/>
          <p:cNvGrpSpPr/>
          <p:nvPr/>
        </p:nvGrpSpPr>
        <p:grpSpPr>
          <a:xfrm>
            <a:off x="3597120" y="2628990"/>
            <a:ext cx="684000" cy="448469"/>
            <a:chOff x="3597120" y="3505320"/>
            <a:chExt cx="684000" cy="597958"/>
          </a:xfrm>
        </p:grpSpPr>
        <p:sp>
          <p:nvSpPr>
            <p:cNvPr id="1163" name="Google Shape;1163;g340c3beda34_1_588"/>
            <p:cNvSpPr/>
            <p:nvPr/>
          </p:nvSpPr>
          <p:spPr>
            <a:xfrm>
              <a:off x="35971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g340c3beda34_1_588"/>
            <p:cNvSpPr/>
            <p:nvPr/>
          </p:nvSpPr>
          <p:spPr>
            <a:xfrm>
              <a:off x="37360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5" name="Google Shape;1165;g340c3beda34_1_588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g340c3beda34_1_588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g340c3beda34_1_588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g340c3beda34_1_588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g340c3beda34_1_588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g340c3beda34_1_588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1" name="Google Shape;1171;g340c3beda34_1_588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1172" name="Google Shape;1172;g340c3beda34_1_588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g340c3beda34_1_588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4" name="Google Shape;1174;g340c3beda34_1_588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1175" name="Google Shape;1175;g340c3beda34_1_588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g340c3beda34_1_588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7" name="Google Shape;1177;g340c3beda34_1_588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1178" name="Google Shape;1178;g340c3beda34_1_588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g340c3beda34_1_588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0" name="Google Shape;1180;g340c3beda34_1_588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1181" name="Google Shape;1181;g340c3beda34_1_588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g340c3beda34_1_588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3" name="Google Shape;1183;g340c3beda34_1_588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g340c3beda34_1_588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g340c3beda34_1_588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g340c3beda34_1_588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g340c3beda34_1_588"/>
          <p:cNvSpPr/>
          <p:nvPr/>
        </p:nvSpPr>
        <p:spPr>
          <a:xfrm>
            <a:off x="4916520" y="2636010"/>
            <a:ext cx="70632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C'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8" name="Google Shape;1188;g340c3beda34_1_588"/>
          <p:cNvGrpSpPr/>
          <p:nvPr/>
        </p:nvGrpSpPr>
        <p:grpSpPr>
          <a:xfrm>
            <a:off x="5678640" y="2628990"/>
            <a:ext cx="683641" cy="448469"/>
            <a:chOff x="5678640" y="3505320"/>
            <a:chExt cx="683641" cy="597958"/>
          </a:xfrm>
        </p:grpSpPr>
        <p:sp>
          <p:nvSpPr>
            <p:cNvPr id="1189" name="Google Shape;1189;g340c3beda34_1_588"/>
            <p:cNvSpPr/>
            <p:nvPr/>
          </p:nvSpPr>
          <p:spPr>
            <a:xfrm>
              <a:off x="56786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g340c3beda34_1_588"/>
            <p:cNvSpPr/>
            <p:nvPr/>
          </p:nvSpPr>
          <p:spPr>
            <a:xfrm>
              <a:off x="58172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1" name="Google Shape;1191;g340c3beda34_1_588"/>
          <p:cNvGrpSpPr/>
          <p:nvPr/>
        </p:nvGrpSpPr>
        <p:grpSpPr>
          <a:xfrm>
            <a:off x="6364440" y="2628990"/>
            <a:ext cx="683641" cy="448469"/>
            <a:chOff x="6364440" y="3505320"/>
            <a:chExt cx="683641" cy="597958"/>
          </a:xfrm>
        </p:grpSpPr>
        <p:sp>
          <p:nvSpPr>
            <p:cNvPr id="1192" name="Google Shape;1192;g340c3beda34_1_588"/>
            <p:cNvSpPr/>
            <p:nvPr/>
          </p:nvSpPr>
          <p:spPr>
            <a:xfrm>
              <a:off x="63644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g340c3beda34_1_588"/>
            <p:cNvSpPr/>
            <p:nvPr/>
          </p:nvSpPr>
          <p:spPr>
            <a:xfrm>
              <a:off x="65030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4" name="Google Shape;1194;g340c3beda34_1_588"/>
          <p:cNvGrpSpPr/>
          <p:nvPr/>
        </p:nvGrpSpPr>
        <p:grpSpPr>
          <a:xfrm>
            <a:off x="7050240" y="2628990"/>
            <a:ext cx="683641" cy="448469"/>
            <a:chOff x="7050240" y="3505320"/>
            <a:chExt cx="683641" cy="597958"/>
          </a:xfrm>
        </p:grpSpPr>
        <p:sp>
          <p:nvSpPr>
            <p:cNvPr id="1195" name="Google Shape;1195;g340c3beda34_1_588"/>
            <p:cNvSpPr/>
            <p:nvPr/>
          </p:nvSpPr>
          <p:spPr>
            <a:xfrm>
              <a:off x="70502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g340c3beda34_1_588"/>
            <p:cNvSpPr/>
            <p:nvPr/>
          </p:nvSpPr>
          <p:spPr>
            <a:xfrm>
              <a:off x="71888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7" name="Google Shape;1197;g340c3beda34_1_588"/>
          <p:cNvGrpSpPr/>
          <p:nvPr/>
        </p:nvGrpSpPr>
        <p:grpSpPr>
          <a:xfrm>
            <a:off x="7736040" y="2628990"/>
            <a:ext cx="683641" cy="448469"/>
            <a:chOff x="7736040" y="3505320"/>
            <a:chExt cx="683641" cy="597958"/>
          </a:xfrm>
        </p:grpSpPr>
        <p:sp>
          <p:nvSpPr>
            <p:cNvPr id="1198" name="Google Shape;1198;g340c3beda34_1_588"/>
            <p:cNvSpPr/>
            <p:nvPr/>
          </p:nvSpPr>
          <p:spPr>
            <a:xfrm>
              <a:off x="77360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g340c3beda34_1_588"/>
            <p:cNvSpPr/>
            <p:nvPr/>
          </p:nvSpPr>
          <p:spPr>
            <a:xfrm>
              <a:off x="78746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0" name="Google Shape;1200;g340c3beda34_1_588"/>
          <p:cNvSpPr/>
          <p:nvPr/>
        </p:nvSpPr>
        <p:spPr>
          <a:xfrm>
            <a:off x="3292200" y="2032290"/>
            <a:ext cx="686178" cy="59697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28425">
            <a:solidFill>
              <a:srgbClr val="000000"/>
            </a:solidFill>
            <a:prstDash val="solid"/>
            <a:miter lim="80"/>
            <a:headEnd len="sm" w="sm" type="none"/>
            <a:tailEnd len="lg" w="lg" type="triangle"/>
          </a:ln>
        </p:spPr>
      </p:sp>
      <p:sp>
        <p:nvSpPr>
          <p:cNvPr id="1201" name="Google Shape;1201;g340c3beda34_1_588"/>
          <p:cNvSpPr/>
          <p:nvPr/>
        </p:nvSpPr>
        <p:spPr>
          <a:xfrm>
            <a:off x="319450" y="3280825"/>
            <a:ext cx="8057880" cy="14859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n; j &gt;= 1; j--)	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B[C[A[j]]] = A[j];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C[A[j]] --;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2" name="Google Shape;1202;g340c3beda34_1_588"/>
          <p:cNvSpPr/>
          <p:nvPr/>
        </p:nvSpPr>
        <p:spPr>
          <a:xfrm>
            <a:off x="5047875" y="3399350"/>
            <a:ext cx="3897126" cy="801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C’ represents the state of C after C[A[j]]-- operation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40c3beda34_1_655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4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g340c3beda34_1_655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9" name="Google Shape;1209;g340c3beda34_1_655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1210" name="Google Shape;1210;g340c3beda34_1_655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g340c3beda34_1_655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2" name="Google Shape;1212;g340c3beda34_1_655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1213" name="Google Shape;1213;g340c3beda34_1_655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g340c3beda34_1_655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5" name="Google Shape;1215;g340c3beda34_1_655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1216" name="Google Shape;1216;g340c3beda34_1_655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g340c3beda34_1_655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8" name="Google Shape;1218;g340c3beda34_1_655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1219" name="Google Shape;1219;g340c3beda34_1_655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g340c3beda34_1_655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1" name="Google Shape;1221;g340c3beda34_1_655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1222" name="Google Shape;1222;g340c3beda34_1_655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g340c3beda34_1_655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4" name="Google Shape;1224;g340c3beda34_1_655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g340c3beda34_1_655"/>
          <p:cNvSpPr/>
          <p:nvPr/>
        </p:nvSpPr>
        <p:spPr>
          <a:xfrm>
            <a:off x="8539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6" name="Google Shape;1226;g340c3beda34_1_655"/>
          <p:cNvGrpSpPr/>
          <p:nvPr/>
        </p:nvGrpSpPr>
        <p:grpSpPr>
          <a:xfrm>
            <a:off x="1539720" y="2628990"/>
            <a:ext cx="684000" cy="448469"/>
            <a:chOff x="1539720" y="3505320"/>
            <a:chExt cx="684000" cy="597958"/>
          </a:xfrm>
        </p:grpSpPr>
        <p:sp>
          <p:nvSpPr>
            <p:cNvPr id="1227" name="Google Shape;1227;g340c3beda34_1_655"/>
            <p:cNvSpPr/>
            <p:nvPr/>
          </p:nvSpPr>
          <p:spPr>
            <a:xfrm>
              <a:off x="15397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g340c3beda34_1_655"/>
            <p:cNvSpPr/>
            <p:nvPr/>
          </p:nvSpPr>
          <p:spPr>
            <a:xfrm>
              <a:off x="16786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9" name="Google Shape;1229;g340c3beda34_1_655"/>
          <p:cNvGrpSpPr/>
          <p:nvPr/>
        </p:nvGrpSpPr>
        <p:grpSpPr>
          <a:xfrm>
            <a:off x="2225520" y="2628990"/>
            <a:ext cx="684000" cy="448469"/>
            <a:chOff x="2225520" y="3505320"/>
            <a:chExt cx="684000" cy="597958"/>
          </a:xfrm>
        </p:grpSpPr>
        <p:sp>
          <p:nvSpPr>
            <p:cNvPr id="1230" name="Google Shape;1230;g340c3beda34_1_655"/>
            <p:cNvSpPr/>
            <p:nvPr/>
          </p:nvSpPr>
          <p:spPr>
            <a:xfrm>
              <a:off x="22255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g340c3beda34_1_655"/>
            <p:cNvSpPr/>
            <p:nvPr/>
          </p:nvSpPr>
          <p:spPr>
            <a:xfrm>
              <a:off x="23644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2" name="Google Shape;1232;g340c3beda34_1_655"/>
          <p:cNvSpPr/>
          <p:nvPr/>
        </p:nvSpPr>
        <p:spPr>
          <a:xfrm>
            <a:off x="29113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3" name="Google Shape;1233;g340c3beda34_1_655"/>
          <p:cNvGrpSpPr/>
          <p:nvPr/>
        </p:nvGrpSpPr>
        <p:grpSpPr>
          <a:xfrm>
            <a:off x="3597120" y="2628990"/>
            <a:ext cx="684000" cy="448469"/>
            <a:chOff x="3597120" y="3505320"/>
            <a:chExt cx="684000" cy="597958"/>
          </a:xfrm>
        </p:grpSpPr>
        <p:sp>
          <p:nvSpPr>
            <p:cNvPr id="1234" name="Google Shape;1234;g340c3beda34_1_655"/>
            <p:cNvSpPr/>
            <p:nvPr/>
          </p:nvSpPr>
          <p:spPr>
            <a:xfrm>
              <a:off x="35971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g340c3beda34_1_655"/>
            <p:cNvSpPr/>
            <p:nvPr/>
          </p:nvSpPr>
          <p:spPr>
            <a:xfrm>
              <a:off x="37360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6" name="Google Shape;1236;g340c3beda34_1_655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g340c3beda34_1_655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g340c3beda34_1_655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g340c3beda34_1_655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g340c3beda34_1_655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g340c3beda34_1_655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2" name="Google Shape;1242;g340c3beda34_1_655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1243" name="Google Shape;1243;g340c3beda34_1_655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g340c3beda34_1_655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5" name="Google Shape;1245;g340c3beda34_1_655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1246" name="Google Shape;1246;g340c3beda34_1_655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g340c3beda34_1_655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8" name="Google Shape;1248;g340c3beda34_1_655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1249" name="Google Shape;1249;g340c3beda34_1_655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g340c3beda34_1_655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1" name="Google Shape;1251;g340c3beda34_1_655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1252" name="Google Shape;1252;g340c3beda34_1_655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g340c3beda34_1_655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4" name="Google Shape;1254;g340c3beda34_1_655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g340c3beda34_1_655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g340c3beda34_1_655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g340c3beda34_1_655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g340c3beda34_1_655"/>
          <p:cNvSpPr/>
          <p:nvPr/>
        </p:nvSpPr>
        <p:spPr>
          <a:xfrm>
            <a:off x="4916520" y="2636010"/>
            <a:ext cx="70632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C'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9" name="Google Shape;1259;g340c3beda34_1_655"/>
          <p:cNvGrpSpPr/>
          <p:nvPr/>
        </p:nvGrpSpPr>
        <p:grpSpPr>
          <a:xfrm>
            <a:off x="5678640" y="2628990"/>
            <a:ext cx="683641" cy="448469"/>
            <a:chOff x="5678640" y="3505320"/>
            <a:chExt cx="683641" cy="597958"/>
          </a:xfrm>
        </p:grpSpPr>
        <p:sp>
          <p:nvSpPr>
            <p:cNvPr id="1260" name="Google Shape;1260;g340c3beda34_1_655"/>
            <p:cNvSpPr/>
            <p:nvPr/>
          </p:nvSpPr>
          <p:spPr>
            <a:xfrm>
              <a:off x="56786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g340c3beda34_1_655"/>
            <p:cNvSpPr/>
            <p:nvPr/>
          </p:nvSpPr>
          <p:spPr>
            <a:xfrm>
              <a:off x="58172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2" name="Google Shape;1262;g340c3beda34_1_655"/>
          <p:cNvGrpSpPr/>
          <p:nvPr/>
        </p:nvGrpSpPr>
        <p:grpSpPr>
          <a:xfrm>
            <a:off x="6364440" y="2628990"/>
            <a:ext cx="683641" cy="448469"/>
            <a:chOff x="6364440" y="3505320"/>
            <a:chExt cx="683641" cy="597958"/>
          </a:xfrm>
        </p:grpSpPr>
        <p:sp>
          <p:nvSpPr>
            <p:cNvPr id="1263" name="Google Shape;1263;g340c3beda34_1_655"/>
            <p:cNvSpPr/>
            <p:nvPr/>
          </p:nvSpPr>
          <p:spPr>
            <a:xfrm>
              <a:off x="63644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g340c3beda34_1_655"/>
            <p:cNvSpPr/>
            <p:nvPr/>
          </p:nvSpPr>
          <p:spPr>
            <a:xfrm>
              <a:off x="65030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5" name="Google Shape;1265;g340c3beda34_1_655"/>
          <p:cNvGrpSpPr/>
          <p:nvPr/>
        </p:nvGrpSpPr>
        <p:grpSpPr>
          <a:xfrm>
            <a:off x="7050240" y="2628990"/>
            <a:ext cx="683641" cy="448469"/>
            <a:chOff x="7050240" y="3505320"/>
            <a:chExt cx="683641" cy="597958"/>
          </a:xfrm>
        </p:grpSpPr>
        <p:sp>
          <p:nvSpPr>
            <p:cNvPr id="1266" name="Google Shape;1266;g340c3beda34_1_655"/>
            <p:cNvSpPr/>
            <p:nvPr/>
          </p:nvSpPr>
          <p:spPr>
            <a:xfrm>
              <a:off x="70502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g340c3beda34_1_655"/>
            <p:cNvSpPr/>
            <p:nvPr/>
          </p:nvSpPr>
          <p:spPr>
            <a:xfrm>
              <a:off x="71888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8" name="Google Shape;1268;g340c3beda34_1_655"/>
          <p:cNvGrpSpPr/>
          <p:nvPr/>
        </p:nvGrpSpPr>
        <p:grpSpPr>
          <a:xfrm>
            <a:off x="7736040" y="2628990"/>
            <a:ext cx="683641" cy="448469"/>
            <a:chOff x="7736040" y="3505320"/>
            <a:chExt cx="683641" cy="597958"/>
          </a:xfrm>
        </p:grpSpPr>
        <p:sp>
          <p:nvSpPr>
            <p:cNvPr id="1269" name="Google Shape;1269;g340c3beda34_1_655"/>
            <p:cNvSpPr/>
            <p:nvPr/>
          </p:nvSpPr>
          <p:spPr>
            <a:xfrm>
              <a:off x="77360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g340c3beda34_1_655"/>
            <p:cNvSpPr/>
            <p:nvPr/>
          </p:nvSpPr>
          <p:spPr>
            <a:xfrm>
              <a:off x="78746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1" name="Google Shape;1271;g340c3beda34_1_655"/>
          <p:cNvSpPr/>
          <p:nvPr/>
        </p:nvSpPr>
        <p:spPr>
          <a:xfrm flipH="1">
            <a:off x="1920222" y="2032290"/>
            <a:ext cx="686178" cy="59697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28425">
            <a:solidFill>
              <a:srgbClr val="000000"/>
            </a:solidFill>
            <a:prstDash val="solid"/>
            <a:miter lim="80"/>
            <a:headEnd len="sm" w="sm" type="none"/>
            <a:tailEnd len="lg" w="lg" type="triangle"/>
          </a:ln>
        </p:spPr>
      </p:sp>
      <p:sp>
        <p:nvSpPr>
          <p:cNvPr id="1272" name="Google Shape;1272;g340c3beda34_1_655"/>
          <p:cNvSpPr/>
          <p:nvPr/>
        </p:nvSpPr>
        <p:spPr>
          <a:xfrm>
            <a:off x="319450" y="3280825"/>
            <a:ext cx="8057880" cy="14859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n; j &gt;= 1; j--)	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B[C[A[j]]] = A[j];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C[A[j]] --;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3" name="Google Shape;1273;g340c3beda34_1_655"/>
          <p:cNvSpPr/>
          <p:nvPr/>
        </p:nvSpPr>
        <p:spPr>
          <a:xfrm>
            <a:off x="5047875" y="3399350"/>
            <a:ext cx="3897126" cy="801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C’ represents the state of C after C[A[j]]-- operation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40c3beda34_1_724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4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g340c3beda34_1_724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0" name="Google Shape;1280;g340c3beda34_1_724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1281" name="Google Shape;1281;g340c3beda34_1_724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g340c3beda34_1_724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3" name="Google Shape;1283;g340c3beda34_1_724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1284" name="Google Shape;1284;g340c3beda34_1_724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g340c3beda34_1_724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6" name="Google Shape;1286;g340c3beda34_1_724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1287" name="Google Shape;1287;g340c3beda34_1_724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g340c3beda34_1_724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9" name="Google Shape;1289;g340c3beda34_1_724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1290" name="Google Shape;1290;g340c3beda34_1_724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g340c3beda34_1_724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2" name="Google Shape;1292;g340c3beda34_1_724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1293" name="Google Shape;1293;g340c3beda34_1_724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g340c3beda34_1_724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g340c3beda34_1_724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6" name="Google Shape;1296;g340c3beda34_1_724"/>
          <p:cNvGrpSpPr/>
          <p:nvPr/>
        </p:nvGrpSpPr>
        <p:grpSpPr>
          <a:xfrm>
            <a:off x="853920" y="2628990"/>
            <a:ext cx="684000" cy="448469"/>
            <a:chOff x="853920" y="3505320"/>
            <a:chExt cx="684000" cy="597958"/>
          </a:xfrm>
        </p:grpSpPr>
        <p:sp>
          <p:nvSpPr>
            <p:cNvPr id="1297" name="Google Shape;1297;g340c3beda34_1_724"/>
            <p:cNvSpPr/>
            <p:nvPr/>
          </p:nvSpPr>
          <p:spPr>
            <a:xfrm>
              <a:off x="8539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g340c3beda34_1_724"/>
            <p:cNvSpPr/>
            <p:nvPr/>
          </p:nvSpPr>
          <p:spPr>
            <a:xfrm>
              <a:off x="9928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9" name="Google Shape;1299;g340c3beda34_1_724"/>
          <p:cNvGrpSpPr/>
          <p:nvPr/>
        </p:nvGrpSpPr>
        <p:grpSpPr>
          <a:xfrm>
            <a:off x="1539720" y="2628990"/>
            <a:ext cx="684000" cy="448469"/>
            <a:chOff x="1539720" y="3505320"/>
            <a:chExt cx="684000" cy="597958"/>
          </a:xfrm>
        </p:grpSpPr>
        <p:sp>
          <p:nvSpPr>
            <p:cNvPr id="1300" name="Google Shape;1300;g340c3beda34_1_724"/>
            <p:cNvSpPr/>
            <p:nvPr/>
          </p:nvSpPr>
          <p:spPr>
            <a:xfrm>
              <a:off x="15397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g340c3beda34_1_724"/>
            <p:cNvSpPr/>
            <p:nvPr/>
          </p:nvSpPr>
          <p:spPr>
            <a:xfrm>
              <a:off x="16786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2" name="Google Shape;1302;g340c3beda34_1_724"/>
          <p:cNvGrpSpPr/>
          <p:nvPr/>
        </p:nvGrpSpPr>
        <p:grpSpPr>
          <a:xfrm>
            <a:off x="2225520" y="2628990"/>
            <a:ext cx="684000" cy="448469"/>
            <a:chOff x="2225520" y="3505320"/>
            <a:chExt cx="684000" cy="597958"/>
          </a:xfrm>
        </p:grpSpPr>
        <p:sp>
          <p:nvSpPr>
            <p:cNvPr id="1303" name="Google Shape;1303;g340c3beda34_1_724"/>
            <p:cNvSpPr/>
            <p:nvPr/>
          </p:nvSpPr>
          <p:spPr>
            <a:xfrm>
              <a:off x="22255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g340c3beda34_1_724"/>
            <p:cNvSpPr/>
            <p:nvPr/>
          </p:nvSpPr>
          <p:spPr>
            <a:xfrm>
              <a:off x="23644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5" name="Google Shape;1305;g340c3beda34_1_724"/>
          <p:cNvSpPr/>
          <p:nvPr/>
        </p:nvSpPr>
        <p:spPr>
          <a:xfrm>
            <a:off x="2911320" y="2628990"/>
            <a:ext cx="685438" cy="449821"/>
          </a:xfrm>
          <a:custGeom>
            <a:rect b="b" l="l" r="r" t="t"/>
            <a:pathLst>
              <a:path extrusionOk="0" h="1669" w="1907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1663"/>
                </a:lnTo>
                <a:lnTo>
                  <a:pt x="0" y="1664"/>
                </a:lnTo>
                <a:cubicBezTo>
                  <a:pt x="0" y="1664"/>
                  <a:pt x="0" y="1665"/>
                  <a:pt x="1" y="1666"/>
                </a:cubicBezTo>
                <a:lnTo>
                  <a:pt x="2" y="1667"/>
                </a:lnTo>
                <a:cubicBezTo>
                  <a:pt x="3" y="1668"/>
                  <a:pt x="4" y="1668"/>
                  <a:pt x="4" y="1668"/>
                </a:cubicBezTo>
                <a:lnTo>
                  <a:pt x="1901" y="1668"/>
                </a:lnTo>
                <a:lnTo>
                  <a:pt x="1902" y="1668"/>
                </a:lnTo>
                <a:cubicBezTo>
                  <a:pt x="1902" y="1668"/>
                  <a:pt x="1903" y="1668"/>
                  <a:pt x="1904" y="1667"/>
                </a:cubicBezTo>
                <a:lnTo>
                  <a:pt x="1905" y="1666"/>
                </a:lnTo>
                <a:cubicBezTo>
                  <a:pt x="1906" y="1665"/>
                  <a:pt x="1906" y="1664"/>
                  <a:pt x="1906" y="1664"/>
                </a:cubicBezTo>
                <a:lnTo>
                  <a:pt x="1906" y="4"/>
                </a:lnTo>
                <a:lnTo>
                  <a:pt x="1906" y="4"/>
                </a:lnTo>
                <a:lnTo>
                  <a:pt x="1906" y="4"/>
                </a:lnTo>
                <a:cubicBezTo>
                  <a:pt x="1906" y="4"/>
                  <a:pt x="1906" y="3"/>
                  <a:pt x="1905" y="2"/>
                </a:cubicBezTo>
                <a:lnTo>
                  <a:pt x="1904" y="1"/>
                </a:lnTo>
                <a:cubicBezTo>
                  <a:pt x="1903" y="0"/>
                  <a:pt x="1902" y="0"/>
                  <a:pt x="1902" y="0"/>
                </a:cubicBezTo>
                <a:lnTo>
                  <a:pt x="4" y="0"/>
                </a:lnTo>
              </a:path>
            </a:pathLst>
          </a:custGeom>
          <a:solidFill>
            <a:srgbClr val="FFCCCC"/>
          </a:solidFill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  <a:effectLst>
            <a:outerShdw dir="2700000" dist="107932">
              <a:srgbClr val="80808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6" name="Google Shape;1306;g340c3beda34_1_724"/>
          <p:cNvGrpSpPr/>
          <p:nvPr/>
        </p:nvGrpSpPr>
        <p:grpSpPr>
          <a:xfrm>
            <a:off x="3597120" y="2628990"/>
            <a:ext cx="684000" cy="448469"/>
            <a:chOff x="3597120" y="3505320"/>
            <a:chExt cx="684000" cy="597958"/>
          </a:xfrm>
        </p:grpSpPr>
        <p:sp>
          <p:nvSpPr>
            <p:cNvPr id="1307" name="Google Shape;1307;g340c3beda34_1_724"/>
            <p:cNvSpPr/>
            <p:nvPr/>
          </p:nvSpPr>
          <p:spPr>
            <a:xfrm>
              <a:off x="35971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g340c3beda34_1_724"/>
            <p:cNvSpPr/>
            <p:nvPr/>
          </p:nvSpPr>
          <p:spPr>
            <a:xfrm>
              <a:off x="37360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9" name="Google Shape;1309;g340c3beda34_1_724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g340c3beda34_1_724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g340c3beda34_1_724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g340c3beda34_1_724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g340c3beda34_1_724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g340c3beda34_1_724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5" name="Google Shape;1315;g340c3beda34_1_724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1316" name="Google Shape;1316;g340c3beda34_1_724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g340c3beda34_1_724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8" name="Google Shape;1318;g340c3beda34_1_724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1319" name="Google Shape;1319;g340c3beda34_1_724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g340c3beda34_1_724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1" name="Google Shape;1321;g340c3beda34_1_724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1322" name="Google Shape;1322;g340c3beda34_1_724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g340c3beda34_1_724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4" name="Google Shape;1324;g340c3beda34_1_724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1325" name="Google Shape;1325;g340c3beda34_1_724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g340c3beda34_1_724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7" name="Google Shape;1327;g340c3beda34_1_724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g340c3beda34_1_724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g340c3beda34_1_724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g340c3beda34_1_724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g340c3beda34_1_724"/>
          <p:cNvSpPr/>
          <p:nvPr/>
        </p:nvSpPr>
        <p:spPr>
          <a:xfrm>
            <a:off x="4916520" y="2636010"/>
            <a:ext cx="70632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C'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2" name="Google Shape;1332;g340c3beda34_1_724"/>
          <p:cNvGrpSpPr/>
          <p:nvPr/>
        </p:nvGrpSpPr>
        <p:grpSpPr>
          <a:xfrm>
            <a:off x="5678640" y="2628990"/>
            <a:ext cx="683641" cy="448469"/>
            <a:chOff x="5678640" y="3505320"/>
            <a:chExt cx="683641" cy="597958"/>
          </a:xfrm>
        </p:grpSpPr>
        <p:sp>
          <p:nvSpPr>
            <p:cNvPr id="1333" name="Google Shape;1333;g340c3beda34_1_724"/>
            <p:cNvSpPr/>
            <p:nvPr/>
          </p:nvSpPr>
          <p:spPr>
            <a:xfrm>
              <a:off x="56786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g340c3beda34_1_724"/>
            <p:cNvSpPr/>
            <p:nvPr/>
          </p:nvSpPr>
          <p:spPr>
            <a:xfrm>
              <a:off x="58172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5" name="Google Shape;1335;g340c3beda34_1_724"/>
          <p:cNvGrpSpPr/>
          <p:nvPr/>
        </p:nvGrpSpPr>
        <p:grpSpPr>
          <a:xfrm>
            <a:off x="6364440" y="2628990"/>
            <a:ext cx="683641" cy="448469"/>
            <a:chOff x="6364440" y="3505320"/>
            <a:chExt cx="683641" cy="597958"/>
          </a:xfrm>
        </p:grpSpPr>
        <p:sp>
          <p:nvSpPr>
            <p:cNvPr id="1336" name="Google Shape;1336;g340c3beda34_1_724"/>
            <p:cNvSpPr/>
            <p:nvPr/>
          </p:nvSpPr>
          <p:spPr>
            <a:xfrm>
              <a:off x="63644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g340c3beda34_1_724"/>
            <p:cNvSpPr/>
            <p:nvPr/>
          </p:nvSpPr>
          <p:spPr>
            <a:xfrm>
              <a:off x="65030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8" name="Google Shape;1338;g340c3beda34_1_724"/>
          <p:cNvGrpSpPr/>
          <p:nvPr/>
        </p:nvGrpSpPr>
        <p:grpSpPr>
          <a:xfrm>
            <a:off x="7050240" y="2628990"/>
            <a:ext cx="683641" cy="448469"/>
            <a:chOff x="7050240" y="3505320"/>
            <a:chExt cx="683641" cy="597958"/>
          </a:xfrm>
        </p:grpSpPr>
        <p:sp>
          <p:nvSpPr>
            <p:cNvPr id="1339" name="Google Shape;1339;g340c3beda34_1_724"/>
            <p:cNvSpPr/>
            <p:nvPr/>
          </p:nvSpPr>
          <p:spPr>
            <a:xfrm>
              <a:off x="70502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g340c3beda34_1_724"/>
            <p:cNvSpPr/>
            <p:nvPr/>
          </p:nvSpPr>
          <p:spPr>
            <a:xfrm>
              <a:off x="71888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1" name="Google Shape;1341;g340c3beda34_1_724"/>
          <p:cNvGrpSpPr/>
          <p:nvPr/>
        </p:nvGrpSpPr>
        <p:grpSpPr>
          <a:xfrm>
            <a:off x="7736040" y="2628990"/>
            <a:ext cx="683641" cy="448469"/>
            <a:chOff x="7736040" y="3505320"/>
            <a:chExt cx="683641" cy="597958"/>
          </a:xfrm>
        </p:grpSpPr>
        <p:sp>
          <p:nvSpPr>
            <p:cNvPr id="1342" name="Google Shape;1342;g340c3beda34_1_724"/>
            <p:cNvSpPr/>
            <p:nvPr/>
          </p:nvSpPr>
          <p:spPr>
            <a:xfrm>
              <a:off x="77360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g340c3beda34_1_724"/>
            <p:cNvSpPr/>
            <p:nvPr/>
          </p:nvSpPr>
          <p:spPr>
            <a:xfrm>
              <a:off x="78746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4" name="Google Shape;1344;g340c3beda34_1_724"/>
          <p:cNvSpPr/>
          <p:nvPr/>
        </p:nvSpPr>
        <p:spPr>
          <a:xfrm flipH="1">
            <a:off x="1234422" y="2032290"/>
            <a:ext cx="686178" cy="59697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28425">
            <a:solidFill>
              <a:srgbClr val="000000"/>
            </a:solidFill>
            <a:prstDash val="solid"/>
            <a:miter lim="80"/>
            <a:headEnd len="sm" w="sm" type="none"/>
            <a:tailEnd len="lg" w="lg" type="triangle"/>
          </a:ln>
        </p:spPr>
      </p:sp>
      <p:sp>
        <p:nvSpPr>
          <p:cNvPr id="1345" name="Google Shape;1345;g340c3beda34_1_724"/>
          <p:cNvSpPr/>
          <p:nvPr/>
        </p:nvSpPr>
        <p:spPr>
          <a:xfrm>
            <a:off x="319450" y="3280825"/>
            <a:ext cx="8057880" cy="14859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n; j &gt;= 1; j--)	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B[C[A[j]]] = A[j];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C[A[j]] --;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46" name="Google Shape;1346;g340c3beda34_1_724"/>
          <p:cNvSpPr/>
          <p:nvPr/>
        </p:nvSpPr>
        <p:spPr>
          <a:xfrm>
            <a:off x="5047875" y="3399350"/>
            <a:ext cx="3897126" cy="801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C’ represents the state of C after C[A[j]]-- operation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40c3beda34_1_795"/>
          <p:cNvSpPr/>
          <p:nvPr/>
        </p:nvSpPr>
        <p:spPr>
          <a:xfrm>
            <a:off x="1447560" y="228420"/>
            <a:ext cx="75435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4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g340c3beda34_1_795"/>
          <p:cNvSpPr/>
          <p:nvPr/>
        </p:nvSpPr>
        <p:spPr>
          <a:xfrm>
            <a:off x="177480" y="158949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3" name="Google Shape;1353;g340c3beda34_1_795"/>
          <p:cNvGrpSpPr/>
          <p:nvPr/>
        </p:nvGrpSpPr>
        <p:grpSpPr>
          <a:xfrm>
            <a:off x="853920" y="1582470"/>
            <a:ext cx="684000" cy="448469"/>
            <a:chOff x="853920" y="2109960"/>
            <a:chExt cx="684000" cy="597958"/>
          </a:xfrm>
        </p:grpSpPr>
        <p:sp>
          <p:nvSpPr>
            <p:cNvPr id="1354" name="Google Shape;1354;g340c3beda34_1_795"/>
            <p:cNvSpPr/>
            <p:nvPr/>
          </p:nvSpPr>
          <p:spPr>
            <a:xfrm>
              <a:off x="8539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g340c3beda34_1_795"/>
            <p:cNvSpPr/>
            <p:nvPr/>
          </p:nvSpPr>
          <p:spPr>
            <a:xfrm>
              <a:off x="9928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6" name="Google Shape;1356;g340c3beda34_1_795"/>
          <p:cNvGrpSpPr/>
          <p:nvPr/>
        </p:nvGrpSpPr>
        <p:grpSpPr>
          <a:xfrm>
            <a:off x="1539720" y="1582470"/>
            <a:ext cx="684000" cy="448469"/>
            <a:chOff x="1539720" y="2109960"/>
            <a:chExt cx="684000" cy="597958"/>
          </a:xfrm>
        </p:grpSpPr>
        <p:sp>
          <p:nvSpPr>
            <p:cNvPr id="1357" name="Google Shape;1357;g340c3beda34_1_795"/>
            <p:cNvSpPr/>
            <p:nvPr/>
          </p:nvSpPr>
          <p:spPr>
            <a:xfrm>
              <a:off x="15397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g340c3beda34_1_795"/>
            <p:cNvSpPr/>
            <p:nvPr/>
          </p:nvSpPr>
          <p:spPr>
            <a:xfrm>
              <a:off x="16786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9" name="Google Shape;1359;g340c3beda34_1_795"/>
          <p:cNvGrpSpPr/>
          <p:nvPr/>
        </p:nvGrpSpPr>
        <p:grpSpPr>
          <a:xfrm>
            <a:off x="2225520" y="1582470"/>
            <a:ext cx="684000" cy="448469"/>
            <a:chOff x="2225520" y="2109960"/>
            <a:chExt cx="684000" cy="597958"/>
          </a:xfrm>
        </p:grpSpPr>
        <p:sp>
          <p:nvSpPr>
            <p:cNvPr id="1360" name="Google Shape;1360;g340c3beda34_1_795"/>
            <p:cNvSpPr/>
            <p:nvPr/>
          </p:nvSpPr>
          <p:spPr>
            <a:xfrm>
              <a:off x="22255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g340c3beda34_1_795"/>
            <p:cNvSpPr/>
            <p:nvPr/>
          </p:nvSpPr>
          <p:spPr>
            <a:xfrm>
              <a:off x="23644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2" name="Google Shape;1362;g340c3beda34_1_795"/>
          <p:cNvGrpSpPr/>
          <p:nvPr/>
        </p:nvGrpSpPr>
        <p:grpSpPr>
          <a:xfrm>
            <a:off x="2911320" y="1582470"/>
            <a:ext cx="684000" cy="448469"/>
            <a:chOff x="2911320" y="2109960"/>
            <a:chExt cx="684000" cy="597958"/>
          </a:xfrm>
        </p:grpSpPr>
        <p:sp>
          <p:nvSpPr>
            <p:cNvPr id="1363" name="Google Shape;1363;g340c3beda34_1_795"/>
            <p:cNvSpPr/>
            <p:nvPr/>
          </p:nvSpPr>
          <p:spPr>
            <a:xfrm>
              <a:off x="29113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g340c3beda34_1_795"/>
            <p:cNvSpPr/>
            <p:nvPr/>
          </p:nvSpPr>
          <p:spPr>
            <a:xfrm>
              <a:off x="30502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5" name="Google Shape;1365;g340c3beda34_1_795"/>
          <p:cNvGrpSpPr/>
          <p:nvPr/>
        </p:nvGrpSpPr>
        <p:grpSpPr>
          <a:xfrm>
            <a:off x="3597120" y="1582470"/>
            <a:ext cx="684000" cy="448469"/>
            <a:chOff x="3597120" y="2109960"/>
            <a:chExt cx="684000" cy="597958"/>
          </a:xfrm>
        </p:grpSpPr>
        <p:sp>
          <p:nvSpPr>
            <p:cNvPr id="1366" name="Google Shape;1366;g340c3beda34_1_795"/>
            <p:cNvSpPr/>
            <p:nvPr/>
          </p:nvSpPr>
          <p:spPr>
            <a:xfrm>
              <a:off x="3597120" y="210996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g340c3beda34_1_795"/>
            <p:cNvSpPr/>
            <p:nvPr/>
          </p:nvSpPr>
          <p:spPr>
            <a:xfrm>
              <a:off x="3736080" y="211824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8" name="Google Shape;1368;g340c3beda34_1_795"/>
          <p:cNvSpPr/>
          <p:nvPr/>
        </p:nvSpPr>
        <p:spPr>
          <a:xfrm>
            <a:off x="188640" y="26360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9" name="Google Shape;1369;g340c3beda34_1_795"/>
          <p:cNvGrpSpPr/>
          <p:nvPr/>
        </p:nvGrpSpPr>
        <p:grpSpPr>
          <a:xfrm>
            <a:off x="853920" y="2628990"/>
            <a:ext cx="684000" cy="448469"/>
            <a:chOff x="853920" y="3505320"/>
            <a:chExt cx="684000" cy="597958"/>
          </a:xfrm>
        </p:grpSpPr>
        <p:sp>
          <p:nvSpPr>
            <p:cNvPr id="1370" name="Google Shape;1370;g340c3beda34_1_795"/>
            <p:cNvSpPr/>
            <p:nvPr/>
          </p:nvSpPr>
          <p:spPr>
            <a:xfrm>
              <a:off x="8539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g340c3beda34_1_795"/>
            <p:cNvSpPr/>
            <p:nvPr/>
          </p:nvSpPr>
          <p:spPr>
            <a:xfrm>
              <a:off x="9928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2" name="Google Shape;1372;g340c3beda34_1_795"/>
          <p:cNvGrpSpPr/>
          <p:nvPr/>
        </p:nvGrpSpPr>
        <p:grpSpPr>
          <a:xfrm>
            <a:off x="1539720" y="2628990"/>
            <a:ext cx="684000" cy="448469"/>
            <a:chOff x="1539720" y="3505320"/>
            <a:chExt cx="684000" cy="597958"/>
          </a:xfrm>
        </p:grpSpPr>
        <p:sp>
          <p:nvSpPr>
            <p:cNvPr id="1373" name="Google Shape;1373;g340c3beda34_1_795"/>
            <p:cNvSpPr/>
            <p:nvPr/>
          </p:nvSpPr>
          <p:spPr>
            <a:xfrm>
              <a:off x="15397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g340c3beda34_1_795"/>
            <p:cNvSpPr/>
            <p:nvPr/>
          </p:nvSpPr>
          <p:spPr>
            <a:xfrm>
              <a:off x="16786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5" name="Google Shape;1375;g340c3beda34_1_795"/>
          <p:cNvGrpSpPr/>
          <p:nvPr/>
        </p:nvGrpSpPr>
        <p:grpSpPr>
          <a:xfrm>
            <a:off x="2225520" y="2628990"/>
            <a:ext cx="684000" cy="448469"/>
            <a:chOff x="2225520" y="3505320"/>
            <a:chExt cx="684000" cy="597958"/>
          </a:xfrm>
        </p:grpSpPr>
        <p:sp>
          <p:nvSpPr>
            <p:cNvPr id="1376" name="Google Shape;1376;g340c3beda34_1_795"/>
            <p:cNvSpPr/>
            <p:nvPr/>
          </p:nvSpPr>
          <p:spPr>
            <a:xfrm>
              <a:off x="22255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g340c3beda34_1_795"/>
            <p:cNvSpPr/>
            <p:nvPr/>
          </p:nvSpPr>
          <p:spPr>
            <a:xfrm>
              <a:off x="23644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8" name="Google Shape;1378;g340c3beda34_1_795"/>
          <p:cNvGrpSpPr/>
          <p:nvPr/>
        </p:nvGrpSpPr>
        <p:grpSpPr>
          <a:xfrm>
            <a:off x="2911320" y="2628990"/>
            <a:ext cx="684000" cy="448469"/>
            <a:chOff x="2911320" y="3505320"/>
            <a:chExt cx="684000" cy="597958"/>
          </a:xfrm>
        </p:grpSpPr>
        <p:sp>
          <p:nvSpPr>
            <p:cNvPr id="1379" name="Google Shape;1379;g340c3beda34_1_795"/>
            <p:cNvSpPr/>
            <p:nvPr/>
          </p:nvSpPr>
          <p:spPr>
            <a:xfrm>
              <a:off x="29113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g340c3beda34_1_795"/>
            <p:cNvSpPr/>
            <p:nvPr/>
          </p:nvSpPr>
          <p:spPr>
            <a:xfrm>
              <a:off x="30502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1" name="Google Shape;1381;g340c3beda34_1_795"/>
          <p:cNvGrpSpPr/>
          <p:nvPr/>
        </p:nvGrpSpPr>
        <p:grpSpPr>
          <a:xfrm>
            <a:off x="3597120" y="2628990"/>
            <a:ext cx="684000" cy="448469"/>
            <a:chOff x="3597120" y="3505320"/>
            <a:chExt cx="684000" cy="597958"/>
          </a:xfrm>
        </p:grpSpPr>
        <p:sp>
          <p:nvSpPr>
            <p:cNvPr id="1382" name="Google Shape;1382;g340c3beda34_1_795"/>
            <p:cNvSpPr/>
            <p:nvPr/>
          </p:nvSpPr>
          <p:spPr>
            <a:xfrm>
              <a:off x="3597120" y="3505320"/>
              <a:ext cx="684000" cy="597958"/>
            </a:xfrm>
            <a:custGeom>
              <a:rect b="b" l="l" r="r" t="t"/>
              <a:pathLst>
                <a:path extrusionOk="0" h="1664" w="1903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7" y="1662"/>
                  </a:lnTo>
                  <a:lnTo>
                    <a:pt x="1898" y="1663"/>
                  </a:lnTo>
                  <a:cubicBezTo>
                    <a:pt x="1898" y="1663"/>
                    <a:pt x="1899" y="1663"/>
                    <a:pt x="1900" y="1662"/>
                  </a:cubicBezTo>
                  <a:lnTo>
                    <a:pt x="1901" y="1661"/>
                  </a:lnTo>
                  <a:cubicBezTo>
                    <a:pt x="1902" y="1660"/>
                    <a:pt x="1902" y="1659"/>
                    <a:pt x="1902" y="1659"/>
                  </a:cubicBezTo>
                  <a:lnTo>
                    <a:pt x="1901" y="4"/>
                  </a:lnTo>
                  <a:lnTo>
                    <a:pt x="1902" y="4"/>
                  </a:lnTo>
                  <a:lnTo>
                    <a:pt x="1902" y="4"/>
                  </a:lnTo>
                  <a:cubicBezTo>
                    <a:pt x="1902" y="4"/>
                    <a:pt x="1902" y="3"/>
                    <a:pt x="1901" y="2"/>
                  </a:cubicBezTo>
                  <a:lnTo>
                    <a:pt x="1900" y="1"/>
                  </a:lnTo>
                  <a:cubicBezTo>
                    <a:pt x="1899" y="0"/>
                    <a:pt x="1898" y="0"/>
                    <a:pt x="1898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g340c3beda34_1_795"/>
            <p:cNvSpPr/>
            <p:nvPr/>
          </p:nvSpPr>
          <p:spPr>
            <a:xfrm>
              <a:off x="373608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4" name="Google Shape;1384;g340c3beda34_1_795"/>
          <p:cNvSpPr/>
          <p:nvPr/>
        </p:nvSpPr>
        <p:spPr>
          <a:xfrm>
            <a:off x="10357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g340c3beda34_1_795"/>
          <p:cNvSpPr/>
          <p:nvPr/>
        </p:nvSpPr>
        <p:spPr>
          <a:xfrm>
            <a:off x="17215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g340c3beda34_1_795"/>
          <p:cNvSpPr/>
          <p:nvPr/>
        </p:nvSpPr>
        <p:spPr>
          <a:xfrm>
            <a:off x="24073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g340c3beda34_1_795"/>
          <p:cNvSpPr/>
          <p:nvPr/>
        </p:nvSpPr>
        <p:spPr>
          <a:xfrm>
            <a:off x="30931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g340c3beda34_1_795"/>
          <p:cNvSpPr/>
          <p:nvPr/>
        </p:nvSpPr>
        <p:spPr>
          <a:xfrm>
            <a:off x="3778920" y="125739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g340c3beda34_1_795"/>
          <p:cNvSpPr/>
          <p:nvPr/>
        </p:nvSpPr>
        <p:spPr>
          <a:xfrm>
            <a:off x="5008320" y="1607310"/>
            <a:ext cx="61020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0" name="Google Shape;1390;g340c3beda34_1_795"/>
          <p:cNvGrpSpPr/>
          <p:nvPr/>
        </p:nvGrpSpPr>
        <p:grpSpPr>
          <a:xfrm>
            <a:off x="5678640" y="1600290"/>
            <a:ext cx="683641" cy="448469"/>
            <a:chOff x="5678640" y="2133720"/>
            <a:chExt cx="683641" cy="597958"/>
          </a:xfrm>
        </p:grpSpPr>
        <p:sp>
          <p:nvSpPr>
            <p:cNvPr id="1391" name="Google Shape;1391;g340c3beda34_1_795"/>
            <p:cNvSpPr/>
            <p:nvPr/>
          </p:nvSpPr>
          <p:spPr>
            <a:xfrm>
              <a:off x="56786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g340c3beda34_1_795"/>
            <p:cNvSpPr/>
            <p:nvPr/>
          </p:nvSpPr>
          <p:spPr>
            <a:xfrm>
              <a:off x="58172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3" name="Google Shape;1393;g340c3beda34_1_795"/>
          <p:cNvGrpSpPr/>
          <p:nvPr/>
        </p:nvGrpSpPr>
        <p:grpSpPr>
          <a:xfrm>
            <a:off x="6364440" y="1600290"/>
            <a:ext cx="683641" cy="448469"/>
            <a:chOff x="6364440" y="2133720"/>
            <a:chExt cx="683641" cy="597958"/>
          </a:xfrm>
        </p:grpSpPr>
        <p:sp>
          <p:nvSpPr>
            <p:cNvPr id="1394" name="Google Shape;1394;g340c3beda34_1_795"/>
            <p:cNvSpPr/>
            <p:nvPr/>
          </p:nvSpPr>
          <p:spPr>
            <a:xfrm>
              <a:off x="63644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g340c3beda34_1_795"/>
            <p:cNvSpPr/>
            <p:nvPr/>
          </p:nvSpPr>
          <p:spPr>
            <a:xfrm>
              <a:off x="65030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6" name="Google Shape;1396;g340c3beda34_1_795"/>
          <p:cNvGrpSpPr/>
          <p:nvPr/>
        </p:nvGrpSpPr>
        <p:grpSpPr>
          <a:xfrm>
            <a:off x="7050240" y="1600290"/>
            <a:ext cx="683641" cy="448469"/>
            <a:chOff x="7050240" y="2133720"/>
            <a:chExt cx="683641" cy="597958"/>
          </a:xfrm>
        </p:grpSpPr>
        <p:sp>
          <p:nvSpPr>
            <p:cNvPr id="1397" name="Google Shape;1397;g340c3beda34_1_795"/>
            <p:cNvSpPr/>
            <p:nvPr/>
          </p:nvSpPr>
          <p:spPr>
            <a:xfrm>
              <a:off x="70502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g340c3beda34_1_795"/>
            <p:cNvSpPr/>
            <p:nvPr/>
          </p:nvSpPr>
          <p:spPr>
            <a:xfrm>
              <a:off x="71888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9" name="Google Shape;1399;g340c3beda34_1_795"/>
          <p:cNvGrpSpPr/>
          <p:nvPr/>
        </p:nvGrpSpPr>
        <p:grpSpPr>
          <a:xfrm>
            <a:off x="7736040" y="1600290"/>
            <a:ext cx="683641" cy="448469"/>
            <a:chOff x="7736040" y="2133720"/>
            <a:chExt cx="683641" cy="597958"/>
          </a:xfrm>
        </p:grpSpPr>
        <p:sp>
          <p:nvSpPr>
            <p:cNvPr id="1400" name="Google Shape;1400;g340c3beda34_1_795"/>
            <p:cNvSpPr/>
            <p:nvPr/>
          </p:nvSpPr>
          <p:spPr>
            <a:xfrm>
              <a:off x="7736040" y="21337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g340c3beda34_1_795"/>
            <p:cNvSpPr/>
            <p:nvPr/>
          </p:nvSpPr>
          <p:spPr>
            <a:xfrm>
              <a:off x="7874640" y="21420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2" name="Google Shape;1402;g340c3beda34_1_795"/>
          <p:cNvSpPr/>
          <p:nvPr/>
        </p:nvSpPr>
        <p:spPr>
          <a:xfrm>
            <a:off x="58600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g340c3beda34_1_795"/>
          <p:cNvSpPr/>
          <p:nvPr/>
        </p:nvSpPr>
        <p:spPr>
          <a:xfrm>
            <a:off x="65458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g340c3beda34_1_795"/>
          <p:cNvSpPr/>
          <p:nvPr/>
        </p:nvSpPr>
        <p:spPr>
          <a:xfrm>
            <a:off x="72316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g340c3beda34_1_795"/>
          <p:cNvSpPr/>
          <p:nvPr/>
        </p:nvSpPr>
        <p:spPr>
          <a:xfrm>
            <a:off x="7917480" y="1275210"/>
            <a:ext cx="322218" cy="29889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g340c3beda34_1_795"/>
          <p:cNvSpPr/>
          <p:nvPr/>
        </p:nvSpPr>
        <p:spPr>
          <a:xfrm>
            <a:off x="4916520" y="2636010"/>
            <a:ext cx="706320" cy="4357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C'</a:t>
            </a: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7" name="Google Shape;1407;g340c3beda34_1_795"/>
          <p:cNvGrpSpPr/>
          <p:nvPr/>
        </p:nvGrpSpPr>
        <p:grpSpPr>
          <a:xfrm>
            <a:off x="5678640" y="2628990"/>
            <a:ext cx="683641" cy="448469"/>
            <a:chOff x="5678640" y="3505320"/>
            <a:chExt cx="683641" cy="597958"/>
          </a:xfrm>
        </p:grpSpPr>
        <p:sp>
          <p:nvSpPr>
            <p:cNvPr id="1408" name="Google Shape;1408;g340c3beda34_1_795"/>
            <p:cNvSpPr/>
            <p:nvPr/>
          </p:nvSpPr>
          <p:spPr>
            <a:xfrm>
              <a:off x="56786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g340c3beda34_1_795"/>
            <p:cNvSpPr/>
            <p:nvPr/>
          </p:nvSpPr>
          <p:spPr>
            <a:xfrm>
              <a:off x="58172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0" name="Google Shape;1410;g340c3beda34_1_795"/>
          <p:cNvGrpSpPr/>
          <p:nvPr/>
        </p:nvGrpSpPr>
        <p:grpSpPr>
          <a:xfrm>
            <a:off x="6364440" y="2628990"/>
            <a:ext cx="683641" cy="448469"/>
            <a:chOff x="6364440" y="3505320"/>
            <a:chExt cx="683641" cy="597958"/>
          </a:xfrm>
        </p:grpSpPr>
        <p:sp>
          <p:nvSpPr>
            <p:cNvPr id="1411" name="Google Shape;1411;g340c3beda34_1_795"/>
            <p:cNvSpPr/>
            <p:nvPr/>
          </p:nvSpPr>
          <p:spPr>
            <a:xfrm>
              <a:off x="63644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g340c3beda34_1_795"/>
            <p:cNvSpPr/>
            <p:nvPr/>
          </p:nvSpPr>
          <p:spPr>
            <a:xfrm>
              <a:off x="65030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3" name="Google Shape;1413;g340c3beda34_1_795"/>
          <p:cNvGrpSpPr/>
          <p:nvPr/>
        </p:nvGrpSpPr>
        <p:grpSpPr>
          <a:xfrm>
            <a:off x="7050240" y="2628990"/>
            <a:ext cx="683641" cy="448469"/>
            <a:chOff x="7050240" y="3505320"/>
            <a:chExt cx="683641" cy="597958"/>
          </a:xfrm>
        </p:grpSpPr>
        <p:sp>
          <p:nvSpPr>
            <p:cNvPr id="1414" name="Google Shape;1414;g340c3beda34_1_795"/>
            <p:cNvSpPr/>
            <p:nvPr/>
          </p:nvSpPr>
          <p:spPr>
            <a:xfrm>
              <a:off x="70502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CCCC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g340c3beda34_1_795"/>
            <p:cNvSpPr/>
            <p:nvPr/>
          </p:nvSpPr>
          <p:spPr>
            <a:xfrm>
              <a:off x="71888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6" name="Google Shape;1416;g340c3beda34_1_795"/>
          <p:cNvGrpSpPr/>
          <p:nvPr/>
        </p:nvGrpSpPr>
        <p:grpSpPr>
          <a:xfrm>
            <a:off x="7736040" y="2628990"/>
            <a:ext cx="683641" cy="448469"/>
            <a:chOff x="7736040" y="3505320"/>
            <a:chExt cx="683641" cy="597958"/>
          </a:xfrm>
        </p:grpSpPr>
        <p:sp>
          <p:nvSpPr>
            <p:cNvPr id="1417" name="Google Shape;1417;g340c3beda34_1_795"/>
            <p:cNvSpPr/>
            <p:nvPr/>
          </p:nvSpPr>
          <p:spPr>
            <a:xfrm>
              <a:off x="7736040" y="3505320"/>
              <a:ext cx="683641" cy="597958"/>
            </a:xfrm>
            <a:custGeom>
              <a:rect b="b" l="l" r="r" t="t"/>
              <a:pathLst>
                <a:path extrusionOk="0" h="1664" w="1902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3" y="0"/>
                    <a:pt x="2" y="1"/>
                  </a:cubicBezTo>
                  <a:lnTo>
                    <a:pt x="1" y="2"/>
                  </a:lnTo>
                  <a:cubicBezTo>
                    <a:pt x="0" y="3"/>
                    <a:pt x="0" y="4"/>
                    <a:pt x="0" y="4"/>
                  </a:cubicBezTo>
                  <a:lnTo>
                    <a:pt x="0" y="1658"/>
                  </a:lnTo>
                  <a:lnTo>
                    <a:pt x="0" y="1659"/>
                  </a:lnTo>
                  <a:cubicBezTo>
                    <a:pt x="0" y="1659"/>
                    <a:pt x="0" y="1660"/>
                    <a:pt x="1" y="1661"/>
                  </a:cubicBezTo>
                  <a:lnTo>
                    <a:pt x="2" y="1662"/>
                  </a:lnTo>
                  <a:cubicBezTo>
                    <a:pt x="3" y="1663"/>
                    <a:pt x="4" y="1663"/>
                    <a:pt x="4" y="1663"/>
                  </a:cubicBezTo>
                  <a:lnTo>
                    <a:pt x="1896" y="1662"/>
                  </a:lnTo>
                  <a:lnTo>
                    <a:pt x="1897" y="1663"/>
                  </a:lnTo>
                  <a:cubicBezTo>
                    <a:pt x="1897" y="1663"/>
                    <a:pt x="1898" y="1663"/>
                    <a:pt x="1899" y="1662"/>
                  </a:cubicBezTo>
                  <a:lnTo>
                    <a:pt x="1900" y="1661"/>
                  </a:lnTo>
                  <a:cubicBezTo>
                    <a:pt x="1901" y="1660"/>
                    <a:pt x="1901" y="1659"/>
                    <a:pt x="1901" y="1659"/>
                  </a:cubicBezTo>
                  <a:lnTo>
                    <a:pt x="1900" y="4"/>
                  </a:lnTo>
                  <a:lnTo>
                    <a:pt x="1901" y="4"/>
                  </a:lnTo>
                  <a:lnTo>
                    <a:pt x="1901" y="4"/>
                  </a:lnTo>
                  <a:cubicBezTo>
                    <a:pt x="1901" y="4"/>
                    <a:pt x="1901" y="3"/>
                    <a:pt x="1900" y="2"/>
                  </a:cubicBezTo>
                  <a:lnTo>
                    <a:pt x="1899" y="1"/>
                  </a:lnTo>
                  <a:cubicBezTo>
                    <a:pt x="1898" y="0"/>
                    <a:pt x="1897" y="0"/>
                    <a:pt x="1897" y="0"/>
                  </a:cubicBezTo>
                  <a:lnTo>
                    <a:pt x="4" y="0"/>
                  </a:lnTo>
                </a:path>
              </a:pathLst>
            </a:cu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dir="2700000" dist="107932">
                <a:srgbClr val="80808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g340c3beda34_1_795"/>
            <p:cNvSpPr/>
            <p:nvPr/>
          </p:nvSpPr>
          <p:spPr>
            <a:xfrm>
              <a:off x="7874640" y="3513600"/>
              <a:ext cx="406080" cy="581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00838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9" name="Google Shape;1419;g340c3beda34_1_795"/>
          <p:cNvSpPr/>
          <p:nvPr/>
        </p:nvSpPr>
        <p:spPr>
          <a:xfrm>
            <a:off x="1234800" y="2032290"/>
            <a:ext cx="2057400" cy="59697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28425">
            <a:solidFill>
              <a:srgbClr val="000000"/>
            </a:solidFill>
            <a:prstDash val="solid"/>
            <a:miter lim="80"/>
            <a:headEnd len="sm" w="sm" type="none"/>
            <a:tailEnd len="lg" w="lg" type="triangle"/>
          </a:ln>
        </p:spPr>
      </p:sp>
      <p:sp>
        <p:nvSpPr>
          <p:cNvPr id="1420" name="Google Shape;1420;g340c3beda34_1_795"/>
          <p:cNvSpPr/>
          <p:nvPr/>
        </p:nvSpPr>
        <p:spPr>
          <a:xfrm>
            <a:off x="319450" y="3280825"/>
            <a:ext cx="8057880" cy="14859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n; j &gt;= 1; j--)	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B[C[A[j]]] = A[j];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C[A[j]] --;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1" name="Google Shape;1421;g340c3beda34_1_795"/>
          <p:cNvSpPr/>
          <p:nvPr/>
        </p:nvSpPr>
        <p:spPr>
          <a:xfrm>
            <a:off x="5047875" y="3399350"/>
            <a:ext cx="3897126" cy="801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C’ represents the state of C after C[A[j]]-- operation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3408604fedd_5_0"/>
          <p:cNvSpPr/>
          <p:nvPr/>
        </p:nvSpPr>
        <p:spPr>
          <a:xfrm>
            <a:off x="2819520" y="1217970"/>
            <a:ext cx="7733880" cy="7765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C[1…k] = 0;</a:t>
            </a:r>
            <a:endParaRPr b="0" i="0" sz="2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endParaRPr b="0" i="0" sz="2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7" name="Google Shape;1427;g3408604fedd_5_0"/>
          <p:cNvSpPr/>
          <p:nvPr/>
        </p:nvSpPr>
        <p:spPr>
          <a:xfrm>
            <a:off x="1374840" y="1874070"/>
            <a:ext cx="1145880" cy="3045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00838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1" i="0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g3408604fedd_5_0"/>
          <p:cNvSpPr/>
          <p:nvPr/>
        </p:nvSpPr>
        <p:spPr>
          <a:xfrm>
            <a:off x="1392480" y="2584980"/>
            <a:ext cx="1123200" cy="3045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00838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1" i="0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1" i="0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g3408604fedd_5_0"/>
          <p:cNvSpPr/>
          <p:nvPr/>
        </p:nvSpPr>
        <p:spPr>
          <a:xfrm>
            <a:off x="1374840" y="3454110"/>
            <a:ext cx="1145880" cy="3045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00838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1" i="0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g3408604fedd_5_0"/>
          <p:cNvSpPr/>
          <p:nvPr/>
        </p:nvSpPr>
        <p:spPr>
          <a:xfrm>
            <a:off x="1392480" y="1189350"/>
            <a:ext cx="1123200" cy="3045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00838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1" i="0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1" i="0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g3408604fedd_5_0"/>
          <p:cNvSpPr/>
          <p:nvPr/>
        </p:nvSpPr>
        <p:spPr>
          <a:xfrm>
            <a:off x="3048120" y="1828710"/>
            <a:ext cx="4914378" cy="85131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1; j &lt;= n; j++)	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C[A[j]] ++;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2" name="Google Shape;1432;g3408604fedd_5_0"/>
          <p:cNvSpPr/>
          <p:nvPr/>
        </p:nvSpPr>
        <p:spPr>
          <a:xfrm>
            <a:off x="3009960" y="2572830"/>
            <a:ext cx="6057342" cy="7727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(i = 1; i &lt;= k; i++)	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C[i] = C[i] + C[i-1];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3" name="Google Shape;1433;g3408604fedd_5_0"/>
          <p:cNvSpPr/>
          <p:nvPr/>
        </p:nvSpPr>
        <p:spPr>
          <a:xfrm>
            <a:off x="3086280" y="3162240"/>
            <a:ext cx="5752458" cy="15179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for (j = n; j &gt;= 1; j--)	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B[C[A[j]]] = A[j];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C[A[j]] --;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g3408604fedd_5_0"/>
          <p:cNvSpPr/>
          <p:nvPr/>
        </p:nvSpPr>
        <p:spPr>
          <a:xfrm>
            <a:off x="2705040" y="1138320"/>
            <a:ext cx="304560" cy="548641"/>
          </a:xfrm>
          <a:custGeom>
            <a:rect b="b" l="l" r="r" t="t"/>
            <a:pathLst>
              <a:path extrusionOk="0" h="2035" w="849">
                <a:moveTo>
                  <a:pt x="848" y="0"/>
                </a:moveTo>
                <a:cubicBezTo>
                  <a:pt x="636" y="0"/>
                  <a:pt x="424" y="84"/>
                  <a:pt x="424" y="169"/>
                </a:cubicBezTo>
                <a:lnTo>
                  <a:pt x="424" y="847"/>
                </a:lnTo>
                <a:cubicBezTo>
                  <a:pt x="424" y="932"/>
                  <a:pt x="212" y="1017"/>
                  <a:pt x="0" y="1017"/>
                </a:cubicBezTo>
                <a:cubicBezTo>
                  <a:pt x="212" y="1017"/>
                  <a:pt x="424" y="1101"/>
                  <a:pt x="424" y="1186"/>
                </a:cubicBezTo>
                <a:lnTo>
                  <a:pt x="424" y="1864"/>
                </a:lnTo>
                <a:cubicBezTo>
                  <a:pt x="424" y="1949"/>
                  <a:pt x="636" y="2034"/>
                  <a:pt x="848" y="2034"/>
                </a:cubicBezTo>
              </a:path>
            </a:pathLst>
          </a:custGeom>
          <a:noFill/>
          <a:ln cap="flat" cmpd="sng" w="19075">
            <a:solidFill>
              <a:srgbClr val="CC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g3408604fedd_5_0"/>
          <p:cNvSpPr/>
          <p:nvPr/>
        </p:nvSpPr>
        <p:spPr>
          <a:xfrm>
            <a:off x="2705040" y="1824120"/>
            <a:ext cx="304560" cy="548641"/>
          </a:xfrm>
          <a:custGeom>
            <a:rect b="b" l="l" r="r" t="t"/>
            <a:pathLst>
              <a:path extrusionOk="0" h="2035" w="849">
                <a:moveTo>
                  <a:pt x="848" y="0"/>
                </a:moveTo>
                <a:cubicBezTo>
                  <a:pt x="636" y="0"/>
                  <a:pt x="424" y="84"/>
                  <a:pt x="424" y="169"/>
                </a:cubicBezTo>
                <a:lnTo>
                  <a:pt x="424" y="847"/>
                </a:lnTo>
                <a:cubicBezTo>
                  <a:pt x="424" y="932"/>
                  <a:pt x="212" y="1017"/>
                  <a:pt x="0" y="1017"/>
                </a:cubicBezTo>
                <a:cubicBezTo>
                  <a:pt x="212" y="1017"/>
                  <a:pt x="424" y="1101"/>
                  <a:pt x="424" y="1186"/>
                </a:cubicBezTo>
                <a:lnTo>
                  <a:pt x="424" y="1864"/>
                </a:lnTo>
                <a:cubicBezTo>
                  <a:pt x="424" y="1949"/>
                  <a:pt x="636" y="2034"/>
                  <a:pt x="848" y="2034"/>
                </a:cubicBezTo>
              </a:path>
            </a:pathLst>
          </a:custGeom>
          <a:noFill/>
          <a:ln cap="flat" cmpd="sng" w="19075">
            <a:solidFill>
              <a:srgbClr val="CC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g3408604fedd_5_0"/>
          <p:cNvSpPr/>
          <p:nvPr/>
        </p:nvSpPr>
        <p:spPr>
          <a:xfrm>
            <a:off x="2705040" y="2533680"/>
            <a:ext cx="304560" cy="548641"/>
          </a:xfrm>
          <a:custGeom>
            <a:rect b="b" l="l" r="r" t="t"/>
            <a:pathLst>
              <a:path extrusionOk="0" h="2035" w="849">
                <a:moveTo>
                  <a:pt x="848" y="0"/>
                </a:moveTo>
                <a:cubicBezTo>
                  <a:pt x="636" y="0"/>
                  <a:pt x="424" y="84"/>
                  <a:pt x="424" y="169"/>
                </a:cubicBezTo>
                <a:lnTo>
                  <a:pt x="424" y="847"/>
                </a:lnTo>
                <a:cubicBezTo>
                  <a:pt x="424" y="932"/>
                  <a:pt x="212" y="1017"/>
                  <a:pt x="0" y="1017"/>
                </a:cubicBezTo>
                <a:cubicBezTo>
                  <a:pt x="212" y="1017"/>
                  <a:pt x="424" y="1101"/>
                  <a:pt x="424" y="1186"/>
                </a:cubicBezTo>
                <a:lnTo>
                  <a:pt x="424" y="1864"/>
                </a:lnTo>
                <a:cubicBezTo>
                  <a:pt x="424" y="1949"/>
                  <a:pt x="636" y="2034"/>
                  <a:pt x="848" y="2034"/>
                </a:cubicBezTo>
              </a:path>
            </a:pathLst>
          </a:custGeom>
          <a:noFill/>
          <a:ln cap="flat" cmpd="sng" w="19075">
            <a:solidFill>
              <a:srgbClr val="CC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g3408604fedd_5_0"/>
          <p:cNvSpPr/>
          <p:nvPr/>
        </p:nvSpPr>
        <p:spPr>
          <a:xfrm>
            <a:off x="2705040" y="3195720"/>
            <a:ext cx="304560" cy="1147491"/>
          </a:xfrm>
          <a:custGeom>
            <a:rect b="b" l="l" r="r" t="t"/>
            <a:pathLst>
              <a:path extrusionOk="0" h="4253" w="849">
                <a:moveTo>
                  <a:pt x="848" y="0"/>
                </a:moveTo>
                <a:cubicBezTo>
                  <a:pt x="636" y="0"/>
                  <a:pt x="424" y="148"/>
                  <a:pt x="424" y="297"/>
                </a:cubicBezTo>
                <a:lnTo>
                  <a:pt x="424" y="1828"/>
                </a:lnTo>
                <a:cubicBezTo>
                  <a:pt x="424" y="1977"/>
                  <a:pt x="212" y="2126"/>
                  <a:pt x="0" y="2126"/>
                </a:cubicBezTo>
                <a:cubicBezTo>
                  <a:pt x="212" y="2126"/>
                  <a:pt x="424" y="2274"/>
                  <a:pt x="424" y="2423"/>
                </a:cubicBezTo>
                <a:lnTo>
                  <a:pt x="424" y="3954"/>
                </a:lnTo>
                <a:cubicBezTo>
                  <a:pt x="424" y="4103"/>
                  <a:pt x="636" y="4252"/>
                  <a:pt x="848" y="4252"/>
                </a:cubicBezTo>
              </a:path>
            </a:pathLst>
          </a:custGeom>
          <a:noFill/>
          <a:ln cap="flat" cmpd="sng" w="19075">
            <a:solidFill>
              <a:srgbClr val="CC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8" name="Google Shape;1438;g3408604fedd_5_0"/>
          <p:cNvCxnSpPr/>
          <p:nvPr/>
        </p:nvCxnSpPr>
        <p:spPr>
          <a:xfrm>
            <a:off x="1143000" y="4571910"/>
            <a:ext cx="1562100" cy="1500"/>
          </a:xfrm>
          <a:prstGeom prst="straightConnector1">
            <a:avLst/>
          </a:prstGeom>
          <a:noFill/>
          <a:ln cap="flat" cmpd="sng" w="28425">
            <a:solidFill>
              <a:srgbClr val="CC0000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439" name="Google Shape;1439;g3408604fedd_5_0"/>
          <p:cNvSpPr/>
          <p:nvPr/>
        </p:nvSpPr>
        <p:spPr>
          <a:xfrm>
            <a:off x="1027440" y="4686390"/>
            <a:ext cx="1834542" cy="3045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7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00838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1" i="0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1" i="0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1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 k</a:t>
            </a:r>
            <a:r>
              <a:rPr b="1" i="0" lang="en" sz="3200" u="none" cap="none" strike="noStrike">
                <a:solidFill>
                  <a:srgbClr val="00838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g3408604fedd_5_0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Analysis of Counting Sort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408604fedd_5_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6" name="Google Shape;1446;g3408604fedd_5_3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Counting Sort Extended</a:t>
            </a:r>
            <a:endParaRPr/>
          </a:p>
        </p:txBody>
      </p:sp>
      <p:sp>
        <p:nvSpPr>
          <p:cNvPr id="1447" name="Google Shape;1447;g3408604fedd_5_35"/>
          <p:cNvSpPr/>
          <p:nvPr/>
        </p:nvSpPr>
        <p:spPr>
          <a:xfrm>
            <a:off x="414875" y="1157800"/>
            <a:ext cx="7217700" cy="3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91560" lvl="0" marL="3427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1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if the numbers are ranged from 100,000,000 to 100,000,100?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1560" lvl="0" marL="3427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1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if the numbers are ranged from -1000 to 1000?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1560" lvl="0" marL="342719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1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we need is the range between highest and lowest number.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3408604fedd_5_45"/>
          <p:cNvSpPr/>
          <p:nvPr/>
        </p:nvSpPr>
        <p:spPr>
          <a:xfrm>
            <a:off x="1050125" y="992201"/>
            <a:ext cx="7043760" cy="388038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Complexity: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○"/>
            </a:pPr>
            <a:r>
              <a:rPr b="1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Best Case: O(n+k) when array is sorted already.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○"/>
            </a:pPr>
            <a:r>
              <a:rPr b="1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Case: O(n+k) when array is in random order.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○"/>
            </a:pPr>
            <a:r>
              <a:rPr b="1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Worst Case: O(n+k) when array is in reverse order.</a:t>
            </a:r>
            <a:r>
              <a:rPr b="1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Space Complexity: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○"/>
            </a:pPr>
            <a:r>
              <a:rPr b="1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Best/Average/Worst case: O(k).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Stable: Yes.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Inplace: No.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Suitable for arrays with small range of data i.e. where the difference between the largest and the smallest element of the array is not very big.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g3408604fedd_5_4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Properties of Counting Sort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