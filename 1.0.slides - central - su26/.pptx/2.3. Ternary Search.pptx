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Lst>
  <p:sldSz cy="6858000" cx="12192000"/>
  <p:notesSz cx="6858000" cy="9144000"/>
  <p:embeddedFontLst>
    <p:embeddedFont>
      <p:font typeface="Courgette"/>
      <p:regular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B62D57-32EB-4574-9254-231CF4C65C5C}">
  <a:tblStyle styleId="{9BB62D57-32EB-4574-9254-231CF4C65C5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 Type="http://schemas.openxmlformats.org/officeDocument/2006/relationships/font" Target="fonts/Courgett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38204"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38204"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831853"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831853" y="4589465"/>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8" name="Google Shape;28;p4"/>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sp>
        <p:nvSpPr>
          <p:cNvPr id="32" name="Google Shape;3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5"/>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4"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838201"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1"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9"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839791"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91" y="2505076"/>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3"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3" y="2505076"/>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4"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91"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90" y="987425"/>
            <a:ext cx="6172201"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91"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91"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90" y="987425"/>
            <a:ext cx="6172201" cy="4873625"/>
          </a:xfrm>
          <a:prstGeom prst="rect">
            <a:avLst/>
          </a:prstGeom>
          <a:noFill/>
          <a:ln>
            <a:noFill/>
          </a:ln>
        </p:spPr>
      </p:sp>
      <p:sp>
        <p:nvSpPr>
          <p:cNvPr id="68" name="Google Shape;68;p10"/>
          <p:cNvSpPr txBox="1"/>
          <p:nvPr>
            <p:ph idx="1" type="body"/>
          </p:nvPr>
        </p:nvSpPr>
        <p:spPr>
          <a:xfrm>
            <a:off x="839791"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4"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920335"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0"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30"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4"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4"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1" y="6356352"/>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1" y="6356352"/>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nvSpPr>
        <p:spPr>
          <a:xfrm>
            <a:off x="3435817" y="2101756"/>
            <a:ext cx="5479584"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Times New Roman"/>
                <a:ea typeface="Times New Roman"/>
                <a:cs typeface="Times New Roman"/>
                <a:sym typeface="Times New Roman"/>
              </a:rPr>
              <a:t>CSE221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Times New Roman"/>
                <a:ea typeface="Times New Roman"/>
                <a:cs typeface="Times New Roman"/>
                <a:sym typeface="Times New Roman"/>
              </a:rPr>
              <a:t>Algorithms: </a:t>
            </a:r>
            <a:r>
              <a:rPr b="0" i="1" lang="en-US" sz="3600" u="none" cap="none" strike="noStrike">
                <a:solidFill>
                  <a:schemeClr val="dk1"/>
                </a:solidFill>
                <a:latin typeface="Times New Roman"/>
                <a:ea typeface="Times New Roman"/>
                <a:cs typeface="Times New Roman"/>
                <a:sym typeface="Times New Roman"/>
              </a:rPr>
              <a:t>Ternary Search</a:t>
            </a:r>
            <a:endParaRPr b="0" i="0" sz="1400" u="none" cap="none" strike="noStrike">
              <a:solidFill>
                <a:srgbClr val="000000"/>
              </a:solidFill>
              <a:latin typeface="Arial"/>
              <a:ea typeface="Arial"/>
              <a:cs typeface="Arial"/>
              <a:sym typeface="Arial"/>
            </a:endParaRPr>
          </a:p>
        </p:txBody>
      </p:sp>
      <p:sp>
        <p:nvSpPr>
          <p:cNvPr id="90" name="Google Shape;90;p13"/>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pic>
        <p:nvPicPr>
          <p:cNvPr descr="bracu_logo.png" id="91" name="Google Shape;91;p13"/>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838204"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Ternary Search</a:t>
            </a:r>
            <a:endParaRPr/>
          </a:p>
        </p:txBody>
      </p:sp>
      <p:sp>
        <p:nvSpPr>
          <p:cNvPr id="97" name="Google Shape;97;p14"/>
          <p:cNvSpPr txBox="1"/>
          <p:nvPr>
            <p:ph idx="1" type="body"/>
          </p:nvPr>
        </p:nvSpPr>
        <p:spPr>
          <a:xfrm>
            <a:off x="838204" y="1468425"/>
            <a:ext cx="10515600" cy="4351338"/>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170000"/>
              </a:lnSpc>
              <a:spcBef>
                <a:spcPts val="0"/>
              </a:spcBef>
              <a:spcAft>
                <a:spcPts val="0"/>
              </a:spcAft>
              <a:buClr>
                <a:schemeClr val="dk1"/>
              </a:buClr>
              <a:buSzPct val="100000"/>
              <a:buChar char="•"/>
            </a:pPr>
            <a:r>
              <a:rPr lang="en-US" sz="8000"/>
              <a:t>A divide and conquer algorithm</a:t>
            </a:r>
            <a:endParaRPr/>
          </a:p>
          <a:p>
            <a:pPr indent="-228600" lvl="0" marL="228600" rtl="0" algn="l">
              <a:lnSpc>
                <a:spcPct val="170000"/>
              </a:lnSpc>
              <a:spcBef>
                <a:spcPts val="1000"/>
              </a:spcBef>
              <a:spcAft>
                <a:spcPts val="0"/>
              </a:spcAft>
              <a:buClr>
                <a:schemeClr val="dk1"/>
              </a:buClr>
              <a:buSzPct val="100000"/>
              <a:buChar char="•"/>
            </a:pPr>
            <a:r>
              <a:rPr lang="en-US" sz="8000"/>
              <a:t>Very similar to binary search except that the array is broken down into 3 portions</a:t>
            </a:r>
            <a:endParaRPr/>
          </a:p>
          <a:p>
            <a:pPr indent="-228600" lvl="0" marL="228600" rtl="0" algn="l">
              <a:lnSpc>
                <a:spcPct val="170000"/>
              </a:lnSpc>
              <a:spcBef>
                <a:spcPts val="1000"/>
              </a:spcBef>
              <a:spcAft>
                <a:spcPts val="0"/>
              </a:spcAft>
              <a:buClr>
                <a:schemeClr val="dk1"/>
              </a:buClr>
              <a:buSzPct val="100000"/>
              <a:buChar char="•"/>
            </a:pPr>
            <a:r>
              <a:rPr lang="en-US" sz="8000"/>
              <a:t>There are 2 “mids” and we check for the item, </a:t>
            </a:r>
            <a:r>
              <a:rPr b="1" i="1" lang="en-US" sz="8000"/>
              <a:t>k</a:t>
            </a:r>
            <a:r>
              <a:rPr lang="en-US" sz="8000"/>
              <a:t> inside both of them </a:t>
            </a:r>
            <a:endParaRPr sz="8000" u="sng"/>
          </a:p>
          <a:p>
            <a:pPr indent="-228600" lvl="0" marL="228600" rtl="0" algn="l">
              <a:lnSpc>
                <a:spcPct val="170000"/>
              </a:lnSpc>
              <a:spcBef>
                <a:spcPts val="1000"/>
              </a:spcBef>
              <a:spcAft>
                <a:spcPts val="0"/>
              </a:spcAft>
              <a:buClr>
                <a:schemeClr val="dk1"/>
              </a:buClr>
              <a:buSzPct val="100000"/>
              <a:buChar char="•"/>
            </a:pPr>
            <a:r>
              <a:rPr lang="en-US" sz="8000"/>
              <a:t>If we find then bingo! Else we check </a:t>
            </a:r>
            <a:r>
              <a:rPr lang="en-US" sz="8000">
                <a:solidFill>
                  <a:srgbClr val="FF0000"/>
                </a:solidFill>
              </a:rPr>
              <a:t>if k &lt; first mid </a:t>
            </a:r>
            <a:r>
              <a:rPr lang="en-US" sz="8000"/>
              <a:t>or </a:t>
            </a:r>
            <a:r>
              <a:rPr lang="en-US" sz="8000">
                <a:solidFill>
                  <a:srgbClr val="FF0000"/>
                </a:solidFill>
              </a:rPr>
              <a:t>k &gt; second mid </a:t>
            </a:r>
            <a:r>
              <a:rPr lang="en-US" sz="8000"/>
              <a:t>or</a:t>
            </a:r>
            <a:r>
              <a:rPr lang="en-US" sz="8000">
                <a:solidFill>
                  <a:srgbClr val="FF0000"/>
                </a:solidFill>
              </a:rPr>
              <a:t> k &gt; first mid and k &lt; second mid</a:t>
            </a:r>
            <a:r>
              <a:rPr lang="en-US" sz="8000"/>
              <a:t>? If the first condition is true we look into the rightmost portion of the array. If the second condition is true we look into the leftmost portion of the array else we look into the centre portion.</a:t>
            </a:r>
            <a:endParaRPr/>
          </a:p>
          <a:p>
            <a:pPr indent="-228600" lvl="0" marL="228600" rtl="0" algn="l">
              <a:lnSpc>
                <a:spcPct val="170000"/>
              </a:lnSpc>
              <a:spcBef>
                <a:spcPts val="1000"/>
              </a:spcBef>
              <a:spcAft>
                <a:spcPts val="0"/>
              </a:spcAft>
              <a:buClr>
                <a:schemeClr val="dk1"/>
              </a:buClr>
              <a:buSzPct val="100000"/>
              <a:buChar char="•"/>
            </a:pPr>
            <a:r>
              <a:rPr lang="en-US" sz="8000"/>
              <a:t>Note that the red marked conditions are true if and only if the array is sorted. </a:t>
            </a:r>
            <a:endParaRPr/>
          </a:p>
          <a:p>
            <a:pPr indent="-18415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 </a:t>
            </a:r>
            <a:endParaRPr/>
          </a:p>
        </p:txBody>
      </p:sp>
      <p:sp>
        <p:nvSpPr>
          <p:cNvPr id="98" name="Google Shape;98;p14"/>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pic>
        <p:nvPicPr>
          <p:cNvPr descr="bracu_logo.png" id="99" name="Google Shape;99;p14"/>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31853" y="289420"/>
            <a:ext cx="10515600" cy="79773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Ternary Search</a:t>
            </a:r>
            <a:endParaRPr sz="3600"/>
          </a:p>
        </p:txBody>
      </p:sp>
      <p:sp>
        <p:nvSpPr>
          <p:cNvPr id="105" name="Google Shape;105;p15"/>
          <p:cNvSpPr txBox="1"/>
          <p:nvPr>
            <p:ph idx="1" type="body"/>
          </p:nvPr>
        </p:nvSpPr>
        <p:spPr>
          <a:xfrm>
            <a:off x="845501" y="959847"/>
            <a:ext cx="10515600" cy="5693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Pseudo code (Iterative)</a:t>
            </a:r>
            <a:endParaRPr/>
          </a:p>
        </p:txBody>
      </p:sp>
      <p:sp>
        <p:nvSpPr>
          <p:cNvPr id="106" name="Google Shape;106;p15"/>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sp>
        <p:nvSpPr>
          <p:cNvPr id="107" name="Google Shape;107;p15"/>
          <p:cNvSpPr txBox="1"/>
          <p:nvPr/>
        </p:nvSpPr>
        <p:spPr>
          <a:xfrm>
            <a:off x="957253" y="1436116"/>
            <a:ext cx="6014788" cy="5078313"/>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boolean binarySearch(A[], </a:t>
            </a:r>
            <a:r>
              <a:rPr b="0" i="0" lang="en-US" sz="1800" u="none" cap="none" strike="noStrike">
                <a:solidFill>
                  <a:schemeClr val="dk1"/>
                </a:solidFill>
                <a:latin typeface="Courgette"/>
                <a:ea typeface="Courgette"/>
                <a:cs typeface="Courgette"/>
                <a:sym typeface="Courgette"/>
              </a:rPr>
              <a:t>l</a:t>
            </a:r>
            <a:r>
              <a:rPr b="0" i="0" lang="en-US" sz="1800" u="none" cap="none" strike="noStrike">
                <a:solidFill>
                  <a:schemeClr val="dk1"/>
                </a:solidFill>
                <a:latin typeface="Calibri"/>
                <a:ea typeface="Calibri"/>
                <a:cs typeface="Calibri"/>
                <a:sym typeface="Calibri"/>
              </a:rPr>
              <a:t> , r, item){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while (</a:t>
            </a:r>
            <a:r>
              <a:rPr b="0" i="0" lang="en-US" sz="1800" u="none" cap="none" strike="noStrike">
                <a:solidFill>
                  <a:schemeClr val="dk1"/>
                </a:solidFill>
                <a:latin typeface="Courgette"/>
                <a:ea typeface="Courgette"/>
                <a:cs typeface="Courgette"/>
                <a:sym typeface="Courgette"/>
              </a:rPr>
              <a:t>l</a:t>
            </a:r>
            <a:r>
              <a:rPr b="0" i="0" lang="en-US" sz="1800" u="none" cap="none" strike="noStrike">
                <a:solidFill>
                  <a:schemeClr val="dk1"/>
                </a:solidFill>
                <a:latin typeface="Calibri"/>
                <a:ea typeface="Calibri"/>
                <a:cs typeface="Calibri"/>
                <a:sym typeface="Calibri"/>
              </a:rPr>
              <a:t> &lt;=r){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mid1 =</a:t>
            </a:r>
            <a:r>
              <a:rPr b="0" i="0" lang="en-US" sz="1800" u="none" cap="none" strike="noStrike">
                <a:solidFill>
                  <a:schemeClr val="dk1"/>
                </a:solidFill>
                <a:latin typeface="Courgette"/>
                <a:ea typeface="Courgette"/>
                <a:cs typeface="Courgette"/>
                <a:sym typeface="Courgette"/>
              </a:rPr>
              <a:t> l</a:t>
            </a:r>
            <a:r>
              <a:rPr b="0" i="0" lang="en-US" sz="1800" u="none" cap="none" strike="noStrike">
                <a:solidFill>
                  <a:schemeClr val="dk1"/>
                </a:solidFill>
                <a:latin typeface="Calibri"/>
                <a:ea typeface="Calibri"/>
                <a:cs typeface="Calibri"/>
                <a:sym typeface="Calibri"/>
              </a:rPr>
              <a:t> + (r - </a:t>
            </a:r>
            <a:r>
              <a:rPr b="0" i="0" lang="en-US" sz="1800" u="none" cap="none" strike="noStrike">
                <a:solidFill>
                  <a:schemeClr val="dk1"/>
                </a:solidFill>
                <a:latin typeface="Courgette"/>
                <a:ea typeface="Courgette"/>
                <a:cs typeface="Courgette"/>
                <a:sym typeface="Courgette"/>
              </a:rPr>
              <a:t>l</a:t>
            </a:r>
            <a:r>
              <a:rPr b="0" i="0" lang="en-US" sz="1800" u="none" cap="none" strike="noStrike">
                <a:solidFill>
                  <a:schemeClr val="dk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mid2 = r - (r - </a:t>
            </a:r>
            <a:r>
              <a:rPr b="0" i="0" lang="en-US" sz="1800" u="none" cap="none" strike="noStrike">
                <a:solidFill>
                  <a:schemeClr val="dk1"/>
                </a:solidFill>
                <a:latin typeface="Courgette"/>
                <a:ea typeface="Courgette"/>
                <a:cs typeface="Courgette"/>
                <a:sym typeface="Courgette"/>
              </a:rPr>
              <a:t>l</a:t>
            </a:r>
            <a:r>
              <a:rPr b="0" i="0" lang="en-US" sz="1800" u="none" cap="none" strike="noStrike">
                <a:solidFill>
                  <a:schemeClr val="dk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if (A[mid1]==item || A[mid2]==item){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return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if (item&lt;A[mid1]){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r = mid1-1;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}elseif (item&gt;A[mid2]){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ourgette"/>
                <a:ea typeface="Courgette"/>
                <a:cs typeface="Courgette"/>
                <a:sym typeface="Courgette"/>
              </a:rPr>
              <a:t> l</a:t>
            </a:r>
            <a:r>
              <a:rPr b="0" i="0" lang="en-US" sz="1800" u="none" cap="none" strike="noStrike">
                <a:solidFill>
                  <a:schemeClr val="dk1"/>
                </a:solidFill>
                <a:latin typeface="Calibri"/>
                <a:ea typeface="Calibri"/>
                <a:cs typeface="Calibri"/>
                <a:sym typeface="Calibri"/>
              </a:rPr>
              <a:t> = mid2+1;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ourgette"/>
                <a:ea typeface="Courgette"/>
                <a:cs typeface="Courgette"/>
                <a:sym typeface="Courgette"/>
              </a:rPr>
              <a:t> l</a:t>
            </a:r>
            <a:r>
              <a:rPr b="0" i="0" lang="en-US" sz="1800" u="none" cap="none" strike="noStrike">
                <a:solidFill>
                  <a:schemeClr val="dk1"/>
                </a:solidFill>
                <a:latin typeface="Calibri"/>
                <a:ea typeface="Calibri"/>
                <a:cs typeface="Calibri"/>
                <a:sym typeface="Calibri"/>
              </a:rPr>
              <a:t> =mid1+1; r = mid2-1;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return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cxnSp>
        <p:nvCxnSpPr>
          <p:cNvPr id="108" name="Google Shape;108;p15"/>
          <p:cNvCxnSpPr/>
          <p:nvPr/>
        </p:nvCxnSpPr>
        <p:spPr>
          <a:xfrm flipH="1">
            <a:off x="3216173" y="1087820"/>
            <a:ext cx="3799482" cy="789753"/>
          </a:xfrm>
          <a:prstGeom prst="straightConnector1">
            <a:avLst/>
          </a:prstGeom>
          <a:noFill/>
          <a:ln cap="flat" cmpd="sng" w="38100">
            <a:solidFill>
              <a:schemeClr val="dk1"/>
            </a:solidFill>
            <a:prstDash val="solid"/>
            <a:miter lim="800000"/>
            <a:headEnd len="sm" w="sm" type="none"/>
            <a:tailEnd len="med" w="med" type="stealth"/>
          </a:ln>
        </p:spPr>
      </p:cxnSp>
      <p:cxnSp>
        <p:nvCxnSpPr>
          <p:cNvPr id="109" name="Google Shape;109;p15"/>
          <p:cNvCxnSpPr>
            <a:stCxn id="110" idx="1"/>
          </p:cNvCxnSpPr>
          <p:nvPr/>
        </p:nvCxnSpPr>
        <p:spPr>
          <a:xfrm flipH="1">
            <a:off x="4666742" y="1781191"/>
            <a:ext cx="2467800" cy="536400"/>
          </a:xfrm>
          <a:prstGeom prst="straightConnector1">
            <a:avLst/>
          </a:prstGeom>
          <a:noFill/>
          <a:ln cap="flat" cmpd="sng" w="38100">
            <a:solidFill>
              <a:schemeClr val="dk1"/>
            </a:solidFill>
            <a:prstDash val="solid"/>
            <a:miter lim="800000"/>
            <a:headEnd len="sm" w="sm" type="none"/>
            <a:tailEnd len="med" w="med" type="stealth"/>
          </a:ln>
        </p:spPr>
      </p:cxnSp>
      <p:cxnSp>
        <p:nvCxnSpPr>
          <p:cNvPr id="111" name="Google Shape;111;p15"/>
          <p:cNvCxnSpPr/>
          <p:nvPr/>
        </p:nvCxnSpPr>
        <p:spPr>
          <a:xfrm flipH="1">
            <a:off x="5990898" y="2207171"/>
            <a:ext cx="1119351" cy="346841"/>
          </a:xfrm>
          <a:prstGeom prst="straightConnector1">
            <a:avLst/>
          </a:prstGeom>
          <a:noFill/>
          <a:ln cap="flat" cmpd="sng" w="38100">
            <a:solidFill>
              <a:schemeClr val="dk1"/>
            </a:solidFill>
            <a:prstDash val="solid"/>
            <a:miter lim="800000"/>
            <a:headEnd len="sm" w="sm" type="none"/>
            <a:tailEnd len="med" w="med" type="stealth"/>
          </a:ln>
        </p:spPr>
      </p:cxnSp>
      <p:cxnSp>
        <p:nvCxnSpPr>
          <p:cNvPr id="112" name="Google Shape;112;p15"/>
          <p:cNvCxnSpPr/>
          <p:nvPr/>
        </p:nvCxnSpPr>
        <p:spPr>
          <a:xfrm flipH="1">
            <a:off x="5692839" y="3011214"/>
            <a:ext cx="1464706" cy="517800"/>
          </a:xfrm>
          <a:prstGeom prst="straightConnector1">
            <a:avLst/>
          </a:prstGeom>
          <a:noFill/>
          <a:ln cap="flat" cmpd="sng" w="38100">
            <a:solidFill>
              <a:schemeClr val="dk1"/>
            </a:solidFill>
            <a:prstDash val="solid"/>
            <a:miter lim="800000"/>
            <a:headEnd len="sm" w="sm" type="none"/>
            <a:tailEnd len="med" w="med" type="stealth"/>
          </a:ln>
        </p:spPr>
      </p:cxnSp>
      <p:cxnSp>
        <p:nvCxnSpPr>
          <p:cNvPr id="113" name="Google Shape;113;p15"/>
          <p:cNvCxnSpPr/>
          <p:nvPr/>
        </p:nvCxnSpPr>
        <p:spPr>
          <a:xfrm flipH="1">
            <a:off x="6127861" y="4130566"/>
            <a:ext cx="1029684" cy="120706"/>
          </a:xfrm>
          <a:prstGeom prst="straightConnector1">
            <a:avLst/>
          </a:prstGeom>
          <a:noFill/>
          <a:ln cap="flat" cmpd="sng" w="38100">
            <a:solidFill>
              <a:schemeClr val="dk1"/>
            </a:solidFill>
            <a:prstDash val="solid"/>
            <a:miter lim="800000"/>
            <a:headEnd len="sm" w="sm" type="none"/>
            <a:tailEnd len="med" w="med" type="stealth"/>
          </a:ln>
        </p:spPr>
      </p:cxnSp>
      <p:cxnSp>
        <p:nvCxnSpPr>
          <p:cNvPr id="114" name="Google Shape;114;p15"/>
          <p:cNvCxnSpPr/>
          <p:nvPr/>
        </p:nvCxnSpPr>
        <p:spPr>
          <a:xfrm flipH="1">
            <a:off x="4136156" y="6041643"/>
            <a:ext cx="3005132" cy="66675"/>
          </a:xfrm>
          <a:prstGeom prst="straightConnector1">
            <a:avLst/>
          </a:prstGeom>
          <a:noFill/>
          <a:ln cap="flat" cmpd="sng" w="38100">
            <a:solidFill>
              <a:schemeClr val="dk1"/>
            </a:solidFill>
            <a:prstDash val="solid"/>
            <a:miter lim="800000"/>
            <a:headEnd len="sm" w="sm" type="none"/>
            <a:tailEnd len="med" w="med" type="stealth"/>
          </a:ln>
        </p:spPr>
      </p:cxnSp>
      <p:sp>
        <p:nvSpPr>
          <p:cNvPr id="115" name="Google Shape;115;p15"/>
          <p:cNvSpPr txBox="1"/>
          <p:nvPr/>
        </p:nvSpPr>
        <p:spPr>
          <a:xfrm>
            <a:off x="7125022" y="842929"/>
            <a:ext cx="4243406"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urgette"/>
                <a:ea typeface="Courgette"/>
                <a:cs typeface="Courgette"/>
                <a:sym typeface="Courgette"/>
              </a:rPr>
              <a:t>l</a:t>
            </a:r>
            <a:r>
              <a:rPr b="0" i="0" lang="en-US" sz="2000" u="none" cap="none" strike="noStrike">
                <a:solidFill>
                  <a:schemeClr val="dk1"/>
                </a:solidFill>
                <a:latin typeface="Calibri"/>
                <a:ea typeface="Calibri"/>
                <a:cs typeface="Calibri"/>
                <a:sym typeface="Calibri"/>
              </a:rPr>
              <a:t> must always be less or equal to r for the loop to run</a:t>
            </a:r>
            <a:endParaRPr b="0" i="0" sz="2000" u="none" cap="none" strike="noStrike">
              <a:solidFill>
                <a:schemeClr val="dk1"/>
              </a:solidFill>
              <a:latin typeface="Calibri"/>
              <a:ea typeface="Calibri"/>
              <a:cs typeface="Calibri"/>
              <a:sym typeface="Calibri"/>
            </a:endParaRPr>
          </a:p>
        </p:txBody>
      </p:sp>
      <p:sp>
        <p:nvSpPr>
          <p:cNvPr id="110" name="Google Shape;110;p15"/>
          <p:cNvSpPr txBox="1"/>
          <p:nvPr/>
        </p:nvSpPr>
        <p:spPr>
          <a:xfrm>
            <a:off x="7134542" y="1581136"/>
            <a:ext cx="430530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Find the mid1 and mid2 index</a:t>
            </a:r>
            <a:endParaRPr b="0" i="0" sz="2000" u="none" cap="none" strike="noStrike">
              <a:solidFill>
                <a:schemeClr val="dk1"/>
              </a:solidFill>
              <a:latin typeface="Calibri"/>
              <a:ea typeface="Calibri"/>
              <a:cs typeface="Calibri"/>
              <a:sym typeface="Calibri"/>
            </a:endParaRPr>
          </a:p>
        </p:txBody>
      </p:sp>
      <p:sp>
        <p:nvSpPr>
          <p:cNvPr id="116" name="Google Shape;116;p15"/>
          <p:cNvSpPr txBox="1"/>
          <p:nvPr/>
        </p:nvSpPr>
        <p:spPr>
          <a:xfrm>
            <a:off x="7134542" y="1981200"/>
            <a:ext cx="4976836"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Check if item matches, return true if does else next step.</a:t>
            </a:r>
            <a:endParaRPr b="0" i="0" sz="2000" u="none" cap="none" strike="noStrike">
              <a:solidFill>
                <a:schemeClr val="dk1"/>
              </a:solidFill>
              <a:latin typeface="Calibri"/>
              <a:ea typeface="Calibri"/>
              <a:cs typeface="Calibri"/>
              <a:sym typeface="Calibri"/>
            </a:endParaRPr>
          </a:p>
        </p:txBody>
      </p:sp>
      <p:sp>
        <p:nvSpPr>
          <p:cNvPr id="117" name="Google Shape;117;p15"/>
          <p:cNvSpPr txBox="1"/>
          <p:nvPr/>
        </p:nvSpPr>
        <p:spPr>
          <a:xfrm>
            <a:off x="7148830" y="2738464"/>
            <a:ext cx="3614738"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Check if the item is smaller, if yes shift the search range to leftmost portion by moving r</a:t>
            </a:r>
            <a:endParaRPr b="0" i="0" sz="2000" u="none" cap="none" strike="noStrike">
              <a:solidFill>
                <a:schemeClr val="dk1"/>
              </a:solidFill>
              <a:latin typeface="Calibri"/>
              <a:ea typeface="Calibri"/>
              <a:cs typeface="Calibri"/>
              <a:sym typeface="Calibri"/>
            </a:endParaRPr>
          </a:p>
        </p:txBody>
      </p:sp>
      <p:sp>
        <p:nvSpPr>
          <p:cNvPr id="118" name="Google Shape;118;p15"/>
          <p:cNvSpPr txBox="1"/>
          <p:nvPr/>
        </p:nvSpPr>
        <p:spPr>
          <a:xfrm>
            <a:off x="7191692" y="3867204"/>
            <a:ext cx="4364432"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If the above condition is dissatisfied, shift the search range to rightmost portion by moving </a:t>
            </a:r>
            <a:r>
              <a:rPr b="0" i="0" lang="en-US" sz="2000" u="none" cap="none" strike="noStrike">
                <a:solidFill>
                  <a:schemeClr val="dk1"/>
                </a:solidFill>
                <a:latin typeface="Courgette"/>
                <a:ea typeface="Courgette"/>
                <a:cs typeface="Courgette"/>
                <a:sym typeface="Courgette"/>
              </a:rPr>
              <a:t>l</a:t>
            </a:r>
            <a:r>
              <a:rPr b="0" i="0" lang="en-US" sz="2000" u="none" cap="none" strike="noStrike">
                <a:solidFill>
                  <a:schemeClr val="dk1"/>
                </a:solidFill>
                <a:latin typeface="Calibri"/>
                <a:ea typeface="Calibri"/>
                <a:cs typeface="Calibri"/>
                <a:sym typeface="Calibri"/>
              </a:rPr>
              <a:t> </a:t>
            </a:r>
            <a:endParaRPr b="0" i="0" sz="2000" u="none" cap="none" strike="noStrike">
              <a:solidFill>
                <a:schemeClr val="dk1"/>
              </a:solidFill>
              <a:latin typeface="Calibri"/>
              <a:ea typeface="Calibri"/>
              <a:cs typeface="Calibri"/>
              <a:sym typeface="Calibri"/>
            </a:endParaRPr>
          </a:p>
        </p:txBody>
      </p:sp>
      <p:sp>
        <p:nvSpPr>
          <p:cNvPr id="119" name="Google Shape;119;p15"/>
          <p:cNvSpPr txBox="1"/>
          <p:nvPr/>
        </p:nvSpPr>
        <p:spPr>
          <a:xfrm>
            <a:off x="7295489" y="5778843"/>
            <a:ext cx="469455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The program will reach this line after while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loop is complete. False is returned. </a:t>
            </a:r>
            <a:endParaRPr b="0" i="0" sz="2000" u="none" cap="none" strike="noStrike">
              <a:solidFill>
                <a:schemeClr val="dk1"/>
              </a:solidFill>
              <a:latin typeface="Calibri"/>
              <a:ea typeface="Calibri"/>
              <a:cs typeface="Calibri"/>
              <a:sym typeface="Calibri"/>
            </a:endParaRPr>
          </a:p>
        </p:txBody>
      </p:sp>
      <p:sp>
        <p:nvSpPr>
          <p:cNvPr id="120" name="Google Shape;120;p15"/>
          <p:cNvSpPr txBox="1"/>
          <p:nvPr/>
        </p:nvSpPr>
        <p:spPr>
          <a:xfrm>
            <a:off x="7195633" y="4890687"/>
            <a:ext cx="457542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Else shift the search domain to the middle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portion </a:t>
            </a:r>
            <a:endParaRPr b="0" i="0" sz="2000" u="none" cap="none" strike="noStrike">
              <a:solidFill>
                <a:schemeClr val="dk1"/>
              </a:solidFill>
              <a:latin typeface="Calibri"/>
              <a:ea typeface="Calibri"/>
              <a:cs typeface="Calibri"/>
              <a:sym typeface="Calibri"/>
            </a:endParaRPr>
          </a:p>
        </p:txBody>
      </p:sp>
      <p:cxnSp>
        <p:nvCxnSpPr>
          <p:cNvPr id="121" name="Google Shape;121;p15"/>
          <p:cNvCxnSpPr/>
          <p:nvPr/>
        </p:nvCxnSpPr>
        <p:spPr>
          <a:xfrm rot="10800000">
            <a:off x="6305267" y="5049673"/>
            <a:ext cx="955345" cy="245661"/>
          </a:xfrm>
          <a:prstGeom prst="straightConnector1">
            <a:avLst/>
          </a:prstGeom>
          <a:noFill/>
          <a:ln cap="flat" cmpd="sng" w="38100">
            <a:solidFill>
              <a:schemeClr val="dk1"/>
            </a:solidFill>
            <a:prstDash val="solid"/>
            <a:miter lim="800000"/>
            <a:headEnd len="sm" w="sm" type="none"/>
            <a:tailEnd len="med" w="med" type="stealth"/>
          </a:ln>
        </p:spPr>
      </p:cxnSp>
      <p:pic>
        <p:nvPicPr>
          <p:cNvPr descr="bracu_logo.png" id="122" name="Google Shape;122;p15"/>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6"/>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graphicFrame>
        <p:nvGraphicFramePr>
          <p:cNvPr id="128" name="Google Shape;128;p16"/>
          <p:cNvGraphicFramePr/>
          <p:nvPr/>
        </p:nvGraphicFramePr>
        <p:xfrm>
          <a:off x="1572504" y="3147551"/>
          <a:ext cx="3000000" cy="3000000"/>
        </p:xfrm>
        <a:graphic>
          <a:graphicData uri="http://schemas.openxmlformats.org/drawingml/2006/table">
            <a:tbl>
              <a:tblPr bandRow="1" firstRow="1">
                <a:noFill/>
                <a:tableStyleId>{9BB62D57-32EB-4574-9254-231CF4C65C5C}</a:tableStyleId>
              </a:tblPr>
              <a:tblGrid>
                <a:gridCol w="905900"/>
                <a:gridCol w="905900"/>
                <a:gridCol w="905900"/>
                <a:gridCol w="905900"/>
                <a:gridCol w="905900"/>
                <a:gridCol w="905900"/>
                <a:gridCol w="905900"/>
                <a:gridCol w="905900"/>
                <a:gridCol w="905900"/>
                <a:gridCol w="9059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0</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1</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2</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3</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4</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5</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6</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7</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8</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9</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bl>
          </a:graphicData>
        </a:graphic>
      </p:graphicFrame>
      <p:sp>
        <p:nvSpPr>
          <p:cNvPr id="129" name="Google Shape;129;p16"/>
          <p:cNvSpPr txBox="1"/>
          <p:nvPr/>
        </p:nvSpPr>
        <p:spPr>
          <a:xfrm>
            <a:off x="1815392" y="2466249"/>
            <a:ext cx="32861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l</a:t>
            </a:r>
            <a:endParaRPr b="0" i="0" sz="1800" u="none" cap="none" strike="noStrike">
              <a:solidFill>
                <a:schemeClr val="dk1"/>
              </a:solidFill>
              <a:latin typeface="Courgette"/>
              <a:ea typeface="Courgette"/>
              <a:cs typeface="Courgette"/>
              <a:sym typeface="Courgette"/>
            </a:endParaRPr>
          </a:p>
        </p:txBody>
      </p:sp>
      <p:sp>
        <p:nvSpPr>
          <p:cNvPr id="130" name="Google Shape;130;p16"/>
          <p:cNvSpPr txBox="1"/>
          <p:nvPr/>
        </p:nvSpPr>
        <p:spPr>
          <a:xfrm>
            <a:off x="4303354" y="2479899"/>
            <a:ext cx="88281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mid1</a:t>
            </a:r>
            <a:endParaRPr b="0" i="0" sz="1800" u="none" cap="none" strike="noStrike">
              <a:solidFill>
                <a:schemeClr val="dk1"/>
              </a:solidFill>
              <a:latin typeface="Courgette"/>
              <a:ea typeface="Courgette"/>
              <a:cs typeface="Courgette"/>
              <a:sym typeface="Courgette"/>
            </a:endParaRPr>
          </a:p>
        </p:txBody>
      </p:sp>
      <p:sp>
        <p:nvSpPr>
          <p:cNvPr id="131" name="Google Shape;131;p16"/>
          <p:cNvSpPr txBox="1"/>
          <p:nvPr/>
        </p:nvSpPr>
        <p:spPr>
          <a:xfrm>
            <a:off x="4441299" y="4586952"/>
            <a:ext cx="651140"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alibri"/>
                <a:ea typeface="Calibri"/>
                <a:cs typeface="Calibri"/>
                <a:sym typeface="Calibri"/>
              </a:rPr>
              <a:t>17&gt;8</a:t>
            </a:r>
            <a:endParaRPr b="1" i="0" sz="1800" u="none" cap="none" strike="noStrike">
              <a:solidFill>
                <a:srgbClr val="FF0000"/>
              </a:solidFill>
              <a:latin typeface="Calibri"/>
              <a:ea typeface="Calibri"/>
              <a:cs typeface="Calibri"/>
              <a:sym typeface="Calibri"/>
            </a:endParaRPr>
          </a:p>
        </p:txBody>
      </p:sp>
      <p:sp>
        <p:nvSpPr>
          <p:cNvPr id="132" name="Google Shape;132;p16"/>
          <p:cNvSpPr/>
          <p:nvPr/>
        </p:nvSpPr>
        <p:spPr>
          <a:xfrm>
            <a:off x="4535094" y="4009444"/>
            <a:ext cx="462188" cy="523724"/>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16"/>
          <p:cNvSpPr txBox="1"/>
          <p:nvPr/>
        </p:nvSpPr>
        <p:spPr>
          <a:xfrm>
            <a:off x="7069943" y="4541259"/>
            <a:ext cx="821059"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alibri"/>
                <a:ea typeface="Calibri"/>
                <a:cs typeface="Calibri"/>
                <a:sym typeface="Calibri"/>
              </a:rPr>
              <a:t>17&gt; 14</a:t>
            </a:r>
            <a:endParaRPr b="1" i="0" sz="1800" u="none" cap="none" strike="noStrike">
              <a:solidFill>
                <a:srgbClr val="FF0000"/>
              </a:solidFill>
              <a:latin typeface="Calibri"/>
              <a:ea typeface="Calibri"/>
              <a:cs typeface="Calibri"/>
              <a:sym typeface="Calibri"/>
            </a:endParaRPr>
          </a:p>
        </p:txBody>
      </p:sp>
      <p:sp>
        <p:nvSpPr>
          <p:cNvPr id="134" name="Google Shape;134;p16"/>
          <p:cNvSpPr/>
          <p:nvPr/>
        </p:nvSpPr>
        <p:spPr>
          <a:xfrm>
            <a:off x="7252962" y="4012403"/>
            <a:ext cx="462188" cy="523724"/>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16"/>
          <p:cNvSpPr txBox="1"/>
          <p:nvPr/>
        </p:nvSpPr>
        <p:spPr>
          <a:xfrm>
            <a:off x="1558209" y="3636127"/>
            <a:ext cx="916435"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136" name="Google Shape;136;p16"/>
          <p:cNvSpPr txBox="1"/>
          <p:nvPr/>
        </p:nvSpPr>
        <p:spPr>
          <a:xfrm>
            <a:off x="2474645" y="3635928"/>
            <a:ext cx="904493"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5201942" y="3632221"/>
            <a:ext cx="894693"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10</a:t>
            </a:r>
            <a:endParaRPr b="0" i="0" sz="1800" u="none" cap="none" strike="noStrike">
              <a:solidFill>
                <a:schemeClr val="dk1"/>
              </a:solidFill>
              <a:latin typeface="Calibri"/>
              <a:ea typeface="Calibri"/>
              <a:cs typeface="Calibri"/>
              <a:sym typeface="Calibri"/>
            </a:endParaRPr>
          </a:p>
        </p:txBody>
      </p:sp>
      <p:sp>
        <p:nvSpPr>
          <p:cNvPr id="138" name="Google Shape;138;p16"/>
          <p:cNvSpPr txBox="1"/>
          <p:nvPr/>
        </p:nvSpPr>
        <p:spPr>
          <a:xfrm>
            <a:off x="4305377" y="3636517"/>
            <a:ext cx="885824"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8</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3389045" y="3631351"/>
            <a:ext cx="907097"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6</a:t>
            </a:r>
            <a:endParaRPr b="0" i="0" sz="1800" u="none" cap="none" strike="noStrike">
              <a:solidFill>
                <a:schemeClr val="dk1"/>
              </a:solidFill>
              <a:latin typeface="Calibri"/>
              <a:ea typeface="Calibri"/>
              <a:cs typeface="Calibri"/>
              <a:sym typeface="Calibri"/>
            </a:endParaRPr>
          </a:p>
        </p:txBody>
      </p:sp>
      <p:sp>
        <p:nvSpPr>
          <p:cNvPr id="140" name="Google Shape;140;p16"/>
          <p:cNvSpPr txBox="1"/>
          <p:nvPr/>
        </p:nvSpPr>
        <p:spPr>
          <a:xfrm>
            <a:off x="8901031" y="4557178"/>
            <a:ext cx="821059"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alibri"/>
                <a:ea typeface="Calibri"/>
                <a:cs typeface="Calibri"/>
                <a:sym typeface="Calibri"/>
              </a:rPr>
              <a:t>17&lt; 18</a:t>
            </a:r>
            <a:endParaRPr b="1" i="0" sz="1800" u="none" cap="none" strike="noStrike">
              <a:solidFill>
                <a:srgbClr val="FF0000"/>
              </a:solidFill>
              <a:latin typeface="Calibri"/>
              <a:ea typeface="Calibri"/>
              <a:cs typeface="Calibri"/>
              <a:sym typeface="Calibri"/>
            </a:endParaRPr>
          </a:p>
        </p:txBody>
      </p:sp>
      <p:sp>
        <p:nvSpPr>
          <p:cNvPr id="141" name="Google Shape;141;p16"/>
          <p:cNvSpPr txBox="1"/>
          <p:nvPr/>
        </p:nvSpPr>
        <p:spPr>
          <a:xfrm>
            <a:off x="831852" y="687512"/>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Ternary Search</a:t>
            </a:r>
            <a:endParaRPr b="0" i="0" sz="4400" u="none" cap="none" strike="noStrike">
              <a:solidFill>
                <a:schemeClr val="dk1"/>
              </a:solidFill>
              <a:latin typeface="Calibri"/>
              <a:ea typeface="Calibri"/>
              <a:cs typeface="Calibri"/>
              <a:sym typeface="Calibri"/>
            </a:endParaRPr>
          </a:p>
        </p:txBody>
      </p:sp>
      <p:sp>
        <p:nvSpPr>
          <p:cNvPr id="142" name="Google Shape;142;p16"/>
          <p:cNvSpPr txBox="1"/>
          <p:nvPr/>
        </p:nvSpPr>
        <p:spPr>
          <a:xfrm>
            <a:off x="845500" y="1259401"/>
            <a:ext cx="4583753"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000000"/>
              </a:buClr>
              <a:buSzPts val="2400"/>
              <a:buFont typeface="Arial"/>
              <a:buNone/>
            </a:pPr>
            <a:r>
              <a:rPr b="0" i="0" lang="en-US" sz="2400" u="none" cap="none" strike="noStrike">
                <a:solidFill>
                  <a:srgbClr val="7F7F7F"/>
                </a:solidFill>
                <a:latin typeface="Calibri"/>
                <a:ea typeface="Calibri"/>
                <a:cs typeface="Calibri"/>
                <a:sym typeface="Calibri"/>
              </a:rPr>
              <a:t>Simulation</a:t>
            </a:r>
            <a:endParaRPr b="0" i="0" sz="2400" u="none" cap="none" strike="noStrike">
              <a:solidFill>
                <a:srgbClr val="7F7F7F"/>
              </a:solidFill>
              <a:latin typeface="Calibri"/>
              <a:ea typeface="Calibri"/>
              <a:cs typeface="Calibri"/>
              <a:sym typeface="Calibri"/>
            </a:endParaRPr>
          </a:p>
        </p:txBody>
      </p:sp>
      <p:sp>
        <p:nvSpPr>
          <p:cNvPr id="143" name="Google Shape;143;p16"/>
          <p:cNvSpPr txBox="1"/>
          <p:nvPr/>
        </p:nvSpPr>
        <p:spPr>
          <a:xfrm>
            <a:off x="6105266" y="3627005"/>
            <a:ext cx="901622"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12</a:t>
            </a:r>
            <a:endParaRPr b="0" i="0" sz="1800" u="none" cap="none" strike="noStrike">
              <a:solidFill>
                <a:schemeClr val="dk1"/>
              </a:solidFill>
              <a:latin typeface="Calibri"/>
              <a:ea typeface="Calibri"/>
              <a:cs typeface="Calibri"/>
              <a:sym typeface="Calibri"/>
            </a:endParaRPr>
          </a:p>
        </p:txBody>
      </p:sp>
      <p:sp>
        <p:nvSpPr>
          <p:cNvPr id="144" name="Google Shape;144;p16"/>
          <p:cNvSpPr txBox="1"/>
          <p:nvPr/>
        </p:nvSpPr>
        <p:spPr>
          <a:xfrm>
            <a:off x="7017829" y="3626806"/>
            <a:ext cx="903459"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14</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9730569" y="3623099"/>
            <a:ext cx="894163"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20</a:t>
            </a:r>
            <a:endParaRPr b="0" i="0" sz="1800" u="none" cap="none" strike="noStrike">
              <a:solidFill>
                <a:schemeClr val="dk1"/>
              </a:solidFill>
              <a:latin typeface="Calibri"/>
              <a:ea typeface="Calibri"/>
              <a:cs typeface="Calibri"/>
              <a:sym typeface="Calibri"/>
            </a:endParaRPr>
          </a:p>
        </p:txBody>
      </p:sp>
      <p:sp>
        <p:nvSpPr>
          <p:cNvPr id="146" name="Google Shape;146;p16"/>
          <p:cNvSpPr txBox="1"/>
          <p:nvPr/>
        </p:nvSpPr>
        <p:spPr>
          <a:xfrm>
            <a:off x="8821942" y="3619444"/>
            <a:ext cx="904292"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18</a:t>
            </a:r>
            <a:endParaRPr b="0" i="0" sz="1800" u="none" cap="none" strike="noStrike">
              <a:solidFill>
                <a:schemeClr val="dk1"/>
              </a:solidFill>
              <a:latin typeface="Calibri"/>
              <a:ea typeface="Calibri"/>
              <a:cs typeface="Calibri"/>
              <a:sym typeface="Calibri"/>
            </a:endParaRPr>
          </a:p>
        </p:txBody>
      </p:sp>
      <p:sp>
        <p:nvSpPr>
          <p:cNvPr id="147" name="Google Shape;147;p16"/>
          <p:cNvSpPr txBox="1"/>
          <p:nvPr/>
        </p:nvSpPr>
        <p:spPr>
          <a:xfrm>
            <a:off x="7933154" y="3622229"/>
            <a:ext cx="878680"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16</a:t>
            </a:r>
            <a:endParaRPr b="0" i="0" sz="1800" u="none" cap="none" strike="noStrike">
              <a:solidFill>
                <a:schemeClr val="dk1"/>
              </a:solidFill>
              <a:latin typeface="Calibri"/>
              <a:ea typeface="Calibri"/>
              <a:cs typeface="Calibri"/>
              <a:sym typeface="Calibri"/>
            </a:endParaRPr>
          </a:p>
        </p:txBody>
      </p:sp>
      <p:sp>
        <p:nvSpPr>
          <p:cNvPr id="148" name="Google Shape;148;p16"/>
          <p:cNvSpPr txBox="1"/>
          <p:nvPr/>
        </p:nvSpPr>
        <p:spPr>
          <a:xfrm>
            <a:off x="9998441" y="2491699"/>
            <a:ext cx="32861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r</a:t>
            </a:r>
            <a:endParaRPr b="0" i="0" sz="1400" u="none" cap="none" strike="noStrike">
              <a:solidFill>
                <a:srgbClr val="000000"/>
              </a:solidFill>
              <a:latin typeface="Arial"/>
              <a:ea typeface="Arial"/>
              <a:cs typeface="Arial"/>
              <a:sym typeface="Arial"/>
            </a:endParaRPr>
          </a:p>
        </p:txBody>
      </p:sp>
      <p:sp>
        <p:nvSpPr>
          <p:cNvPr id="149" name="Google Shape;149;p16"/>
          <p:cNvSpPr txBox="1"/>
          <p:nvPr/>
        </p:nvSpPr>
        <p:spPr>
          <a:xfrm>
            <a:off x="7021578" y="2495819"/>
            <a:ext cx="100330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mid2</a:t>
            </a:r>
            <a:endParaRPr b="0" i="0" sz="1800" u="none" cap="none" strike="noStrike">
              <a:solidFill>
                <a:schemeClr val="dk1"/>
              </a:solidFill>
              <a:latin typeface="Courgette"/>
              <a:ea typeface="Courgette"/>
              <a:cs typeface="Courgette"/>
              <a:sym typeface="Courgette"/>
            </a:endParaRPr>
          </a:p>
        </p:txBody>
      </p:sp>
      <p:sp>
        <p:nvSpPr>
          <p:cNvPr id="150" name="Google Shape;150;p16"/>
          <p:cNvSpPr/>
          <p:nvPr/>
        </p:nvSpPr>
        <p:spPr>
          <a:xfrm>
            <a:off x="6182436" y="750627"/>
            <a:ext cx="1624084" cy="1282889"/>
          </a:xfrm>
          <a:prstGeom prst="wedgeEllipseCallout">
            <a:avLst>
              <a:gd fmla="val -20833" name="adj1"/>
              <a:gd fmla="val 625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 name="Google Shape;151;p16"/>
          <p:cNvSpPr txBox="1"/>
          <p:nvPr/>
        </p:nvSpPr>
        <p:spPr>
          <a:xfrm>
            <a:off x="6455391" y="1078173"/>
            <a:ext cx="114948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Searching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for 17</a:t>
            </a:r>
            <a:endParaRPr b="0" i="0" sz="1400" u="none" cap="none" strike="noStrike">
              <a:solidFill>
                <a:srgbClr val="000000"/>
              </a:solidFill>
              <a:latin typeface="Arial"/>
              <a:ea typeface="Arial"/>
              <a:cs typeface="Arial"/>
              <a:sym typeface="Arial"/>
            </a:endParaRPr>
          </a:p>
        </p:txBody>
      </p:sp>
      <p:sp>
        <p:nvSpPr>
          <p:cNvPr id="152" name="Google Shape;152;p16"/>
          <p:cNvSpPr txBox="1"/>
          <p:nvPr/>
        </p:nvSpPr>
        <p:spPr>
          <a:xfrm>
            <a:off x="8191171" y="2509467"/>
            <a:ext cx="32861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l</a:t>
            </a:r>
            <a:endParaRPr b="0" i="0" sz="1800" u="none" cap="none" strike="noStrike">
              <a:solidFill>
                <a:schemeClr val="dk1"/>
              </a:solidFill>
              <a:latin typeface="Courgette"/>
              <a:ea typeface="Courgette"/>
              <a:cs typeface="Courgette"/>
              <a:sym typeface="Courgette"/>
            </a:endParaRPr>
          </a:p>
        </p:txBody>
      </p:sp>
      <p:sp>
        <p:nvSpPr>
          <p:cNvPr id="153" name="Google Shape;153;p16"/>
          <p:cNvSpPr txBox="1"/>
          <p:nvPr/>
        </p:nvSpPr>
        <p:spPr>
          <a:xfrm>
            <a:off x="7908622" y="1922640"/>
            <a:ext cx="88281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mid1</a:t>
            </a:r>
            <a:endParaRPr b="0" i="0" sz="1800" u="none" cap="none" strike="noStrike">
              <a:solidFill>
                <a:schemeClr val="dk1"/>
              </a:solidFill>
              <a:latin typeface="Courgette"/>
              <a:ea typeface="Courgette"/>
              <a:cs typeface="Courgette"/>
              <a:sym typeface="Courgette"/>
            </a:endParaRPr>
          </a:p>
        </p:txBody>
      </p:sp>
      <p:sp>
        <p:nvSpPr>
          <p:cNvPr id="154" name="Google Shape;154;p16"/>
          <p:cNvSpPr txBox="1"/>
          <p:nvPr/>
        </p:nvSpPr>
        <p:spPr>
          <a:xfrm>
            <a:off x="9712461" y="1938535"/>
            <a:ext cx="100330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mid2</a:t>
            </a:r>
            <a:endParaRPr b="0" i="0" sz="1800" u="none" cap="none" strike="noStrike">
              <a:solidFill>
                <a:schemeClr val="dk1"/>
              </a:solidFill>
              <a:latin typeface="Courgette"/>
              <a:ea typeface="Courgette"/>
              <a:cs typeface="Courgette"/>
              <a:sym typeface="Courgette"/>
            </a:endParaRPr>
          </a:p>
        </p:txBody>
      </p:sp>
      <p:sp>
        <p:nvSpPr>
          <p:cNvPr id="155" name="Google Shape;155;p16"/>
          <p:cNvSpPr/>
          <p:nvPr/>
        </p:nvSpPr>
        <p:spPr>
          <a:xfrm>
            <a:off x="8183284" y="3987380"/>
            <a:ext cx="462188" cy="523724"/>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p16"/>
          <p:cNvSpPr/>
          <p:nvPr/>
        </p:nvSpPr>
        <p:spPr>
          <a:xfrm>
            <a:off x="9957494" y="4001029"/>
            <a:ext cx="462188" cy="523724"/>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p16"/>
          <p:cNvSpPr txBox="1"/>
          <p:nvPr/>
        </p:nvSpPr>
        <p:spPr>
          <a:xfrm>
            <a:off x="9135155" y="2498091"/>
            <a:ext cx="32861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l</a:t>
            </a:r>
            <a:endParaRPr b="0" i="0" sz="1800" u="none" cap="none" strike="noStrike">
              <a:solidFill>
                <a:schemeClr val="dk1"/>
              </a:solidFill>
              <a:latin typeface="Courgette"/>
              <a:ea typeface="Courgette"/>
              <a:cs typeface="Courgette"/>
              <a:sym typeface="Courgette"/>
            </a:endParaRPr>
          </a:p>
        </p:txBody>
      </p:sp>
      <p:sp>
        <p:nvSpPr>
          <p:cNvPr id="158" name="Google Shape;158;p16"/>
          <p:cNvSpPr txBox="1"/>
          <p:nvPr/>
        </p:nvSpPr>
        <p:spPr>
          <a:xfrm>
            <a:off x="9168185" y="2016291"/>
            <a:ext cx="32861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r</a:t>
            </a:r>
            <a:endParaRPr b="0" i="0" sz="1400" u="none" cap="none" strike="noStrike">
              <a:solidFill>
                <a:srgbClr val="000000"/>
              </a:solidFill>
              <a:latin typeface="Arial"/>
              <a:ea typeface="Arial"/>
              <a:cs typeface="Arial"/>
              <a:sym typeface="Arial"/>
            </a:endParaRPr>
          </a:p>
        </p:txBody>
      </p:sp>
      <p:sp>
        <p:nvSpPr>
          <p:cNvPr id="159" name="Google Shape;159;p16"/>
          <p:cNvSpPr txBox="1"/>
          <p:nvPr/>
        </p:nvSpPr>
        <p:spPr>
          <a:xfrm>
            <a:off x="8838958" y="1542768"/>
            <a:ext cx="88281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mid1</a:t>
            </a:r>
            <a:endParaRPr b="0" i="0" sz="1800" u="none" cap="none" strike="noStrike">
              <a:solidFill>
                <a:schemeClr val="dk1"/>
              </a:solidFill>
              <a:latin typeface="Courgette"/>
              <a:ea typeface="Courgette"/>
              <a:cs typeface="Courgette"/>
              <a:sym typeface="Courgette"/>
            </a:endParaRPr>
          </a:p>
        </p:txBody>
      </p:sp>
      <p:sp>
        <p:nvSpPr>
          <p:cNvPr id="160" name="Google Shape;160;p16"/>
          <p:cNvSpPr txBox="1"/>
          <p:nvPr/>
        </p:nvSpPr>
        <p:spPr>
          <a:xfrm>
            <a:off x="8841261" y="1067335"/>
            <a:ext cx="100330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mid2</a:t>
            </a:r>
            <a:endParaRPr b="0" i="0" sz="1800" u="none" cap="none" strike="noStrike">
              <a:solidFill>
                <a:schemeClr val="dk1"/>
              </a:solidFill>
              <a:latin typeface="Courgette"/>
              <a:ea typeface="Courgette"/>
              <a:cs typeface="Courgette"/>
              <a:sym typeface="Courgette"/>
            </a:endParaRPr>
          </a:p>
        </p:txBody>
      </p:sp>
      <p:sp>
        <p:nvSpPr>
          <p:cNvPr id="161" name="Google Shape;161;p16"/>
          <p:cNvSpPr txBox="1"/>
          <p:nvPr/>
        </p:nvSpPr>
        <p:spPr>
          <a:xfrm>
            <a:off x="8267417" y="2507619"/>
            <a:ext cx="32861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ourgette"/>
                <a:ea typeface="Courgette"/>
                <a:cs typeface="Courgette"/>
                <a:sym typeface="Courgette"/>
              </a:rPr>
              <a:t>r</a:t>
            </a:r>
            <a:endParaRPr b="0" i="0" sz="1400" u="none" cap="none" strike="noStrike">
              <a:solidFill>
                <a:srgbClr val="000000"/>
              </a:solidFill>
              <a:latin typeface="Arial"/>
              <a:ea typeface="Arial"/>
              <a:cs typeface="Arial"/>
              <a:sym typeface="Arial"/>
            </a:endParaRPr>
          </a:p>
        </p:txBody>
      </p:sp>
      <p:sp>
        <p:nvSpPr>
          <p:cNvPr id="162" name="Google Shape;162;p16"/>
          <p:cNvSpPr/>
          <p:nvPr/>
        </p:nvSpPr>
        <p:spPr>
          <a:xfrm>
            <a:off x="9059028" y="4003300"/>
            <a:ext cx="462188" cy="523724"/>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3" name="Google Shape;163;p16"/>
          <p:cNvSpPr txBox="1"/>
          <p:nvPr/>
        </p:nvSpPr>
        <p:spPr>
          <a:xfrm>
            <a:off x="8054871" y="4557179"/>
            <a:ext cx="768159"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alibri"/>
                <a:ea typeface="Calibri"/>
                <a:cs typeface="Calibri"/>
                <a:sym typeface="Calibri"/>
              </a:rPr>
              <a:t>17&gt;16</a:t>
            </a:r>
            <a:endParaRPr b="1" i="0" sz="1800" u="none" cap="none" strike="noStrike">
              <a:solidFill>
                <a:srgbClr val="FF0000"/>
              </a:solidFill>
              <a:latin typeface="Calibri"/>
              <a:ea typeface="Calibri"/>
              <a:cs typeface="Calibri"/>
              <a:sym typeface="Calibri"/>
            </a:endParaRPr>
          </a:p>
        </p:txBody>
      </p:sp>
      <p:sp>
        <p:nvSpPr>
          <p:cNvPr id="164" name="Google Shape;164;p16"/>
          <p:cNvSpPr txBox="1"/>
          <p:nvPr/>
        </p:nvSpPr>
        <p:spPr>
          <a:xfrm>
            <a:off x="9801815" y="4557179"/>
            <a:ext cx="768159"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alibri"/>
                <a:ea typeface="Calibri"/>
                <a:cs typeface="Calibri"/>
                <a:sym typeface="Calibri"/>
              </a:rPr>
              <a:t>17&lt;20</a:t>
            </a:r>
            <a:endParaRPr b="1" i="0" sz="1800" u="none" cap="none" strike="noStrike">
              <a:solidFill>
                <a:srgbClr val="FF0000"/>
              </a:solidFill>
              <a:latin typeface="Calibri"/>
              <a:ea typeface="Calibri"/>
              <a:cs typeface="Calibri"/>
              <a:sym typeface="Calibri"/>
            </a:endParaRPr>
          </a:p>
        </p:txBody>
      </p:sp>
      <p:sp>
        <p:nvSpPr>
          <p:cNvPr id="165" name="Google Shape;165;p16"/>
          <p:cNvSpPr/>
          <p:nvPr/>
        </p:nvSpPr>
        <p:spPr>
          <a:xfrm>
            <a:off x="8024884" y="2388357"/>
            <a:ext cx="1501253" cy="723333"/>
          </a:xfrm>
          <a:prstGeom prst="ellipse">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bracu_logo.png" id="166" name="Google Shape;166;p16"/>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9"/>
                                        </p:tgtEl>
                                      </p:cBhvr>
                                    </p:animEffect>
                                    <p:set>
                                      <p:cBhvr>
                                        <p:cTn dur="1" fill="hold">
                                          <p:stCondLst>
                                            <p:cond delay="500"/>
                                          </p:stCondLst>
                                        </p:cTn>
                                        <p:tgtEl>
                                          <p:spTgt spid="12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0"/>
                                        </p:tgtEl>
                                      </p:cBhvr>
                                    </p:animEffect>
                                    <p:set>
                                      <p:cBhvr>
                                        <p:cTn dur="1" fill="hold">
                                          <p:stCondLst>
                                            <p:cond delay="500"/>
                                          </p:stCondLst>
                                        </p:cTn>
                                        <p:tgtEl>
                                          <p:spTgt spid="13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9"/>
                                        </p:tgtEl>
                                      </p:cBhvr>
                                    </p:animEffect>
                                    <p:set>
                                      <p:cBhvr>
                                        <p:cTn dur="1" fill="hold">
                                          <p:stCondLst>
                                            <p:cond delay="500"/>
                                          </p:stCondLst>
                                        </p:cTn>
                                        <p:tgtEl>
                                          <p:spTgt spid="14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1"/>
                                        </p:tgtEl>
                                      </p:cBhvr>
                                    </p:animEffect>
                                    <p:set>
                                      <p:cBhvr>
                                        <p:cTn dur="1" fill="hold">
                                          <p:stCondLst>
                                            <p:cond delay="500"/>
                                          </p:stCondLst>
                                        </p:cTn>
                                        <p:tgtEl>
                                          <p:spTgt spid="13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3"/>
                                        </p:tgtEl>
                                      </p:cBhvr>
                                    </p:animEffect>
                                    <p:set>
                                      <p:cBhvr>
                                        <p:cTn dur="1" fill="hold">
                                          <p:stCondLst>
                                            <p:cond delay="500"/>
                                          </p:stCondLst>
                                        </p:cTn>
                                        <p:tgtEl>
                                          <p:spTgt spid="13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2"/>
                                        </p:tgtEl>
                                      </p:cBhvr>
                                    </p:animEffect>
                                    <p:set>
                                      <p:cBhvr>
                                        <p:cTn dur="1" fill="hold">
                                          <p:stCondLst>
                                            <p:cond delay="500"/>
                                          </p:stCondLst>
                                        </p:cTn>
                                        <p:tgtEl>
                                          <p:spTgt spid="13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4"/>
                                        </p:tgtEl>
                                      </p:cBhvr>
                                    </p:animEffect>
                                    <p:set>
                                      <p:cBhvr>
                                        <p:cTn dur="1" fill="hold">
                                          <p:stCondLst>
                                            <p:cond delay="500"/>
                                          </p:stCondLst>
                                        </p:cTn>
                                        <p:tgtEl>
                                          <p:spTgt spid="1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2"/>
                                        </p:tgtEl>
                                      </p:cBhvr>
                                    </p:animEffect>
                                    <p:set>
                                      <p:cBhvr>
                                        <p:cTn dur="1" fill="hold">
                                          <p:stCondLst>
                                            <p:cond delay="500"/>
                                          </p:stCondLst>
                                        </p:cTn>
                                        <p:tgtEl>
                                          <p:spTgt spid="15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8"/>
                                        </p:tgtEl>
                                      </p:cBhvr>
                                    </p:animEffect>
                                    <p:set>
                                      <p:cBhvr>
                                        <p:cTn dur="1" fill="hold">
                                          <p:stCondLst>
                                            <p:cond delay="500"/>
                                          </p:stCondLst>
                                        </p:cTn>
                                        <p:tgtEl>
                                          <p:spTgt spid="14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5"/>
                                        </p:tgtEl>
                                      </p:cBhvr>
                                    </p:animEffect>
                                    <p:set>
                                      <p:cBhvr>
                                        <p:cTn dur="1" fill="hold">
                                          <p:stCondLst>
                                            <p:cond delay="500"/>
                                          </p:stCondLst>
                                        </p:cTn>
                                        <p:tgtEl>
                                          <p:spTgt spid="15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6"/>
                                        </p:tgtEl>
                                      </p:cBhvr>
                                    </p:animEffect>
                                    <p:set>
                                      <p:cBhvr>
                                        <p:cTn dur="1" fill="hold">
                                          <p:stCondLst>
                                            <p:cond delay="500"/>
                                          </p:stCondLst>
                                        </p:cTn>
                                        <p:tgtEl>
                                          <p:spTgt spid="15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3"/>
                                        </p:tgtEl>
                                      </p:cBhvr>
                                    </p:animEffect>
                                    <p:set>
                                      <p:cBhvr>
                                        <p:cTn dur="1" fill="hold">
                                          <p:stCondLst>
                                            <p:cond delay="500"/>
                                          </p:stCondLst>
                                        </p:cTn>
                                        <p:tgtEl>
                                          <p:spTgt spid="16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4"/>
                                        </p:tgtEl>
                                      </p:cBhvr>
                                    </p:animEffect>
                                    <p:set>
                                      <p:cBhvr>
                                        <p:cTn dur="1" fill="hold">
                                          <p:stCondLst>
                                            <p:cond delay="500"/>
                                          </p:stCondLst>
                                        </p:cTn>
                                        <p:tgtEl>
                                          <p:spTgt spid="16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
                                        </p:tgtEl>
                                      </p:cBhvr>
                                    </p:animEffect>
                                    <p:set>
                                      <p:cBhvr>
                                        <p:cTn dur="1" fill="hold">
                                          <p:stCondLst>
                                            <p:cond delay="500"/>
                                          </p:stCondLst>
                                        </p:cTn>
                                        <p:tgtEl>
                                          <p:spTgt spid="1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4"/>
                                        </p:tgtEl>
                                      </p:cBhvr>
                                    </p:animEffect>
                                    <p:set>
                                      <p:cBhvr>
                                        <p:cTn dur="1" fill="hold">
                                          <p:stCondLst>
                                            <p:cond delay="500"/>
                                          </p:stCondLst>
                                        </p:cTn>
                                        <p:tgtEl>
                                          <p:spTgt spid="1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8"/>
                                        </p:tgtEl>
                                      </p:cBhvr>
                                    </p:animEffect>
                                    <p:set>
                                      <p:cBhvr>
                                        <p:cTn dur="1" fill="hold">
                                          <p:stCondLst>
                                            <p:cond delay="500"/>
                                          </p:stCondLst>
                                        </p:cTn>
                                        <p:tgtEl>
                                          <p:spTgt spid="15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7"/>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sp>
        <p:nvSpPr>
          <p:cNvPr id="172" name="Google Shape;172;p17"/>
          <p:cNvSpPr txBox="1"/>
          <p:nvPr/>
        </p:nvSpPr>
        <p:spPr>
          <a:xfrm>
            <a:off x="831852" y="687512"/>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Ternary Search</a:t>
            </a:r>
            <a:endParaRPr b="0" i="0" sz="4400" u="none" cap="none" strike="noStrike">
              <a:solidFill>
                <a:schemeClr val="dk1"/>
              </a:solidFill>
              <a:latin typeface="Calibri"/>
              <a:ea typeface="Calibri"/>
              <a:cs typeface="Calibri"/>
              <a:sym typeface="Calibri"/>
            </a:endParaRPr>
          </a:p>
        </p:txBody>
      </p:sp>
      <p:sp>
        <p:nvSpPr>
          <p:cNvPr id="173" name="Google Shape;173;p17"/>
          <p:cNvSpPr txBox="1"/>
          <p:nvPr/>
        </p:nvSpPr>
        <p:spPr>
          <a:xfrm>
            <a:off x="845500" y="1259401"/>
            <a:ext cx="4583753"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000000"/>
              </a:buClr>
              <a:buSzPts val="2400"/>
              <a:buFont typeface="Arial"/>
              <a:buNone/>
            </a:pPr>
            <a:r>
              <a:rPr b="0" i="0" lang="en-US" sz="2400" u="none" cap="none" strike="noStrike">
                <a:solidFill>
                  <a:srgbClr val="7F7F7F"/>
                </a:solidFill>
                <a:latin typeface="Calibri"/>
                <a:ea typeface="Calibri"/>
                <a:cs typeface="Calibri"/>
                <a:sym typeface="Calibri"/>
              </a:rPr>
              <a:t>Time Complexity (Iterative)</a:t>
            </a:r>
            <a:endParaRPr b="0" i="0" sz="2400" u="none" cap="none" strike="noStrike">
              <a:solidFill>
                <a:srgbClr val="7F7F7F"/>
              </a:solidFill>
              <a:latin typeface="Calibri"/>
              <a:ea typeface="Calibri"/>
              <a:cs typeface="Calibri"/>
              <a:sym typeface="Calibri"/>
            </a:endParaRPr>
          </a:p>
        </p:txBody>
      </p:sp>
      <p:sp>
        <p:nvSpPr>
          <p:cNvPr id="174" name="Google Shape;174;p17"/>
          <p:cNvSpPr txBox="1"/>
          <p:nvPr/>
        </p:nvSpPr>
        <p:spPr>
          <a:xfrm>
            <a:off x="928686" y="1771640"/>
            <a:ext cx="3287054" cy="40934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We have already learnt or at least got a good idea to find the time complexity of divide and conquer problems from the binary search slide. Refer to the algorithm and simulation of ternary search, you must get the concept that this and the binary search are almost the same saving the fact that at each step the problem size (range) is reducing by factor of 3. </a:t>
            </a:r>
            <a:endParaRPr b="0" i="0" sz="2000" u="none" cap="none" strike="noStrike">
              <a:solidFill>
                <a:schemeClr val="dk1"/>
              </a:solidFill>
              <a:latin typeface="Calibri"/>
              <a:ea typeface="Calibri"/>
              <a:cs typeface="Calibri"/>
              <a:sym typeface="Calibri"/>
            </a:endParaRPr>
          </a:p>
        </p:txBody>
      </p:sp>
      <p:sp>
        <p:nvSpPr>
          <p:cNvPr id="175" name="Google Shape;175;p17"/>
          <p:cNvSpPr txBox="1"/>
          <p:nvPr/>
        </p:nvSpPr>
        <p:spPr>
          <a:xfrm>
            <a:off x="4481630" y="1795447"/>
            <a:ext cx="3371851"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Initially the domain of search was the entire array of length </a:t>
            </a:r>
            <a:r>
              <a:rPr b="1" i="1" lang="en-US" sz="2000" u="none" cap="none" strike="noStrike">
                <a:solidFill>
                  <a:schemeClr val="dk1"/>
                </a:solidFill>
                <a:latin typeface="Calibri"/>
                <a:ea typeface="Calibri"/>
                <a:cs typeface="Calibri"/>
                <a:sym typeface="Calibri"/>
              </a:rPr>
              <a:t>n</a:t>
            </a:r>
            <a:r>
              <a:rPr b="0" i="0" lang="en-US" sz="2000" u="none" cap="none" strike="noStrike">
                <a:solidFill>
                  <a:schemeClr val="dk1"/>
                </a:solidFill>
                <a:latin typeface="Calibri"/>
                <a:ea typeface="Calibri"/>
                <a:cs typeface="Calibri"/>
                <a:sym typeface="Calibri"/>
              </a:rPr>
              <a:t>. At each step the search space was getting smaller by factor of 3 until 1 or 0. Find the running is same as binary search.</a:t>
            </a:r>
            <a:endParaRPr b="0" i="0" sz="2000" u="none" cap="none" strike="noStrike">
              <a:solidFill>
                <a:schemeClr val="dk1"/>
              </a:solidFill>
              <a:latin typeface="Calibri"/>
              <a:ea typeface="Calibri"/>
              <a:cs typeface="Calibri"/>
              <a:sym typeface="Calibri"/>
            </a:endParaRPr>
          </a:p>
        </p:txBody>
      </p:sp>
      <p:graphicFrame>
        <p:nvGraphicFramePr>
          <p:cNvPr id="176" name="Google Shape;176;p17"/>
          <p:cNvGraphicFramePr/>
          <p:nvPr/>
        </p:nvGraphicFramePr>
        <p:xfrm>
          <a:off x="8172455" y="1905530"/>
          <a:ext cx="3000000" cy="3000000"/>
        </p:xfrm>
        <a:graphic>
          <a:graphicData uri="http://schemas.openxmlformats.org/drawingml/2006/table">
            <a:tbl>
              <a:tblPr bandRow="1" firstRow="1">
                <a:noFill/>
                <a:tableStyleId>{9BB62D57-32EB-4574-9254-231CF4C65C5C}</a:tableStyleId>
              </a:tblPr>
              <a:tblGrid>
                <a:gridCol w="1538275"/>
                <a:gridCol w="1538275"/>
              </a:tblGrid>
              <a:tr h="132587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Problem Size</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Step No.</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00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n</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0 </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00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n/3</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00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n/9</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2</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00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n/27</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3</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00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00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k</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descr="bracu_logo.png" id="177" name="Google Shape;177;p17"/>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8"/>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sp>
        <p:nvSpPr>
          <p:cNvPr id="183" name="Google Shape;183;p18"/>
          <p:cNvSpPr txBox="1"/>
          <p:nvPr/>
        </p:nvSpPr>
        <p:spPr>
          <a:xfrm>
            <a:off x="831852" y="687512"/>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Binary Search</a:t>
            </a:r>
            <a:endParaRPr b="0" i="0" sz="4400" u="none" cap="none" strike="noStrike">
              <a:solidFill>
                <a:schemeClr val="dk1"/>
              </a:solidFill>
              <a:latin typeface="Calibri"/>
              <a:ea typeface="Calibri"/>
              <a:cs typeface="Calibri"/>
              <a:sym typeface="Calibri"/>
            </a:endParaRPr>
          </a:p>
        </p:txBody>
      </p:sp>
      <p:sp>
        <p:nvSpPr>
          <p:cNvPr id="184" name="Google Shape;184;p18"/>
          <p:cNvSpPr txBox="1"/>
          <p:nvPr/>
        </p:nvSpPr>
        <p:spPr>
          <a:xfrm>
            <a:off x="845500" y="1259401"/>
            <a:ext cx="4583753"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000000"/>
              </a:buClr>
              <a:buSzPts val="2400"/>
              <a:buFont typeface="Arial"/>
              <a:buNone/>
            </a:pPr>
            <a:r>
              <a:rPr b="0" i="0" lang="en-US" sz="2400" u="none" cap="none" strike="noStrike">
                <a:solidFill>
                  <a:srgbClr val="7F7F7F"/>
                </a:solidFill>
                <a:latin typeface="Calibri"/>
                <a:ea typeface="Calibri"/>
                <a:cs typeface="Calibri"/>
                <a:sym typeface="Calibri"/>
              </a:rPr>
              <a:t>Time Complexity (Iterative) Contd.</a:t>
            </a:r>
            <a:endParaRPr b="0" i="0" sz="2400" u="none" cap="none" strike="noStrike">
              <a:solidFill>
                <a:srgbClr val="7F7F7F"/>
              </a:solidFill>
              <a:latin typeface="Calibri"/>
              <a:ea typeface="Calibri"/>
              <a:cs typeface="Calibri"/>
              <a:sym typeface="Calibri"/>
            </a:endParaRPr>
          </a:p>
        </p:txBody>
      </p:sp>
      <p:graphicFrame>
        <p:nvGraphicFramePr>
          <p:cNvPr id="185" name="Google Shape;185;p18"/>
          <p:cNvGraphicFramePr/>
          <p:nvPr/>
        </p:nvGraphicFramePr>
        <p:xfrm>
          <a:off x="971550" y="1855586"/>
          <a:ext cx="3000000" cy="3000000"/>
        </p:xfrm>
        <a:graphic>
          <a:graphicData uri="http://schemas.openxmlformats.org/drawingml/2006/table">
            <a:tbl>
              <a:tblPr bandRow="1" firstRow="1">
                <a:noFill/>
                <a:tableStyleId>{9BB62D57-32EB-4574-9254-231CF4C65C5C}</a:tableStyleId>
              </a:tblPr>
              <a:tblGrid>
                <a:gridCol w="1346225"/>
                <a:gridCol w="1317125"/>
                <a:gridCol w="1317125"/>
              </a:tblGrid>
              <a:tr h="12344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Problem Size</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Step No.</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Work done at each step</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n</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0 </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n/</a:t>
                      </a:r>
                      <a:r>
                        <a:rPr lang="en-US" sz="2000" u="none" cap="none" strike="noStrike">
                          <a:solidFill>
                            <a:srgbClr val="FF0000"/>
                          </a:solidFill>
                        </a:rPr>
                        <a:t>3</a:t>
                      </a:r>
                      <a:endParaRPr sz="2000" u="none" cap="none" strike="noStrike">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n/</a:t>
                      </a:r>
                      <a:r>
                        <a:rPr lang="en-US" sz="2000" u="none" cap="none" strike="noStrike">
                          <a:solidFill>
                            <a:srgbClr val="FF0000"/>
                          </a:solidFill>
                        </a:rPr>
                        <a:t>9</a:t>
                      </a:r>
                      <a:endParaRPr sz="2000" u="none" cap="none" strike="noStrike">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2</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n/</a:t>
                      </a:r>
                      <a:r>
                        <a:rPr lang="en-US" sz="2000" u="none" cap="none" strike="noStrike">
                          <a:solidFill>
                            <a:srgbClr val="FF0000"/>
                          </a:solidFill>
                        </a:rPr>
                        <a:t>27</a:t>
                      </a:r>
                      <a:endParaRPr sz="2000" u="none" cap="none" strike="noStrike">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3</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76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k</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rPr>
                        <a:t>1</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6" name="Google Shape;186;p18"/>
          <p:cNvSpPr txBox="1"/>
          <p:nvPr/>
        </p:nvSpPr>
        <p:spPr>
          <a:xfrm>
            <a:off x="5214951" y="1785928"/>
            <a:ext cx="5772149" cy="378565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It took </a:t>
            </a:r>
            <a:r>
              <a:rPr b="1" i="1" lang="en-US" sz="2000" u="none" cap="none" strike="noStrike">
                <a:solidFill>
                  <a:schemeClr val="dk1"/>
                </a:solidFill>
                <a:latin typeface="Calibri"/>
                <a:ea typeface="Calibri"/>
                <a:cs typeface="Calibri"/>
                <a:sym typeface="Calibri"/>
              </a:rPr>
              <a:t>k</a:t>
            </a:r>
            <a:r>
              <a:rPr b="0" i="0" lang="en-US" sz="2000" u="none" cap="none" strike="noStrike">
                <a:solidFill>
                  <a:schemeClr val="dk1"/>
                </a:solidFill>
                <a:latin typeface="Calibri"/>
                <a:ea typeface="Calibri"/>
                <a:cs typeface="Calibri"/>
                <a:sym typeface="Calibri"/>
              </a:rPr>
              <a:t> steps for the searching to end and work done at each step was constant. We need to find </a:t>
            </a:r>
            <a:r>
              <a:rPr b="1" i="1" lang="en-US" sz="2000" u="none" cap="none" strike="noStrike">
                <a:solidFill>
                  <a:schemeClr val="dk1"/>
                </a:solidFill>
                <a:latin typeface="Calibri"/>
                <a:ea typeface="Calibri"/>
                <a:cs typeface="Calibri"/>
                <a:sym typeface="Calibri"/>
              </a:rPr>
              <a:t>k</a:t>
            </a:r>
            <a:r>
              <a:rPr b="0" i="0" lang="en-US" sz="2000" u="none" cap="none" strike="noStrike">
                <a:solidFill>
                  <a:schemeClr val="dk1"/>
                </a:solidFill>
                <a:latin typeface="Calibri"/>
                <a:ea typeface="Calibri"/>
                <a:cs typeface="Calibri"/>
                <a:sym typeface="Calibri"/>
              </a:rPr>
              <a:t> in terms of </a:t>
            </a:r>
            <a:r>
              <a:rPr b="1" i="1" lang="en-US" sz="2000" u="none" cap="none" strike="noStrike">
                <a:solidFill>
                  <a:schemeClr val="dk1"/>
                </a:solidFill>
                <a:latin typeface="Calibri"/>
                <a:ea typeface="Calibri"/>
                <a:cs typeface="Calibri"/>
                <a:sym typeface="Calibri"/>
              </a:rPr>
              <a:t>n. </a:t>
            </a:r>
            <a:r>
              <a:rPr b="0" i="0" lang="en-US" sz="2000" u="none" cap="none" strike="noStrike">
                <a:solidFill>
                  <a:schemeClr val="dk1"/>
                </a:solidFill>
                <a:latin typeface="Calibri"/>
                <a:ea typeface="Calibri"/>
                <a:cs typeface="Calibri"/>
                <a:sym typeface="Calibri"/>
              </a:rPr>
              <a:t>If you notice the divisors of the problem size </a:t>
            </a:r>
            <a:r>
              <a:rPr b="0" i="0" lang="en-US" sz="2000" u="none" cap="none" strike="noStrike">
                <a:solidFill>
                  <a:srgbClr val="FF0000"/>
                </a:solidFill>
                <a:latin typeface="Calibri"/>
                <a:ea typeface="Calibri"/>
                <a:cs typeface="Calibri"/>
                <a:sym typeface="Calibri"/>
              </a:rPr>
              <a:t>(marked red)</a:t>
            </a:r>
            <a:r>
              <a:rPr b="0" i="0" lang="en-US" sz="2000" u="none" cap="none" strike="noStrike">
                <a:solidFill>
                  <a:schemeClr val="dk1"/>
                </a:solidFill>
                <a:latin typeface="Calibri"/>
                <a:ea typeface="Calibri"/>
                <a:cs typeface="Calibri"/>
                <a:sym typeface="Calibri"/>
              </a:rPr>
              <a:t> are all powers of 3 and we can use the step numbers as exponents. Therefore each problem size can  be written as,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Calibri"/>
                <a:ea typeface="Calibri"/>
                <a:cs typeface="Calibri"/>
                <a:sym typeface="Calibri"/>
              </a:rPr>
              <a:t>n/3^(step no.)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The last line can be written an, </a:t>
            </a:r>
            <a:r>
              <a:rPr b="1" i="1" lang="en-US" sz="2000" u="none" cap="none" strike="noStrike">
                <a:solidFill>
                  <a:schemeClr val="dk1"/>
                </a:solidFill>
                <a:latin typeface="Calibri"/>
                <a:ea typeface="Calibri"/>
                <a:cs typeface="Calibri"/>
                <a:sym typeface="Calibri"/>
              </a:rPr>
              <a:t>1 = n/3^k</a:t>
            </a: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If we solve it, we will find that </a:t>
            </a:r>
            <a:r>
              <a:rPr b="1" i="1" lang="en-US" sz="2000" u="none" cap="none" strike="noStrike">
                <a:solidFill>
                  <a:schemeClr val="dk1"/>
                </a:solidFill>
                <a:latin typeface="Calibri"/>
                <a:ea typeface="Calibri"/>
                <a:cs typeface="Calibri"/>
                <a:sym typeface="Calibri"/>
              </a:rPr>
              <a:t>k = log</a:t>
            </a:r>
            <a:r>
              <a:rPr b="1" baseline="-25000" i="1" lang="en-US" sz="2000" u="none" cap="none" strike="noStrike">
                <a:solidFill>
                  <a:schemeClr val="dk1"/>
                </a:solidFill>
                <a:latin typeface="Calibri"/>
                <a:ea typeface="Calibri"/>
                <a:cs typeface="Calibri"/>
                <a:sym typeface="Calibri"/>
              </a:rPr>
              <a:t>3</a:t>
            </a:r>
            <a:r>
              <a:rPr b="1" i="1" lang="en-US" sz="2000" u="none" cap="none" strike="noStrike">
                <a:solidFill>
                  <a:schemeClr val="dk1"/>
                </a:solidFill>
                <a:latin typeface="Calibri"/>
                <a:ea typeface="Calibri"/>
                <a:cs typeface="Calibri"/>
                <a:sym typeface="Calibri"/>
              </a:rPr>
              <a:t>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Therefore the time complexity is </a:t>
            </a:r>
            <a:r>
              <a:rPr b="1" i="1" lang="en-US" sz="2000" u="none" cap="none" strike="noStrike">
                <a:solidFill>
                  <a:schemeClr val="dk1"/>
                </a:solidFill>
                <a:latin typeface="Calibri"/>
                <a:ea typeface="Calibri"/>
                <a:cs typeface="Calibri"/>
                <a:sym typeface="Calibri"/>
              </a:rPr>
              <a:t>log</a:t>
            </a:r>
            <a:r>
              <a:rPr b="1" baseline="-25000" i="1" lang="en-US" sz="2000" u="none" cap="none" strike="noStrike">
                <a:solidFill>
                  <a:schemeClr val="dk1"/>
                </a:solidFill>
                <a:latin typeface="Calibri"/>
                <a:ea typeface="Calibri"/>
                <a:cs typeface="Calibri"/>
                <a:sym typeface="Calibri"/>
              </a:rPr>
              <a:t>3</a:t>
            </a:r>
            <a:r>
              <a:rPr b="1" i="1" lang="en-US" sz="2000" u="none" cap="none" strike="noStrike">
                <a:solidFill>
                  <a:schemeClr val="dk1"/>
                </a:solidFill>
                <a:latin typeface="Calibri"/>
                <a:ea typeface="Calibri"/>
                <a:cs typeface="Calibri"/>
                <a:sym typeface="Calibri"/>
              </a:rPr>
              <a:t>n </a:t>
            </a:r>
            <a:r>
              <a:rPr b="0" i="0" lang="en-US" sz="2000" u="none" cap="none" strike="noStrike">
                <a:solidFill>
                  <a:schemeClr val="dk1"/>
                </a:solidFill>
                <a:latin typeface="Calibri"/>
                <a:ea typeface="Calibri"/>
                <a:cs typeface="Calibri"/>
                <a:sym typeface="Calibri"/>
              </a:rPr>
              <a:t>x </a:t>
            </a:r>
            <a:r>
              <a:rPr b="1" i="1" lang="en-US" sz="2000" u="none" cap="none" strike="noStrike">
                <a:solidFill>
                  <a:schemeClr val="dk1"/>
                </a:solidFill>
                <a:latin typeface="Calibri"/>
                <a:ea typeface="Calibri"/>
                <a:cs typeface="Calibri"/>
                <a:sym typeface="Calibri"/>
              </a:rPr>
              <a:t>1</a:t>
            </a:r>
            <a:r>
              <a:rPr b="0" i="0" lang="en-US" sz="2000" u="none" cap="none" strike="noStrike">
                <a:solidFill>
                  <a:schemeClr val="dk1"/>
                </a:solidFill>
                <a:latin typeface="Calibri"/>
                <a:ea typeface="Calibri"/>
                <a:cs typeface="Calibri"/>
                <a:sym typeface="Calibri"/>
              </a:rPr>
              <a:t>, which eventually is O(</a:t>
            </a:r>
            <a:r>
              <a:rPr b="1" i="1" lang="en-US" sz="2000" u="none" cap="none" strike="noStrike">
                <a:solidFill>
                  <a:schemeClr val="dk1"/>
                </a:solidFill>
                <a:latin typeface="Calibri"/>
                <a:ea typeface="Calibri"/>
                <a:cs typeface="Calibri"/>
                <a:sym typeface="Calibri"/>
              </a:rPr>
              <a:t>log</a:t>
            </a:r>
            <a:r>
              <a:rPr b="1" baseline="-25000" i="1" lang="en-US" sz="2000" u="none" cap="none" strike="noStrike">
                <a:solidFill>
                  <a:schemeClr val="dk1"/>
                </a:solidFill>
                <a:latin typeface="Calibri"/>
                <a:ea typeface="Calibri"/>
                <a:cs typeface="Calibri"/>
                <a:sym typeface="Calibri"/>
              </a:rPr>
              <a:t>3</a:t>
            </a:r>
            <a:r>
              <a:rPr b="1" i="1" lang="en-US" sz="2000" u="none" cap="none" strike="noStrike">
                <a:solidFill>
                  <a:schemeClr val="dk1"/>
                </a:solidFill>
                <a:latin typeface="Calibri"/>
                <a:ea typeface="Calibri"/>
                <a:cs typeface="Calibri"/>
                <a:sym typeface="Calibri"/>
              </a:rPr>
              <a:t>n</a:t>
            </a: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pic>
        <p:nvPicPr>
          <p:cNvPr descr="bracu_logo.png" id="187" name="Google Shape;187;p18"/>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idx="11" type="ftr"/>
          </p:nvPr>
        </p:nvSpPr>
        <p:spPr>
          <a:xfrm>
            <a:off x="4038604" y="6356352"/>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sp>
        <p:nvSpPr>
          <p:cNvPr id="193" name="Google Shape;193;p19"/>
          <p:cNvSpPr txBox="1"/>
          <p:nvPr/>
        </p:nvSpPr>
        <p:spPr>
          <a:xfrm>
            <a:off x="831852" y="687512"/>
            <a:ext cx="5040313"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400"/>
              <a:buFont typeface="Arial"/>
              <a:buNone/>
            </a:pPr>
            <a:r>
              <a:rPr b="0" i="0" lang="en-US" sz="4400" u="none" cap="none" strike="noStrike">
                <a:solidFill>
                  <a:schemeClr val="dk1"/>
                </a:solidFill>
                <a:latin typeface="Calibri"/>
                <a:ea typeface="Calibri"/>
                <a:cs typeface="Calibri"/>
                <a:sym typeface="Calibri"/>
              </a:rPr>
              <a:t>Ternary Search</a:t>
            </a:r>
            <a:endParaRPr b="0" i="0" sz="4400" u="none" cap="none" strike="noStrike">
              <a:solidFill>
                <a:schemeClr val="dk1"/>
              </a:solidFill>
              <a:latin typeface="Calibri"/>
              <a:ea typeface="Calibri"/>
              <a:cs typeface="Calibri"/>
              <a:sym typeface="Calibri"/>
            </a:endParaRPr>
          </a:p>
        </p:txBody>
      </p:sp>
      <p:sp>
        <p:nvSpPr>
          <p:cNvPr id="194" name="Google Shape;194;p19"/>
          <p:cNvSpPr txBox="1"/>
          <p:nvPr/>
        </p:nvSpPr>
        <p:spPr>
          <a:xfrm>
            <a:off x="845500" y="1259401"/>
            <a:ext cx="4583753"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000000"/>
              </a:buClr>
              <a:buSzPts val="2400"/>
              <a:buFont typeface="Arial"/>
              <a:buNone/>
            </a:pPr>
            <a:r>
              <a:rPr b="0" i="0" lang="en-US" sz="2400" u="none" cap="none" strike="noStrike">
                <a:solidFill>
                  <a:srgbClr val="7F7F7F"/>
                </a:solidFill>
                <a:latin typeface="Calibri"/>
                <a:ea typeface="Calibri"/>
                <a:cs typeface="Calibri"/>
                <a:sym typeface="Calibri"/>
              </a:rPr>
              <a:t>Recursive</a:t>
            </a:r>
            <a:endParaRPr b="0" i="0" sz="2400" u="none" cap="none" strike="noStrike">
              <a:solidFill>
                <a:srgbClr val="7F7F7F"/>
              </a:solidFill>
              <a:latin typeface="Calibri"/>
              <a:ea typeface="Calibri"/>
              <a:cs typeface="Calibri"/>
              <a:sym typeface="Calibri"/>
            </a:endParaRPr>
          </a:p>
        </p:txBody>
      </p:sp>
      <p:sp>
        <p:nvSpPr>
          <p:cNvPr id="195" name="Google Shape;195;p19"/>
          <p:cNvSpPr/>
          <p:nvPr/>
        </p:nvSpPr>
        <p:spPr>
          <a:xfrm rot="-468752">
            <a:off x="4056867" y="927755"/>
            <a:ext cx="4706545" cy="175432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sng" cap="none" strike="noStrike">
                <a:solidFill>
                  <a:srgbClr val="FF7300"/>
                </a:solidFill>
                <a:latin typeface="Calibri"/>
                <a:ea typeface="Calibri"/>
                <a:cs typeface="Calibri"/>
                <a:sym typeface="Calibri"/>
              </a:rPr>
              <a:t>Assignment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400"/>
              <a:buFont typeface="Arial"/>
              <a:buNone/>
            </a:pPr>
            <a:r>
              <a:rPr b="1" i="0" lang="en-US" sz="5400" u="sng" cap="none" strike="noStrike">
                <a:solidFill>
                  <a:srgbClr val="FF7300"/>
                </a:solidFill>
                <a:latin typeface="Calibri"/>
                <a:ea typeface="Calibri"/>
                <a:cs typeface="Calibri"/>
                <a:sym typeface="Calibri"/>
              </a:rPr>
              <a:t>Due next week </a:t>
            </a:r>
            <a:endParaRPr b="1" i="0" sz="5400" u="sng" cap="none" strike="noStrike">
              <a:solidFill>
                <a:srgbClr val="FF7300"/>
              </a:solidFill>
              <a:latin typeface="Calibri"/>
              <a:ea typeface="Calibri"/>
              <a:cs typeface="Calibri"/>
              <a:sym typeface="Calibri"/>
            </a:endParaRPr>
          </a:p>
        </p:txBody>
      </p:sp>
      <p:sp>
        <p:nvSpPr>
          <p:cNvPr id="196" name="Google Shape;196;p19"/>
          <p:cNvSpPr txBox="1"/>
          <p:nvPr/>
        </p:nvSpPr>
        <p:spPr>
          <a:xfrm>
            <a:off x="1064525" y="3166281"/>
            <a:ext cx="8632363" cy="92333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Find the recurrence equation of ternary search.</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Solve the above equation to derive the big O of ternary search. [Draw the tree]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What do you think the running time would be if find the number in the very first loop?</a:t>
            </a:r>
            <a:endParaRPr b="0" i="0" sz="1400" u="none" cap="none" strike="noStrike">
              <a:solidFill>
                <a:srgbClr val="000000"/>
              </a:solidFill>
              <a:latin typeface="Arial"/>
              <a:ea typeface="Arial"/>
              <a:cs typeface="Arial"/>
              <a:sym typeface="Arial"/>
            </a:endParaRPr>
          </a:p>
        </p:txBody>
      </p:sp>
      <p:pic>
        <p:nvPicPr>
          <p:cNvPr descr="bracu_logo.png" id="197" name="Google Shape;197;p19"/>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