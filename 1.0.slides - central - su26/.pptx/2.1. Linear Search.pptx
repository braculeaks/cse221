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73AF57-031F-4232-ACEA-2AAF4F51EDAA}">
  <a:tblStyle styleId="{7573AF57-031F-4232-ACEA-2AAF4F51EDA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bracu_logo.png" id="89" name="Google Shape;89;p13"/>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
        <p:nvSpPr>
          <p:cNvPr id="90" name="Google Shape;90;p13"/>
          <p:cNvSpPr txBox="1"/>
          <p:nvPr/>
        </p:nvSpPr>
        <p:spPr>
          <a:xfrm>
            <a:off x="3435816" y="2101756"/>
            <a:ext cx="5479584"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CSE221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Algorithms: </a:t>
            </a:r>
            <a:r>
              <a:rPr b="0" i="1" lang="en-US" sz="3600" u="none" cap="none" strike="noStrike">
                <a:solidFill>
                  <a:schemeClr val="dk1"/>
                </a:solidFill>
                <a:latin typeface="Times New Roman"/>
                <a:ea typeface="Times New Roman"/>
                <a:cs typeface="Times New Roman"/>
                <a:sym typeface="Times New Roman"/>
              </a:rPr>
              <a:t>Linear Search</a:t>
            </a:r>
            <a:endParaRPr b="0" i="0" sz="1400" u="none" cap="none" strike="noStrike">
              <a:solidFill>
                <a:srgbClr val="000000"/>
              </a:solidFill>
              <a:latin typeface="Arial"/>
              <a:ea typeface="Arial"/>
              <a:cs typeface="Arial"/>
              <a:sym typeface="Arial"/>
            </a:endParaRPr>
          </a:p>
        </p:txBody>
      </p:sp>
      <p:sp>
        <p:nvSpPr>
          <p:cNvPr id="91" name="Google Shape;9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Linear Search</a:t>
            </a:r>
            <a:endParaRPr/>
          </a:p>
        </p:txBody>
      </p:sp>
      <p:sp>
        <p:nvSpPr>
          <p:cNvPr id="97" name="Google Shape;9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most basic searching algorithm</a:t>
            </a:r>
            <a:endParaRPr/>
          </a:p>
          <a:p>
            <a:pPr indent="-228600" lvl="0" marL="228600" rtl="0" algn="l">
              <a:lnSpc>
                <a:spcPct val="90000"/>
              </a:lnSpc>
              <a:spcBef>
                <a:spcPts val="1000"/>
              </a:spcBef>
              <a:spcAft>
                <a:spcPts val="0"/>
              </a:spcAft>
              <a:buClr>
                <a:schemeClr val="dk1"/>
              </a:buClr>
              <a:buSzPts val="2800"/>
              <a:buChar char="•"/>
            </a:pPr>
            <a:r>
              <a:rPr lang="en-US"/>
              <a:t>Given an item to search from a bucket of items, we search </a:t>
            </a:r>
            <a:r>
              <a:rPr lang="en-US" u="sng"/>
              <a:t>ONE BY ONE. </a:t>
            </a:r>
            <a:endParaRPr/>
          </a:p>
          <a:p>
            <a:pPr indent="-228600" lvl="0" marL="228600" rtl="0" algn="l">
              <a:lnSpc>
                <a:spcPct val="90000"/>
              </a:lnSpc>
              <a:spcBef>
                <a:spcPts val="1000"/>
              </a:spcBef>
              <a:spcAft>
                <a:spcPts val="0"/>
              </a:spcAft>
              <a:buClr>
                <a:schemeClr val="dk1"/>
              </a:buClr>
              <a:buSzPts val="2800"/>
              <a:buChar char="•"/>
            </a:pPr>
            <a:r>
              <a:rPr lang="en-US"/>
              <a:t>If we find then bingo! Else we look till the end of bucket. </a:t>
            </a:r>
            <a:endParaRPr/>
          </a:p>
          <a:p>
            <a:pPr indent="-228600" lvl="0" marL="228600" rtl="0" algn="l">
              <a:lnSpc>
                <a:spcPct val="90000"/>
              </a:lnSpc>
              <a:spcBef>
                <a:spcPts val="1000"/>
              </a:spcBef>
              <a:spcAft>
                <a:spcPts val="0"/>
              </a:spcAft>
              <a:buClr>
                <a:schemeClr val="dk1"/>
              </a:buClr>
              <a:buSzPts val="2800"/>
              <a:buChar char="•"/>
            </a:pPr>
            <a:r>
              <a:rPr lang="en-US"/>
              <a:t>Example: Given an array of items. We will try to find “xyz” from it using linear search.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a:t>
            </a:r>
            <a:endParaRPr/>
          </a:p>
        </p:txBody>
      </p:sp>
      <p:sp>
        <p:nvSpPr>
          <p:cNvPr id="98" name="Google Shape;9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graphicFrame>
        <p:nvGraphicFramePr>
          <p:cNvPr id="99" name="Google Shape;99;p14"/>
          <p:cNvGraphicFramePr/>
          <p:nvPr/>
        </p:nvGraphicFramePr>
        <p:xfrm>
          <a:off x="3929038" y="5373550"/>
          <a:ext cx="3000000" cy="3000000"/>
        </p:xfrm>
        <a:graphic>
          <a:graphicData uri="http://schemas.openxmlformats.org/drawingml/2006/table">
            <a:tbl>
              <a:tblPr bandRow="1" firstRow="1">
                <a:noFill/>
                <a:tableStyleId>{7573AF57-031F-4232-ACEA-2AAF4F51EDAA}</a:tableStyleId>
              </a:tblPr>
              <a:tblGrid>
                <a:gridCol w="1017100"/>
                <a:gridCol w="1015575"/>
                <a:gridCol w="1148775"/>
                <a:gridCol w="1132775"/>
              </a:tblGrid>
              <a:tr h="604175">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cxc</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00" name="Google Shape;100;p14"/>
          <p:cNvGraphicFramePr/>
          <p:nvPr/>
        </p:nvGraphicFramePr>
        <p:xfrm>
          <a:off x="3930554" y="4868584"/>
          <a:ext cx="3000000" cy="3000000"/>
        </p:xfrm>
        <a:graphic>
          <a:graphicData uri="http://schemas.openxmlformats.org/drawingml/2006/table">
            <a:tbl>
              <a:tblPr bandRow="1" firstRow="1">
                <a:noFill/>
                <a:tableStyleId>{7573AF57-031F-4232-ACEA-2AAF4F51EDAA}</a:tableStyleId>
              </a:tblPr>
              <a:tblGrid>
                <a:gridCol w="1078175"/>
                <a:gridCol w="1078175"/>
                <a:gridCol w="1078175"/>
                <a:gridCol w="107817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0</a:t>
                      </a:r>
                      <a:endParaRPr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1</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2</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3</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pic>
        <p:nvPicPr>
          <p:cNvPr descr="bracu_logo.png" id="101" name="Google Shape;101;p14"/>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Linear Search</a:t>
            </a:r>
            <a:endParaRPr/>
          </a:p>
        </p:txBody>
      </p:sp>
      <p:sp>
        <p:nvSpPr>
          <p:cNvPr id="107" name="Google Shape;10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As mentioned in the previous slide linear search is done one by one hence we start searching for “xyz” from index 0. If the items match we stop else we look for the next item in the array. </a:t>
            </a:r>
            <a:endParaRPr/>
          </a:p>
        </p:txBody>
      </p:sp>
      <p:sp>
        <p:nvSpPr>
          <p:cNvPr id="108" name="Google Shape;10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graphicFrame>
        <p:nvGraphicFramePr>
          <p:cNvPr id="109" name="Google Shape;109;p15"/>
          <p:cNvGraphicFramePr/>
          <p:nvPr/>
        </p:nvGraphicFramePr>
        <p:xfrm>
          <a:off x="3819860" y="3872295"/>
          <a:ext cx="3000000" cy="3000000"/>
        </p:xfrm>
        <a:graphic>
          <a:graphicData uri="http://schemas.openxmlformats.org/drawingml/2006/table">
            <a:tbl>
              <a:tblPr bandRow="1" firstRow="1">
                <a:noFill/>
                <a:tableStyleId>{7573AF57-031F-4232-ACEA-2AAF4F51EDAA}</a:tableStyleId>
              </a:tblPr>
              <a:tblGrid>
                <a:gridCol w="1017100"/>
                <a:gridCol w="1015575"/>
                <a:gridCol w="1148775"/>
                <a:gridCol w="1132775"/>
              </a:tblGrid>
              <a:tr h="604175">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cxc</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10" name="Google Shape;110;p15"/>
          <p:cNvGraphicFramePr/>
          <p:nvPr/>
        </p:nvGraphicFramePr>
        <p:xfrm>
          <a:off x="3807728" y="3367329"/>
          <a:ext cx="3000000" cy="3000000"/>
        </p:xfrm>
        <a:graphic>
          <a:graphicData uri="http://schemas.openxmlformats.org/drawingml/2006/table">
            <a:tbl>
              <a:tblPr bandRow="1" firstRow="1">
                <a:noFill/>
                <a:tableStyleId>{7573AF57-031F-4232-ACEA-2AAF4F51EDAA}</a:tableStyleId>
              </a:tblPr>
              <a:tblGrid>
                <a:gridCol w="1078175"/>
                <a:gridCol w="1078175"/>
                <a:gridCol w="1078175"/>
                <a:gridCol w="107817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0</a:t>
                      </a:r>
                      <a:endParaRPr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1</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2</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3</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111" name="Google Shape;111;p15"/>
          <p:cNvSpPr txBox="1"/>
          <p:nvPr/>
        </p:nvSpPr>
        <p:spPr>
          <a:xfrm>
            <a:off x="3971502" y="4531056"/>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12" name="Google Shape;112;p15"/>
          <p:cNvSpPr/>
          <p:nvPr/>
        </p:nvSpPr>
        <p:spPr>
          <a:xfrm>
            <a:off x="3835025" y="3289109"/>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15"/>
          <p:cNvSpPr txBox="1"/>
          <p:nvPr/>
        </p:nvSpPr>
        <p:spPr>
          <a:xfrm>
            <a:off x="5011011" y="4506032"/>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4874534" y="3277733"/>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15"/>
          <p:cNvSpPr txBox="1"/>
          <p:nvPr/>
        </p:nvSpPr>
        <p:spPr>
          <a:xfrm>
            <a:off x="6086912" y="4558352"/>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16" name="Google Shape;116;p15"/>
          <p:cNvSpPr/>
          <p:nvPr/>
        </p:nvSpPr>
        <p:spPr>
          <a:xfrm>
            <a:off x="5950435" y="3275461"/>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p15"/>
          <p:cNvSpPr txBox="1"/>
          <p:nvPr/>
        </p:nvSpPr>
        <p:spPr>
          <a:xfrm>
            <a:off x="7124146" y="4544704"/>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18" name="Google Shape;118;p15"/>
          <p:cNvSpPr/>
          <p:nvPr/>
        </p:nvSpPr>
        <p:spPr>
          <a:xfrm>
            <a:off x="6987669" y="3275461"/>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 name="Google Shape;119;p15"/>
          <p:cNvSpPr/>
          <p:nvPr/>
        </p:nvSpPr>
        <p:spPr>
          <a:xfrm>
            <a:off x="3990265" y="5353267"/>
            <a:ext cx="754043" cy="696035"/>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 name="Google Shape;120;p15"/>
          <p:cNvSpPr/>
          <p:nvPr/>
        </p:nvSpPr>
        <p:spPr>
          <a:xfrm>
            <a:off x="4954709" y="5324767"/>
            <a:ext cx="754043" cy="696035"/>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15"/>
          <p:cNvSpPr/>
          <p:nvPr/>
        </p:nvSpPr>
        <p:spPr>
          <a:xfrm>
            <a:off x="6078380" y="5281546"/>
            <a:ext cx="754043" cy="696035"/>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15"/>
          <p:cNvSpPr/>
          <p:nvPr/>
        </p:nvSpPr>
        <p:spPr>
          <a:xfrm>
            <a:off x="7204319" y="5305497"/>
            <a:ext cx="754043" cy="696035"/>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 name="Google Shape;123;p15"/>
          <p:cNvSpPr txBox="1"/>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Simulation (Iterative and Recursive)</a:t>
            </a:r>
            <a:endParaRPr b="0" i="0" sz="2400" u="none" cap="none" strike="noStrike">
              <a:solidFill>
                <a:srgbClr val="7F7F7F"/>
              </a:solidFill>
              <a:latin typeface="Calibri"/>
              <a:ea typeface="Calibri"/>
              <a:cs typeface="Calibri"/>
              <a:sym typeface="Calibri"/>
            </a:endParaRPr>
          </a:p>
        </p:txBody>
      </p:sp>
      <p:pic>
        <p:nvPicPr>
          <p:cNvPr descr="bracu_logo.png" id="124" name="Google Shape;124;p15"/>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Linear Search</a:t>
            </a:r>
            <a:endParaRPr/>
          </a:p>
        </p:txBody>
      </p:sp>
      <p:sp>
        <p:nvSpPr>
          <p:cNvPr id="130" name="Google Shape;13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graphicFrame>
        <p:nvGraphicFramePr>
          <p:cNvPr id="131" name="Google Shape;131;p16"/>
          <p:cNvGraphicFramePr/>
          <p:nvPr/>
        </p:nvGraphicFramePr>
        <p:xfrm>
          <a:off x="3819860" y="2766825"/>
          <a:ext cx="3000000" cy="3000000"/>
        </p:xfrm>
        <a:graphic>
          <a:graphicData uri="http://schemas.openxmlformats.org/drawingml/2006/table">
            <a:tbl>
              <a:tblPr bandRow="1" firstRow="1">
                <a:noFill/>
                <a:tableStyleId>{7573AF57-031F-4232-ACEA-2AAF4F51EDAA}</a:tableStyleId>
              </a:tblPr>
              <a:tblGrid>
                <a:gridCol w="1017100"/>
                <a:gridCol w="1015575"/>
                <a:gridCol w="1148775"/>
                <a:gridCol w="1132775"/>
              </a:tblGrid>
              <a:tr h="604175">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cxc</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xyz</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600"/>
                        <a:buFont typeface="Arial"/>
                        <a:buNone/>
                      </a:pPr>
                      <a:r>
                        <a:rPr b="0" lang="en-US" sz="3600" u="none" cap="none" strike="noStrike">
                          <a:solidFill>
                            <a:schemeClr val="dk1"/>
                          </a:solidFill>
                        </a:rPr>
                        <a:t>dfd</a:t>
                      </a:r>
                      <a:endParaRPr b="0" sz="36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32" name="Google Shape;132;p16"/>
          <p:cNvGraphicFramePr/>
          <p:nvPr/>
        </p:nvGraphicFramePr>
        <p:xfrm>
          <a:off x="3807728" y="2261859"/>
          <a:ext cx="3000000" cy="3000000"/>
        </p:xfrm>
        <a:graphic>
          <a:graphicData uri="http://schemas.openxmlformats.org/drawingml/2006/table">
            <a:tbl>
              <a:tblPr bandRow="1" firstRow="1">
                <a:noFill/>
                <a:tableStyleId>{7573AF57-031F-4232-ACEA-2AAF4F51EDAA}</a:tableStyleId>
              </a:tblPr>
              <a:tblGrid>
                <a:gridCol w="1078175"/>
                <a:gridCol w="1078175"/>
                <a:gridCol w="1078175"/>
                <a:gridCol w="107817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0</a:t>
                      </a:r>
                      <a:endParaRPr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1</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2</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3</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133" name="Google Shape;133;p16"/>
          <p:cNvSpPr txBox="1"/>
          <p:nvPr/>
        </p:nvSpPr>
        <p:spPr>
          <a:xfrm>
            <a:off x="3971502" y="3425586"/>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5011011" y="3400562"/>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35" name="Google Shape;135;p16"/>
          <p:cNvSpPr/>
          <p:nvPr/>
        </p:nvSpPr>
        <p:spPr>
          <a:xfrm>
            <a:off x="4874534" y="2172263"/>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16"/>
          <p:cNvSpPr txBox="1"/>
          <p:nvPr/>
        </p:nvSpPr>
        <p:spPr>
          <a:xfrm>
            <a:off x="6086912" y="3452882"/>
            <a:ext cx="7915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xyz</a:t>
            </a:r>
            <a:endParaRPr b="0" i="0" sz="1800" u="none" cap="none" strike="noStrike">
              <a:solidFill>
                <a:schemeClr val="dk1"/>
              </a:solidFill>
              <a:latin typeface="Calibri"/>
              <a:ea typeface="Calibri"/>
              <a:cs typeface="Calibri"/>
              <a:sym typeface="Calibri"/>
            </a:endParaRPr>
          </a:p>
        </p:txBody>
      </p:sp>
      <p:sp>
        <p:nvSpPr>
          <p:cNvPr id="137" name="Google Shape;137;p16"/>
          <p:cNvSpPr/>
          <p:nvPr/>
        </p:nvSpPr>
        <p:spPr>
          <a:xfrm>
            <a:off x="5950435" y="2169991"/>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16"/>
          <p:cNvSpPr/>
          <p:nvPr/>
        </p:nvSpPr>
        <p:spPr>
          <a:xfrm>
            <a:off x="3990265" y="4247797"/>
            <a:ext cx="754043" cy="696035"/>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16"/>
          <p:cNvSpPr/>
          <p:nvPr/>
        </p:nvSpPr>
        <p:spPr>
          <a:xfrm>
            <a:off x="4954709" y="4219297"/>
            <a:ext cx="754043" cy="696035"/>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 name="Google Shape;140;p16"/>
          <p:cNvSpPr/>
          <p:nvPr/>
        </p:nvSpPr>
        <p:spPr>
          <a:xfrm>
            <a:off x="3853220" y="2174535"/>
            <a:ext cx="1009935" cy="1929221"/>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 name="Google Shape;141;p16"/>
          <p:cNvSpPr/>
          <p:nvPr/>
        </p:nvSpPr>
        <p:spPr>
          <a:xfrm>
            <a:off x="6096000" y="4302854"/>
            <a:ext cx="518615" cy="528920"/>
          </a:xfrm>
          <a:prstGeom prst="smileyFace">
            <a:avLst>
              <a:gd fmla="val 4653" name="adj"/>
            </a:avLst>
          </a:prstGeom>
          <a:solidFill>
            <a:srgbClr val="C4E0B2"/>
          </a:solidFill>
          <a:ln cap="flat" cmpd="sng" w="38100">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 name="Google Shape;142;p16"/>
          <p:cNvSpPr txBox="1"/>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Simulation (Iterative and Recursive)</a:t>
            </a:r>
            <a:endParaRPr b="0" i="0" sz="2400" u="none" cap="none" strike="noStrike">
              <a:solidFill>
                <a:srgbClr val="7F7F7F"/>
              </a:solidFill>
              <a:latin typeface="Calibri"/>
              <a:ea typeface="Calibri"/>
              <a:cs typeface="Calibri"/>
              <a:sym typeface="Calibri"/>
            </a:endParaRPr>
          </a:p>
        </p:txBody>
      </p:sp>
      <p:pic>
        <p:nvPicPr>
          <p:cNvPr descr="bracu_logo.png" id="143" name="Google Shape;143;p16"/>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831850" y="573206"/>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Linear Search</a:t>
            </a:r>
            <a:endParaRPr sz="4400"/>
          </a:p>
        </p:txBody>
      </p:sp>
      <p:sp>
        <p:nvSpPr>
          <p:cNvPr id="149" name="Google Shape;149;p17"/>
          <p:cNvSpPr txBox="1"/>
          <p:nvPr>
            <p:ph idx="1" type="body"/>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Pseudo code (Iterative)</a:t>
            </a:r>
            <a:endParaRPr/>
          </a:p>
        </p:txBody>
      </p:sp>
      <p:sp>
        <p:nvSpPr>
          <p:cNvPr id="150" name="Google Shape;15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151" name="Google Shape;151;p17"/>
          <p:cNvSpPr txBox="1"/>
          <p:nvPr/>
        </p:nvSpPr>
        <p:spPr>
          <a:xfrm>
            <a:off x="957252" y="1814499"/>
            <a:ext cx="4746428" cy="415498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boolean linearSearch(A[], 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int i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while(i &lt; A.length){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if (A[i] matches 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return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return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cxnSp>
        <p:nvCxnSpPr>
          <p:cNvPr id="152" name="Google Shape;152;p17"/>
          <p:cNvCxnSpPr>
            <a:stCxn id="153" idx="1"/>
          </p:cNvCxnSpPr>
          <p:nvPr/>
        </p:nvCxnSpPr>
        <p:spPr>
          <a:xfrm flipH="1">
            <a:off x="3128869" y="1128711"/>
            <a:ext cx="3629100" cy="1571700"/>
          </a:xfrm>
          <a:prstGeom prst="straightConnector1">
            <a:avLst/>
          </a:prstGeom>
          <a:noFill/>
          <a:ln cap="flat" cmpd="sng" w="38100">
            <a:solidFill>
              <a:schemeClr val="dk1"/>
            </a:solidFill>
            <a:prstDash val="solid"/>
            <a:miter lim="800000"/>
            <a:headEnd len="sm" w="sm" type="none"/>
            <a:tailEnd len="med" w="med" type="stealth"/>
          </a:ln>
        </p:spPr>
      </p:cxnSp>
      <p:cxnSp>
        <p:nvCxnSpPr>
          <p:cNvPr id="154" name="Google Shape;154;p17"/>
          <p:cNvCxnSpPr>
            <a:stCxn id="155" idx="1"/>
          </p:cNvCxnSpPr>
          <p:nvPr/>
        </p:nvCxnSpPr>
        <p:spPr>
          <a:xfrm flipH="1">
            <a:off x="4386125" y="1781191"/>
            <a:ext cx="2338500" cy="1333500"/>
          </a:xfrm>
          <a:prstGeom prst="straightConnector1">
            <a:avLst/>
          </a:prstGeom>
          <a:noFill/>
          <a:ln cap="flat" cmpd="sng" w="38100">
            <a:solidFill>
              <a:schemeClr val="dk1"/>
            </a:solidFill>
            <a:prstDash val="solid"/>
            <a:miter lim="800000"/>
            <a:headEnd len="sm" w="sm" type="none"/>
            <a:tailEnd len="med" w="med" type="stealth"/>
          </a:ln>
        </p:spPr>
      </p:cxnSp>
      <p:cxnSp>
        <p:nvCxnSpPr>
          <p:cNvPr id="156" name="Google Shape;156;p17"/>
          <p:cNvCxnSpPr/>
          <p:nvPr/>
        </p:nvCxnSpPr>
        <p:spPr>
          <a:xfrm flipH="1">
            <a:off x="5529263" y="2700337"/>
            <a:ext cx="1243012" cy="657226"/>
          </a:xfrm>
          <a:prstGeom prst="straightConnector1">
            <a:avLst/>
          </a:prstGeom>
          <a:noFill/>
          <a:ln cap="flat" cmpd="sng" w="38100">
            <a:solidFill>
              <a:schemeClr val="dk1"/>
            </a:solidFill>
            <a:prstDash val="solid"/>
            <a:miter lim="800000"/>
            <a:headEnd len="sm" w="sm" type="none"/>
            <a:tailEnd len="med" w="med" type="stealth"/>
          </a:ln>
        </p:spPr>
      </p:cxnSp>
      <p:cxnSp>
        <p:nvCxnSpPr>
          <p:cNvPr id="157" name="Google Shape;157;p17"/>
          <p:cNvCxnSpPr>
            <a:stCxn id="158" idx="1"/>
          </p:cNvCxnSpPr>
          <p:nvPr/>
        </p:nvCxnSpPr>
        <p:spPr>
          <a:xfrm flipH="1">
            <a:off x="5314817" y="3321015"/>
            <a:ext cx="1538400" cy="651000"/>
          </a:xfrm>
          <a:prstGeom prst="straightConnector1">
            <a:avLst/>
          </a:prstGeom>
          <a:noFill/>
          <a:ln cap="flat" cmpd="sng" w="38100">
            <a:solidFill>
              <a:schemeClr val="dk1"/>
            </a:solidFill>
            <a:prstDash val="solid"/>
            <a:miter lim="800000"/>
            <a:headEnd len="sm" w="sm" type="none"/>
            <a:tailEnd len="med" w="med" type="stealth"/>
          </a:ln>
        </p:spPr>
      </p:cxnSp>
      <p:cxnSp>
        <p:nvCxnSpPr>
          <p:cNvPr id="159" name="Google Shape;159;p17"/>
          <p:cNvCxnSpPr/>
          <p:nvPr/>
        </p:nvCxnSpPr>
        <p:spPr>
          <a:xfrm flipH="1">
            <a:off x="3481396" y="4200524"/>
            <a:ext cx="3262305" cy="481013"/>
          </a:xfrm>
          <a:prstGeom prst="straightConnector1">
            <a:avLst/>
          </a:prstGeom>
          <a:noFill/>
          <a:ln cap="flat" cmpd="sng" w="38100">
            <a:solidFill>
              <a:schemeClr val="dk1"/>
            </a:solidFill>
            <a:prstDash val="solid"/>
            <a:miter lim="800000"/>
            <a:headEnd len="sm" w="sm" type="none"/>
            <a:tailEnd len="med" w="med" type="stealth"/>
          </a:ln>
        </p:spPr>
      </p:cxnSp>
      <p:cxnSp>
        <p:nvCxnSpPr>
          <p:cNvPr id="160" name="Google Shape;160;p17"/>
          <p:cNvCxnSpPr/>
          <p:nvPr/>
        </p:nvCxnSpPr>
        <p:spPr>
          <a:xfrm flipH="1">
            <a:off x="3552831" y="5300662"/>
            <a:ext cx="3005132" cy="66675"/>
          </a:xfrm>
          <a:prstGeom prst="straightConnector1">
            <a:avLst/>
          </a:prstGeom>
          <a:noFill/>
          <a:ln cap="flat" cmpd="sng" w="38100">
            <a:solidFill>
              <a:schemeClr val="dk1"/>
            </a:solidFill>
            <a:prstDash val="solid"/>
            <a:miter lim="800000"/>
            <a:headEnd len="sm" w="sm" type="none"/>
            <a:tailEnd len="med" w="med" type="stealth"/>
          </a:ln>
        </p:spPr>
      </p:cxnSp>
      <p:sp>
        <p:nvSpPr>
          <p:cNvPr id="153" name="Google Shape;153;p17"/>
          <p:cNvSpPr txBox="1"/>
          <p:nvPr/>
        </p:nvSpPr>
        <p:spPr>
          <a:xfrm>
            <a:off x="6757969" y="928656"/>
            <a:ext cx="42434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Starting from index 0 of the array A</a:t>
            </a:r>
            <a:endParaRPr b="0" i="0" sz="2000" u="none" cap="none" strike="noStrike">
              <a:solidFill>
                <a:schemeClr val="dk1"/>
              </a:solidFill>
              <a:latin typeface="Calibri"/>
              <a:ea typeface="Calibri"/>
              <a:cs typeface="Calibri"/>
              <a:sym typeface="Calibri"/>
            </a:endParaRPr>
          </a:p>
        </p:txBody>
      </p:sp>
      <p:sp>
        <p:nvSpPr>
          <p:cNvPr id="155" name="Google Shape;155;p17"/>
          <p:cNvSpPr txBox="1"/>
          <p:nvPr/>
        </p:nvSpPr>
        <p:spPr>
          <a:xfrm>
            <a:off x="6724625" y="1581136"/>
            <a:ext cx="430530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Loop to traverse till the end of the array</a:t>
            </a:r>
            <a:endParaRPr b="0" i="0" sz="2000" u="none" cap="none" strike="noStrike">
              <a:solidFill>
                <a:schemeClr val="dk1"/>
              </a:solidFill>
              <a:latin typeface="Calibri"/>
              <a:ea typeface="Calibri"/>
              <a:cs typeface="Calibri"/>
              <a:sym typeface="Calibri"/>
            </a:endParaRPr>
          </a:p>
        </p:txBody>
      </p:sp>
      <p:sp>
        <p:nvSpPr>
          <p:cNvPr id="161" name="Google Shape;161;p17"/>
          <p:cNvSpPr txBox="1"/>
          <p:nvPr/>
        </p:nvSpPr>
        <p:spPr>
          <a:xfrm>
            <a:off x="6781777" y="2166944"/>
            <a:ext cx="361473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Checking if the </a:t>
            </a:r>
            <a:r>
              <a:rPr b="0" i="1" lang="en-US" sz="2000" u="none" cap="none" strike="noStrike">
                <a:solidFill>
                  <a:schemeClr val="dk1"/>
                </a:solidFill>
                <a:latin typeface="Calibri"/>
                <a:ea typeface="Calibri"/>
                <a:cs typeface="Calibri"/>
                <a:sym typeface="Calibri"/>
              </a:rPr>
              <a:t>ith</a:t>
            </a:r>
            <a:r>
              <a:rPr b="0" i="0" lang="en-US" sz="2000" u="none" cap="none" strike="noStrike">
                <a:solidFill>
                  <a:schemeClr val="dk1"/>
                </a:solidFill>
                <a:latin typeface="Calibri"/>
                <a:ea typeface="Calibri"/>
                <a:cs typeface="Calibri"/>
                <a:sym typeface="Calibri"/>
              </a:rPr>
              <a:t> element of the array matches with </a:t>
            </a:r>
            <a:r>
              <a:rPr b="0" i="1" lang="en-US" sz="2000" u="none" cap="none" strike="noStrike">
                <a:solidFill>
                  <a:schemeClr val="dk1"/>
                </a:solidFill>
                <a:latin typeface="Calibri"/>
                <a:ea typeface="Calibri"/>
                <a:cs typeface="Calibri"/>
                <a:sym typeface="Calibri"/>
              </a:rPr>
              <a:t>item</a:t>
            </a:r>
            <a:endParaRPr b="0" i="0" sz="2000" u="none" cap="none" strike="noStrike">
              <a:solidFill>
                <a:schemeClr val="dk1"/>
              </a:solidFill>
              <a:latin typeface="Calibri"/>
              <a:ea typeface="Calibri"/>
              <a:cs typeface="Calibri"/>
              <a:sym typeface="Calibri"/>
            </a:endParaRPr>
          </a:p>
        </p:txBody>
      </p:sp>
      <p:sp>
        <p:nvSpPr>
          <p:cNvPr id="158" name="Google Shape;158;p17"/>
          <p:cNvSpPr txBox="1"/>
          <p:nvPr/>
        </p:nvSpPr>
        <p:spPr>
          <a:xfrm>
            <a:off x="6853217" y="2967072"/>
            <a:ext cx="361473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If matches, then return true, not searching further.</a:t>
            </a:r>
            <a:endParaRPr b="0" i="0" sz="2000" u="none" cap="none" strike="noStrike">
              <a:solidFill>
                <a:schemeClr val="dk1"/>
              </a:solidFill>
              <a:latin typeface="Calibri"/>
              <a:ea typeface="Calibri"/>
              <a:cs typeface="Calibri"/>
              <a:sym typeface="Calibri"/>
            </a:endParaRPr>
          </a:p>
        </p:txBody>
      </p:sp>
      <p:sp>
        <p:nvSpPr>
          <p:cNvPr id="162" name="Google Shape;162;p17"/>
          <p:cNvSpPr txBox="1"/>
          <p:nvPr/>
        </p:nvSpPr>
        <p:spPr>
          <a:xfrm>
            <a:off x="6867505" y="3681472"/>
            <a:ext cx="361473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If mismatch in the if condition, this line will run moving to the next index of the array.</a:t>
            </a:r>
            <a:endParaRPr b="0" i="0" sz="2000" u="none" cap="none" strike="noStrike">
              <a:solidFill>
                <a:schemeClr val="dk1"/>
              </a:solidFill>
              <a:latin typeface="Calibri"/>
              <a:ea typeface="Calibri"/>
              <a:cs typeface="Calibri"/>
              <a:sym typeface="Calibri"/>
            </a:endParaRPr>
          </a:p>
        </p:txBody>
      </p:sp>
      <p:sp>
        <p:nvSpPr>
          <p:cNvPr id="163" name="Google Shape;163;p17"/>
          <p:cNvSpPr txBox="1"/>
          <p:nvPr/>
        </p:nvSpPr>
        <p:spPr>
          <a:xfrm>
            <a:off x="6786544" y="4743435"/>
            <a:ext cx="4694555"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 program will reach this line after while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loop is complete. This means all indices are</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traversed and item could not be found.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False is returned. </a:t>
            </a:r>
            <a:endParaRPr b="0" i="0" sz="2000" u="none" cap="none" strike="noStrike">
              <a:solidFill>
                <a:schemeClr val="dk1"/>
              </a:solidFill>
              <a:latin typeface="Calibri"/>
              <a:ea typeface="Calibri"/>
              <a:cs typeface="Calibri"/>
              <a:sym typeface="Calibri"/>
            </a:endParaRPr>
          </a:p>
        </p:txBody>
      </p:sp>
      <p:pic>
        <p:nvPicPr>
          <p:cNvPr descr="bracu_logo.png" id="164" name="Google Shape;164;p17"/>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831850" y="573206"/>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Linear Search</a:t>
            </a:r>
            <a:endParaRPr sz="4400"/>
          </a:p>
        </p:txBody>
      </p:sp>
      <p:sp>
        <p:nvSpPr>
          <p:cNvPr id="170" name="Google Shape;170;p18"/>
          <p:cNvSpPr txBox="1"/>
          <p:nvPr>
            <p:ph idx="1" type="body"/>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Time Complexity (Iterative)</a:t>
            </a:r>
            <a:endParaRPr/>
          </a:p>
        </p:txBody>
      </p:sp>
      <p:sp>
        <p:nvSpPr>
          <p:cNvPr id="171" name="Google Shape;17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172" name="Google Shape;172;p18"/>
          <p:cNvSpPr txBox="1"/>
          <p:nvPr/>
        </p:nvSpPr>
        <p:spPr>
          <a:xfrm>
            <a:off x="957252" y="1814499"/>
            <a:ext cx="4304127" cy="347787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boolean linearSearch(A[], 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int i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while(i &lt; A.length){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if (A[i] matches item){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return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return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73" name="Google Shape;173;p18"/>
          <p:cNvSpPr txBox="1"/>
          <p:nvPr/>
        </p:nvSpPr>
        <p:spPr>
          <a:xfrm>
            <a:off x="5414647" y="3286121"/>
            <a:ext cx="6837641"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 worst case scenario occurs when the loop runs from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index 0 to the end of the array. That is the item is found in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the last index or not found at all.  Recall the above scenario.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If there are </a:t>
            </a:r>
            <a:r>
              <a:rPr b="0" i="1" lang="en-US" sz="2000" u="none" cap="none" strike="noStrike">
                <a:solidFill>
                  <a:schemeClr val="dk1"/>
                </a:solidFill>
                <a:latin typeface="Calibri"/>
                <a:ea typeface="Calibri"/>
                <a:cs typeface="Calibri"/>
                <a:sym typeface="Calibri"/>
              </a:rPr>
              <a:t>n</a:t>
            </a:r>
            <a:r>
              <a:rPr b="0" i="0" lang="en-US" sz="2000" u="none" cap="none" strike="noStrike">
                <a:solidFill>
                  <a:schemeClr val="dk1"/>
                </a:solidFill>
                <a:latin typeface="Calibri"/>
                <a:ea typeface="Calibri"/>
                <a:cs typeface="Calibri"/>
                <a:sym typeface="Calibri"/>
              </a:rPr>
              <a:t> indices in an array, the worst case would be </a:t>
            </a:r>
            <a:r>
              <a:rPr b="0" i="0" lang="en-US" sz="2400" u="none" cap="none" strike="noStrike">
                <a:solidFill>
                  <a:schemeClr val="dk1"/>
                </a:solidFill>
                <a:latin typeface="Calibri"/>
                <a:ea typeface="Calibri"/>
                <a:cs typeface="Calibri"/>
                <a:sym typeface="Calibri"/>
              </a:rPr>
              <a:t>O(n)</a:t>
            </a:r>
            <a:endParaRPr b="0" i="0" sz="1800" u="none" cap="none" strike="noStrike">
              <a:solidFill>
                <a:schemeClr val="dk1"/>
              </a:solidFill>
              <a:latin typeface="Calibri"/>
              <a:ea typeface="Calibri"/>
              <a:cs typeface="Calibri"/>
              <a:sym typeface="Calibri"/>
            </a:endParaRPr>
          </a:p>
        </p:txBody>
      </p:sp>
      <p:graphicFrame>
        <p:nvGraphicFramePr>
          <p:cNvPr id="174" name="Google Shape;174;p18"/>
          <p:cNvGraphicFramePr/>
          <p:nvPr/>
        </p:nvGraphicFramePr>
        <p:xfrm>
          <a:off x="7929987" y="2393175"/>
          <a:ext cx="3000000" cy="3000000"/>
        </p:xfrm>
        <a:graphic>
          <a:graphicData uri="http://schemas.openxmlformats.org/drawingml/2006/table">
            <a:tbl>
              <a:tblPr bandRow="1" firstRow="1">
                <a:noFill/>
                <a:tableStyleId>{7573AF57-031F-4232-ACEA-2AAF4F51EDAA}</a:tableStyleId>
              </a:tblPr>
              <a:tblGrid>
                <a:gridCol w="797050"/>
                <a:gridCol w="795850"/>
                <a:gridCol w="900250"/>
                <a:gridCol w="887700"/>
              </a:tblGrid>
              <a:tr h="3500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cxc</a:t>
                      </a:r>
                      <a:endParaRPr b="0"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dfd</a:t>
                      </a:r>
                      <a:endParaRPr b="0"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dfd</a:t>
                      </a:r>
                      <a:endParaRPr b="0"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dfd</a:t>
                      </a:r>
                      <a:endParaRPr b="0"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75" name="Google Shape;175;p18"/>
          <p:cNvGraphicFramePr/>
          <p:nvPr/>
        </p:nvGraphicFramePr>
        <p:xfrm>
          <a:off x="7917690" y="1825235"/>
          <a:ext cx="3000000" cy="3000000"/>
        </p:xfrm>
        <a:graphic>
          <a:graphicData uri="http://schemas.openxmlformats.org/drawingml/2006/table">
            <a:tbl>
              <a:tblPr bandRow="1" firstRow="1">
                <a:noFill/>
                <a:tableStyleId>{7573AF57-031F-4232-ACEA-2AAF4F51EDAA}</a:tableStyleId>
              </a:tblPr>
              <a:tblGrid>
                <a:gridCol w="844900"/>
                <a:gridCol w="844900"/>
                <a:gridCol w="844900"/>
                <a:gridCol w="844900"/>
              </a:tblGrid>
              <a:tr h="1973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0</a:t>
                      </a:r>
                      <a:endParaRPr sz="1800" u="none" cap="none" strike="noStrike">
                        <a:solidFill>
                          <a:schemeClr val="dk1"/>
                        </a:solidFill>
                      </a:endParaRPr>
                    </a:p>
                  </a:txBody>
                  <a:tcPr marT="45725" marB="45725" marR="91450" marL="9145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1</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2</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3</a:t>
                      </a:r>
                      <a:endParaRPr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176" name="Google Shape;176;p18"/>
          <p:cNvSpPr/>
          <p:nvPr/>
        </p:nvSpPr>
        <p:spPr>
          <a:xfrm>
            <a:off x="8115323" y="2858500"/>
            <a:ext cx="505182" cy="370436"/>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7" name="Google Shape;177;p18"/>
          <p:cNvSpPr/>
          <p:nvPr/>
        </p:nvSpPr>
        <p:spPr>
          <a:xfrm>
            <a:off x="8894030" y="2858575"/>
            <a:ext cx="505182" cy="370436"/>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8" name="Google Shape;178;p18"/>
          <p:cNvSpPr/>
          <p:nvPr/>
        </p:nvSpPr>
        <p:spPr>
          <a:xfrm>
            <a:off x="9660513" y="2829642"/>
            <a:ext cx="505182" cy="370436"/>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p18"/>
          <p:cNvSpPr/>
          <p:nvPr/>
        </p:nvSpPr>
        <p:spPr>
          <a:xfrm>
            <a:off x="10557852" y="2825017"/>
            <a:ext cx="505182" cy="370436"/>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0" name="Google Shape;180;p18"/>
          <p:cNvSpPr/>
          <p:nvPr/>
        </p:nvSpPr>
        <p:spPr>
          <a:xfrm>
            <a:off x="5900736" y="1543051"/>
            <a:ext cx="1857376" cy="1357312"/>
          </a:xfrm>
          <a:prstGeom prst="cloud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Was looking for xyz</a:t>
            </a:r>
            <a:endParaRPr b="0" i="0" sz="2000" u="none" cap="none" strike="noStrike">
              <a:solidFill>
                <a:schemeClr val="lt1"/>
              </a:solidFill>
              <a:latin typeface="Calibri"/>
              <a:ea typeface="Calibri"/>
              <a:cs typeface="Calibri"/>
              <a:sym typeface="Calibri"/>
            </a:endParaRPr>
          </a:p>
        </p:txBody>
      </p:sp>
      <p:sp>
        <p:nvSpPr>
          <p:cNvPr id="181" name="Google Shape;181;p18"/>
          <p:cNvSpPr txBox="1"/>
          <p:nvPr/>
        </p:nvSpPr>
        <p:spPr>
          <a:xfrm>
            <a:off x="5443518" y="4743445"/>
            <a:ext cx="6823984"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Now for the best case to occur the item we are searching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appears at the beginning as a result the number of search is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just 1. This is an once is a blue moon situation must be ignored.</a:t>
            </a: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pic>
        <p:nvPicPr>
          <p:cNvPr descr="bracu_logo.png" id="182" name="Google Shape;182;p18"/>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type="title"/>
          </p:nvPr>
        </p:nvSpPr>
        <p:spPr>
          <a:xfrm>
            <a:off x="831850" y="573206"/>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Linear Search</a:t>
            </a:r>
            <a:endParaRPr sz="4400"/>
          </a:p>
        </p:txBody>
      </p:sp>
      <p:sp>
        <p:nvSpPr>
          <p:cNvPr id="188" name="Google Shape;188;p19"/>
          <p:cNvSpPr txBox="1"/>
          <p:nvPr>
            <p:ph idx="1" type="body"/>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Pseudo code (Recursive)</a:t>
            </a:r>
            <a:endParaRPr/>
          </a:p>
        </p:txBody>
      </p:sp>
      <p:sp>
        <p:nvSpPr>
          <p:cNvPr id="189" name="Google Shape;18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888888"/>
                </a:solidFill>
              </a:rPr>
              <a:t>Summer 2020</a:t>
            </a:r>
            <a:endParaRPr>
              <a:solidFill>
                <a:srgbClr val="888888"/>
              </a:solidFill>
            </a:endParaRPr>
          </a:p>
        </p:txBody>
      </p:sp>
      <p:sp>
        <p:nvSpPr>
          <p:cNvPr id="190" name="Google Shape;190;p19"/>
          <p:cNvSpPr txBox="1"/>
          <p:nvPr/>
        </p:nvSpPr>
        <p:spPr>
          <a:xfrm>
            <a:off x="1028700" y="2185988"/>
            <a:ext cx="5660011" cy="378565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boolean linSearch(A[], i,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if (i&gt;=A.length){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return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if (A[i]==key){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return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return linSearch(A, I,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t>
            </a:r>
            <a:endParaRPr b="0" i="0" sz="2000" u="none" cap="none" strike="noStrike">
              <a:solidFill>
                <a:schemeClr val="dk1"/>
              </a:solidFill>
              <a:latin typeface="Calibri"/>
              <a:ea typeface="Calibri"/>
              <a:cs typeface="Calibri"/>
              <a:sym typeface="Calibri"/>
            </a:endParaRPr>
          </a:p>
        </p:txBody>
      </p:sp>
      <p:sp>
        <p:nvSpPr>
          <p:cNvPr id="191" name="Google Shape;191;p19"/>
          <p:cNvSpPr txBox="1"/>
          <p:nvPr/>
        </p:nvSpPr>
        <p:spPr>
          <a:xfrm>
            <a:off x="6843706" y="2200270"/>
            <a:ext cx="4978799"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Note that the </a:t>
            </a:r>
            <a:r>
              <a:rPr b="1" i="0" lang="en-US" sz="1800" u="none" cap="none" strike="noStrike">
                <a:solidFill>
                  <a:schemeClr val="dk1"/>
                </a:solidFill>
                <a:latin typeface="Calibri"/>
                <a:ea typeface="Calibri"/>
                <a:cs typeface="Calibri"/>
                <a:sym typeface="Calibri"/>
              </a:rPr>
              <a:t>CORE</a:t>
            </a:r>
            <a:r>
              <a:rPr b="0" i="0" lang="en-US" sz="1800" u="none" cap="none" strike="noStrike">
                <a:solidFill>
                  <a:schemeClr val="dk1"/>
                </a:solidFill>
                <a:latin typeface="Calibri"/>
                <a:ea typeface="Calibri"/>
                <a:cs typeface="Calibri"/>
                <a:sym typeface="Calibri"/>
              </a:rPr>
              <a:t> of the algorithm is the same.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Using recursion we replacing the loop with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u_logo.png" id="192" name="Google Shape;192;p19"/>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type="title"/>
          </p:nvPr>
        </p:nvSpPr>
        <p:spPr>
          <a:xfrm>
            <a:off x="831850" y="573206"/>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Linear Search</a:t>
            </a:r>
            <a:endParaRPr sz="4400"/>
          </a:p>
        </p:txBody>
      </p:sp>
      <p:sp>
        <p:nvSpPr>
          <p:cNvPr id="198" name="Google Shape;198;p20"/>
          <p:cNvSpPr txBox="1"/>
          <p:nvPr>
            <p:ph idx="1" type="body"/>
          </p:nvPr>
        </p:nvSpPr>
        <p:spPr>
          <a:xfrm>
            <a:off x="845498" y="1259399"/>
            <a:ext cx="1051560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Recursion Tracing</a:t>
            </a:r>
            <a:endParaRPr/>
          </a:p>
        </p:txBody>
      </p:sp>
      <p:sp>
        <p:nvSpPr>
          <p:cNvPr id="199" name="Google Shape;19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888888"/>
                </a:solidFill>
              </a:rPr>
              <a:t>Summer 2020</a:t>
            </a:r>
            <a:endParaRPr>
              <a:solidFill>
                <a:srgbClr val="888888"/>
              </a:solidFill>
            </a:endParaRPr>
          </a:p>
        </p:txBody>
      </p:sp>
      <p:sp>
        <p:nvSpPr>
          <p:cNvPr id="200" name="Google Shape;200;p20"/>
          <p:cNvSpPr txBox="1"/>
          <p:nvPr/>
        </p:nvSpPr>
        <p:spPr>
          <a:xfrm>
            <a:off x="957257" y="1985958"/>
            <a:ext cx="6186494" cy="372409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Tracing recursive algorithms are not easy like the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iterative ones. Now how to know if a recursive</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algorithm is correct? Simple, look at the recurrence</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equation [the logic of the program]. The logic of linear</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search is, searching starts from index 0 and proceed by</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one index until you find the element or you reach the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end of the array.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You will not get it right on the first day. Practice and </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patience. Recursion is fun!!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u_logo.png" id="201" name="Google Shape;201;p20"/>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831850" y="573206"/>
            <a:ext cx="10515600" cy="7977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Linear Search</a:t>
            </a:r>
            <a:endParaRPr sz="4400"/>
          </a:p>
        </p:txBody>
      </p:sp>
      <p:sp>
        <p:nvSpPr>
          <p:cNvPr id="207" name="Google Shape;207;p21"/>
          <p:cNvSpPr txBox="1"/>
          <p:nvPr>
            <p:ph idx="1" type="body"/>
          </p:nvPr>
        </p:nvSpPr>
        <p:spPr>
          <a:xfrm>
            <a:off x="845498" y="1259399"/>
            <a:ext cx="2940690" cy="569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Recursion Tracing </a:t>
            </a:r>
            <a:endParaRPr/>
          </a:p>
        </p:txBody>
      </p:sp>
      <p:sp>
        <p:nvSpPr>
          <p:cNvPr id="208" name="Google Shape;20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888888"/>
                </a:solidFill>
              </a:rPr>
              <a:t>Summer 2020</a:t>
            </a:r>
            <a:endParaRPr>
              <a:solidFill>
                <a:srgbClr val="888888"/>
              </a:solidFill>
            </a:endParaRPr>
          </a:p>
        </p:txBody>
      </p:sp>
      <p:sp>
        <p:nvSpPr>
          <p:cNvPr id="209" name="Google Shape;209;p21"/>
          <p:cNvSpPr txBox="1"/>
          <p:nvPr/>
        </p:nvSpPr>
        <p:spPr>
          <a:xfrm>
            <a:off x="985836" y="2185988"/>
            <a:ext cx="5387565" cy="347787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boolean linSearch(A[], i,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if (i&gt;=A.length){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2000" u="none" cap="none" strike="noStrike">
                <a:solidFill>
                  <a:srgbClr val="FF0000"/>
                </a:solidFill>
                <a:latin typeface="Calibri"/>
                <a:ea typeface="Calibri"/>
                <a:cs typeface="Calibri"/>
                <a:sym typeface="Calibri"/>
              </a:rPr>
              <a:t>1.</a:t>
            </a:r>
            <a:r>
              <a:rPr b="0" i="0" lang="en-US" sz="1800" u="none" cap="none" strike="noStrike">
                <a:solidFill>
                  <a:schemeClr val="dk1"/>
                </a:solidFill>
                <a:latin typeface="Calibri"/>
                <a:ea typeface="Calibri"/>
                <a:cs typeface="Calibri"/>
                <a:sym typeface="Calibri"/>
              </a:rPr>
              <a:t>		return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if (A[i]==key){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2000" u="none" cap="none" strike="noStrike">
                <a:solidFill>
                  <a:srgbClr val="FF0000"/>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		return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rgbClr val="FF0000"/>
                </a:solidFill>
                <a:latin typeface="Calibri"/>
                <a:ea typeface="Calibri"/>
                <a:cs typeface="Calibri"/>
                <a:sym typeface="Calibri"/>
              </a:rPr>
              <a:t>3.</a:t>
            </a:r>
            <a:r>
              <a:rPr b="0" i="0" lang="en-US" sz="1800" u="none" cap="none" strike="noStrike">
                <a:solidFill>
                  <a:schemeClr val="dk1"/>
                </a:solidFill>
                <a:latin typeface="Calibri"/>
                <a:ea typeface="Calibri"/>
                <a:cs typeface="Calibri"/>
                <a:sym typeface="Calibri"/>
              </a:rPr>
              <a:t>		return linSearch(A, i, key);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210" name="Google Shape;210;p21"/>
          <p:cNvSpPr txBox="1"/>
          <p:nvPr/>
        </p:nvSpPr>
        <p:spPr>
          <a:xfrm>
            <a:off x="6115050" y="185737"/>
            <a:ext cx="5357814" cy="120032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Let A = </a:t>
            </a:r>
            <a:br>
              <a:rPr b="0" i="0" lang="en-US" sz="1800" u="none" cap="none" strike="noStrike">
                <a:solidFill>
                  <a:schemeClr val="dk1"/>
                </a:solidFill>
                <a:latin typeface="Calibri"/>
                <a:ea typeface="Calibri"/>
                <a:cs typeface="Calibri"/>
                <a:sym typeface="Calibri"/>
              </a:rPr>
            </a:b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i = 0 and key = 7. linSearch() method invoked with parameters</a:t>
            </a:r>
            <a:endParaRPr b="0" i="0" sz="1800" u="none" cap="none" strike="noStrike">
              <a:solidFill>
                <a:schemeClr val="dk1"/>
              </a:solidFill>
              <a:latin typeface="Calibri"/>
              <a:ea typeface="Calibri"/>
              <a:cs typeface="Calibri"/>
              <a:sym typeface="Calibri"/>
            </a:endParaRPr>
          </a:p>
        </p:txBody>
      </p:sp>
      <p:graphicFrame>
        <p:nvGraphicFramePr>
          <p:cNvPr id="211" name="Google Shape;211;p21"/>
          <p:cNvGraphicFramePr/>
          <p:nvPr/>
        </p:nvGraphicFramePr>
        <p:xfrm>
          <a:off x="6986587" y="219602"/>
          <a:ext cx="3000000" cy="3000000"/>
        </p:xfrm>
        <a:graphic>
          <a:graphicData uri="http://schemas.openxmlformats.org/drawingml/2006/table">
            <a:tbl>
              <a:tblPr bandRow="1" firstRow="1">
                <a:noFill/>
                <a:tableStyleId>{7573AF57-031F-4232-ACEA-2AAF4F51EDAA}</a:tableStyleId>
              </a:tblPr>
              <a:tblGrid>
                <a:gridCol w="454825"/>
                <a:gridCol w="454825"/>
                <a:gridCol w="454825"/>
                <a:gridCol w="45482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5</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6</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7</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chemeClr val="dk1"/>
                          </a:solidFill>
                        </a:rPr>
                        <a:t>8</a:t>
                      </a:r>
                      <a:endParaRPr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2" name="Google Shape;212;p21"/>
          <p:cNvSpPr txBox="1"/>
          <p:nvPr/>
        </p:nvSpPr>
        <p:spPr>
          <a:xfrm>
            <a:off x="6100763" y="1543050"/>
            <a:ext cx="5358390"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Every method call is saved in stack, with current values </a:t>
            </a:r>
            <a:endParaRPr b="0" i="0" sz="1800" u="none" cap="none" strike="noStrike">
              <a:solidFill>
                <a:schemeClr val="dk1"/>
              </a:solidFill>
              <a:latin typeface="Calibri"/>
              <a:ea typeface="Calibri"/>
              <a:cs typeface="Calibri"/>
              <a:sym typeface="Calibri"/>
            </a:endParaRPr>
          </a:p>
        </p:txBody>
      </p:sp>
      <p:graphicFrame>
        <p:nvGraphicFramePr>
          <p:cNvPr id="213" name="Google Shape;213;p21"/>
          <p:cNvGraphicFramePr/>
          <p:nvPr/>
        </p:nvGraphicFramePr>
        <p:xfrm>
          <a:off x="6872282" y="2200263"/>
          <a:ext cx="3000000" cy="3000000"/>
        </p:xfrm>
        <a:graphic>
          <a:graphicData uri="http://schemas.openxmlformats.org/drawingml/2006/table">
            <a:tbl>
              <a:tblPr bandRow="1" firstRow="1">
                <a:noFill/>
                <a:tableStyleId>{7573AF57-031F-4232-ACEA-2AAF4F51EDAA}</a:tableStyleId>
              </a:tblPr>
              <a:tblGrid>
                <a:gridCol w="1511300"/>
                <a:gridCol w="1511300"/>
                <a:gridCol w="1511300"/>
              </a:tblGrid>
              <a:tr h="9326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rPr>
                        <a:t>Step no.</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rPr>
                        <a:t>Variable </a:t>
                      </a:r>
                      <a:br>
                        <a:rPr lang="en-US" sz="2000" u="none" cap="none" strike="noStrike">
                          <a:solidFill>
                            <a:schemeClr val="dk1"/>
                          </a:solidFill>
                        </a:rPr>
                      </a:br>
                      <a:r>
                        <a:rPr lang="en-US" sz="2000" u="none" cap="none" strike="noStrike">
                          <a:solidFill>
                            <a:schemeClr val="dk1"/>
                          </a:solidFill>
                        </a:rPr>
                        <a:t>Values (Stack)</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rPr>
                        <a:t>Scope</a:t>
                      </a:r>
                      <a:endParaRPr sz="20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47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A unchanged</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en-US" sz="1800" u="none" cap="none" strike="noStrike"/>
                        <a:t>i = 0</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en-US" sz="1800" u="none" cap="none" strike="noStrike"/>
                        <a:t>key = 7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Scope 3</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en-US" sz="1800" u="none" cap="none" strike="noStrike"/>
                        <a:t>i becomes 1</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recursive call</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4" name="Google Shape;214;p21"/>
          <p:cNvSpPr/>
          <p:nvPr/>
        </p:nvSpPr>
        <p:spPr>
          <a:xfrm rot="-153424">
            <a:off x="2473530" y="4338414"/>
            <a:ext cx="400050" cy="563119"/>
          </a:xfrm>
          <a:prstGeom prst="leftBrace">
            <a:avLst>
              <a:gd fmla="val 8333" name="adj1"/>
              <a:gd fmla="val 50000" name="adj2"/>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21"/>
          <p:cNvSpPr/>
          <p:nvPr/>
        </p:nvSpPr>
        <p:spPr>
          <a:xfrm rot="-153424">
            <a:off x="2383117" y="3476364"/>
            <a:ext cx="400050" cy="566849"/>
          </a:xfrm>
          <a:prstGeom prst="leftBrace">
            <a:avLst>
              <a:gd fmla="val 8333" name="adj1"/>
              <a:gd fmla="val 50000" name="adj2"/>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21"/>
          <p:cNvSpPr/>
          <p:nvPr/>
        </p:nvSpPr>
        <p:spPr>
          <a:xfrm rot="-153424">
            <a:off x="1696067" y="2693950"/>
            <a:ext cx="247776" cy="508508"/>
          </a:xfrm>
          <a:prstGeom prst="leftBrace">
            <a:avLst>
              <a:gd fmla="val 8333" name="adj1"/>
              <a:gd fmla="val 50000" name="adj2"/>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17" name="Google Shape;217;p21"/>
          <p:cNvGraphicFramePr/>
          <p:nvPr/>
        </p:nvGraphicFramePr>
        <p:xfrm>
          <a:off x="6872748" y="4131615"/>
          <a:ext cx="3000000" cy="3000000"/>
        </p:xfrm>
        <a:graphic>
          <a:graphicData uri="http://schemas.openxmlformats.org/drawingml/2006/table">
            <a:tbl>
              <a:tblPr bandRow="1" firstRow="1">
                <a:noFill/>
                <a:tableStyleId>{7573AF57-031F-4232-ACEA-2AAF4F51EDAA}</a:tableStyleId>
              </a:tblPr>
              <a:tblGrid>
                <a:gridCol w="1504325"/>
                <a:gridCol w="1504325"/>
                <a:gridCol w="1519075"/>
              </a:tblGrid>
              <a:tr h="7609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2</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EAF6"/>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i =1</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EAF6"/>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Scope 3</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i becomes 2</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recursive call</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EAF6"/>
                    </a:solidFill>
                  </a:tcPr>
                </a:tc>
              </a:tr>
            </a:tbl>
          </a:graphicData>
        </a:graphic>
      </p:graphicFrame>
      <p:graphicFrame>
        <p:nvGraphicFramePr>
          <p:cNvPr id="218" name="Google Shape;218;p21"/>
          <p:cNvGraphicFramePr/>
          <p:nvPr/>
        </p:nvGraphicFramePr>
        <p:xfrm>
          <a:off x="6877712" y="5057418"/>
          <a:ext cx="3000000" cy="3000000"/>
        </p:xfrm>
        <a:graphic>
          <a:graphicData uri="http://schemas.openxmlformats.org/drawingml/2006/table">
            <a:tbl>
              <a:tblPr bandRow="1" firstRow="1">
                <a:noFill/>
                <a:tableStyleId>{7573AF57-031F-4232-ACEA-2AAF4F51EDAA}</a:tableStyleId>
              </a:tblPr>
              <a:tblGrid>
                <a:gridCol w="1507600"/>
                <a:gridCol w="1507600"/>
                <a:gridCol w="1507600"/>
              </a:tblGrid>
              <a:tr h="76095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3</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BD6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i = 2</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BD6EE"/>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solidFill>
                            <a:schemeClr val="dk1"/>
                          </a:solidFill>
                        </a:rPr>
                        <a:t>Scope 2 return true</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BD6EE"/>
                    </a:solidFill>
                  </a:tcPr>
                </a:tc>
              </a:tr>
            </a:tbl>
          </a:graphicData>
        </a:graphic>
      </p:graphicFrame>
      <p:pic>
        <p:nvPicPr>
          <p:cNvPr descr="bracu_logo.png" id="219" name="Google Shape;219;p21"/>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Summer 2020</a:t>
            </a:r>
            <a:endParaRPr/>
          </a:p>
        </p:txBody>
      </p:sp>
      <p:sp>
        <p:nvSpPr>
          <p:cNvPr id="225" name="Google Shape;225;p22"/>
          <p:cNvSpPr txBox="1"/>
          <p:nvPr/>
        </p:nvSpPr>
        <p:spPr>
          <a:xfrm>
            <a:off x="831850" y="573206"/>
            <a:ext cx="10515600" cy="79773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Linear Search</a:t>
            </a:r>
            <a:endParaRPr b="0" i="0" sz="4400" u="none" cap="none" strike="noStrike">
              <a:solidFill>
                <a:schemeClr val="dk1"/>
              </a:solidFill>
              <a:latin typeface="Calibri"/>
              <a:ea typeface="Calibri"/>
              <a:cs typeface="Calibri"/>
              <a:sym typeface="Calibri"/>
            </a:endParaRPr>
          </a:p>
        </p:txBody>
      </p:sp>
      <p:sp>
        <p:nvSpPr>
          <p:cNvPr id="226" name="Google Shape;226;p22"/>
          <p:cNvSpPr txBox="1"/>
          <p:nvPr/>
        </p:nvSpPr>
        <p:spPr>
          <a:xfrm>
            <a:off x="845498" y="1259399"/>
            <a:ext cx="2940690" cy="569391"/>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000000"/>
              </a:buClr>
              <a:buSzPts val="2400"/>
              <a:buFont typeface="Arial"/>
              <a:buNone/>
            </a:pPr>
            <a:r>
              <a:rPr b="0" i="0" lang="en-US" sz="2400" u="none" cap="none" strike="noStrike">
                <a:solidFill>
                  <a:srgbClr val="7F7F7F"/>
                </a:solidFill>
                <a:latin typeface="Calibri"/>
                <a:ea typeface="Calibri"/>
                <a:cs typeface="Calibri"/>
                <a:sym typeface="Calibri"/>
              </a:rPr>
              <a:t>Recursion Simulation</a:t>
            </a:r>
            <a:endParaRPr b="0" i="0" sz="2400" u="none" cap="none" strike="noStrike">
              <a:solidFill>
                <a:srgbClr val="7F7F7F"/>
              </a:solidFill>
              <a:latin typeface="Calibri"/>
              <a:ea typeface="Calibri"/>
              <a:cs typeface="Calibri"/>
              <a:sym typeface="Calibri"/>
            </a:endParaRPr>
          </a:p>
        </p:txBody>
      </p:sp>
      <p:sp>
        <p:nvSpPr>
          <p:cNvPr id="227" name="Google Shape;227;p22"/>
          <p:cNvSpPr txBox="1"/>
          <p:nvPr/>
        </p:nvSpPr>
        <p:spPr>
          <a:xfrm>
            <a:off x="900110" y="1985953"/>
            <a:ext cx="34423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Refer to slide number 3 and 4.  </a:t>
            </a:r>
            <a:endParaRPr b="0" i="0" sz="2000" u="none" cap="none" strike="noStrike">
              <a:solidFill>
                <a:schemeClr val="dk1"/>
              </a:solidFill>
              <a:latin typeface="Calibri"/>
              <a:ea typeface="Calibri"/>
              <a:cs typeface="Calibri"/>
              <a:sym typeface="Calibri"/>
            </a:endParaRPr>
          </a:p>
        </p:txBody>
      </p:sp>
      <p:pic>
        <p:nvPicPr>
          <p:cNvPr descr="bracu_logo.png" id="228" name="Google Shape;228;p22"/>
          <p:cNvPicPr preferRelativeResize="0"/>
          <p:nvPr/>
        </p:nvPicPr>
        <p:blipFill rotWithShape="1">
          <a:blip r:embed="rId3">
            <a:alphaModFix/>
          </a:blip>
          <a:srcRect b="0" l="0" r="0" t="0"/>
          <a:stretch/>
        </p:blipFill>
        <p:spPr>
          <a:xfrm>
            <a:off x="10688827" y="14277"/>
            <a:ext cx="1479371" cy="13573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