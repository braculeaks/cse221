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Tahom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e5e1e7da7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1e5e1e7da7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e5e1e7da7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e5e1e7da7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895b61fe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895b61fe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895b61fe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895b61fe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895b61fe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895b61fe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95b61fe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895b61fe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895b61fe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895b61fe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895b61fe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895b61fe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895b61fe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895b61fe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895b61fe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895b61fe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895b61fe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895b61fe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895b61fe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895b61fe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895b61fe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895b61fe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895b61fe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895b61fe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895b61fe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895b61fe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895b61fe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895b61fe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895b61fe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895b61fe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895b61fe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895b61fe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895b61fe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895b61fe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895b61fe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895b61fe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895b61fe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895b61fe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895b61fe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895b61fe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895b61fe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7895b61fe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895b61fe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7895b61fe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895b61fe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7895b61fe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895b61fe7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7895b61fe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689a8cc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689a8cc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895b61fe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895b61fe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895b61fe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895b61fe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895b61fe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895b61fe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Minimum Spanning Tree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41525" y="728700"/>
            <a:ext cx="6006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Spanning Tree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741525" y="2167025"/>
            <a:ext cx="605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758675" y="2571750"/>
            <a:ext cx="28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1208775" y="2705425"/>
            <a:ext cx="45627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612300" y="1452775"/>
            <a:ext cx="7047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spanning tree is a subgraph/tree of a </a:t>
            </a:r>
            <a:r>
              <a:rPr b="1" lang="en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connected, undirected graph</a:t>
            </a: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that: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○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Includes all the vertices of the original graph.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○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a tree (i.e. no disjoint vertices and has no cycles).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○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Uses only a subset of edges.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 graph has N vertices, then any spanning tree of the graph will exactly have </a:t>
            </a: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N - 1 edges</a:t>
            </a:r>
            <a:r>
              <a:rPr b="1"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 graph can have many different spanning trees. </a:t>
            </a:r>
            <a:endParaRPr b="1" sz="16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762481" y="754225"/>
            <a:ext cx="498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225" y="1447175"/>
            <a:ext cx="6346374" cy="31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752948" y="770550"/>
            <a:ext cx="6521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Minimum Spanning Tree (MST)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752950" y="1446200"/>
            <a:ext cx="7245300" cy="22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Tahoma"/>
                <a:ea typeface="Tahoma"/>
                <a:cs typeface="Tahoma"/>
                <a:sym typeface="Tahoma"/>
              </a:rPr>
              <a:t>If the graph is </a:t>
            </a: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weighted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(i.e. each edge has a cost/weight), then a minimum spanning tree (MST) is: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latin typeface="Tahoma"/>
                <a:ea typeface="Tahoma"/>
                <a:cs typeface="Tahoma"/>
                <a:sym typeface="Tahoma"/>
              </a:rPr>
              <a:t>A spanning tree with </a:t>
            </a: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minimum total edge weight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among all possible spanning trees. 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Tahoma"/>
              <a:buChar char="●"/>
            </a:pP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An MST </a:t>
            </a:r>
            <a:r>
              <a:rPr b="1" lang="en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may not be unique</a:t>
            </a: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 if multiple spanning trees have the same total weight.</a:t>
            </a:r>
            <a:endParaRPr b="1" sz="1600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728474" y="770525"/>
            <a:ext cx="6137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Minimum Spanning Tree (MST)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100" y="1438975"/>
            <a:ext cx="5167998" cy="310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687649" y="762375"/>
            <a:ext cx="5868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Minimum Spanning Tree (MST)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752949" y="1552325"/>
            <a:ext cx="75582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Tahoma"/>
                <a:ea typeface="Tahoma"/>
                <a:cs typeface="Tahoma"/>
                <a:sym typeface="Tahoma"/>
              </a:rPr>
              <a:t>Of the spanning trees we got in the previous slide, the </a:t>
            </a: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second spanning tree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has the least overall weight - and it is the </a:t>
            </a: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Minimum Spanning Tree!</a:t>
            </a:r>
            <a:endParaRPr b="1" sz="16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600" y="2216350"/>
            <a:ext cx="6909699" cy="18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762506" y="770525"/>
            <a:ext cx="498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Uniqueness of MST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689024" y="1487000"/>
            <a:ext cx="71487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ahoma"/>
              <a:buChar char="●"/>
            </a:pP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 minimum cost spanning tree may </a:t>
            </a:r>
            <a:r>
              <a:rPr b="1" lang="en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not be unique</a:t>
            </a: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! </a:t>
            </a:r>
            <a:endParaRPr b="1" sz="1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250" y="1903400"/>
            <a:ext cx="3358249" cy="254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687656" y="762375"/>
            <a:ext cx="498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Uniqueness of MST</a:t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075" y="1498875"/>
            <a:ext cx="6427974" cy="28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483150" y="4337500"/>
            <a:ext cx="84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However,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if the weights are all distinct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(i.e. w(u</a:t>
            </a:r>
            <a:r>
              <a:rPr b="1" baseline="-25000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v</a:t>
            </a:r>
            <a:r>
              <a:rPr b="1" baseline="-25000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≠ w(u</a:t>
            </a:r>
            <a:r>
              <a:rPr b="1" baseline="-25000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v</a:t>
            </a:r>
            <a:r>
              <a:rPr b="1" baseline="-25000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)), then it is indeed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unique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765406" y="778700"/>
            <a:ext cx="4994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MST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765400" y="1487025"/>
            <a:ext cx="6517200" cy="22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Network Design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(Telecommunication networks/Electrical grids etc.)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Transportation &amp; Road Networks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(Planning airline routines/delivery networks/trip 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itinerary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etc.)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Circuit Design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(Minimizing total length of wiring) etc. 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In short: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MST is applied anywhere we want to </a:t>
            </a:r>
            <a:r>
              <a:rPr b="1" lang="en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connect things efficiently while minimizing cost and avoiding cycles</a:t>
            </a:r>
            <a:r>
              <a:rPr lang="en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6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728481" y="770525"/>
            <a:ext cx="5002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find MST?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728475" y="1503350"/>
            <a:ext cx="7175400" cy="9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Tahoma"/>
                <a:ea typeface="Tahoma"/>
                <a:cs typeface="Tahoma"/>
                <a:sym typeface="Tahoma"/>
              </a:rPr>
              <a:t>There are two algorithms: </a:t>
            </a: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Prim’s Algorithm and Kruskal’s Algorithm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which can find MST in a </a:t>
            </a: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weighted and undirected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graph. 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ahoma"/>
              <a:buChar char="●"/>
            </a:pPr>
            <a:r>
              <a:rPr lang="en" sz="1600">
                <a:latin typeface="Tahoma"/>
                <a:ea typeface="Tahoma"/>
                <a:cs typeface="Tahoma"/>
                <a:sym typeface="Tahoma"/>
              </a:rPr>
              <a:t>In this course, we will discuss about Kruskal’s Algorithm only. 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778831" y="746050"/>
            <a:ext cx="4994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Algorithm</a:t>
            </a:r>
            <a:endParaRPr/>
          </a:p>
        </p:txBody>
      </p:sp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25" y="1398175"/>
            <a:ext cx="7295648" cy="32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762499" y="762375"/>
            <a:ext cx="5736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825" y="1446596"/>
            <a:ext cx="4501427" cy="3152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762499" y="762375"/>
            <a:ext cx="5630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150" y="1396075"/>
            <a:ext cx="5282300" cy="326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762499" y="762375"/>
            <a:ext cx="6005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400" y="1422650"/>
            <a:ext cx="4658326" cy="32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762498" y="762375"/>
            <a:ext cx="6895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075" y="1351925"/>
            <a:ext cx="4610451" cy="335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762499" y="762375"/>
            <a:ext cx="6095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02" name="Google Shape;20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500" y="1368225"/>
            <a:ext cx="4581524" cy="332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762499" y="762375"/>
            <a:ext cx="6030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75" y="1365525"/>
            <a:ext cx="4534475" cy="328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762498" y="762375"/>
            <a:ext cx="7026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675" y="1373700"/>
            <a:ext cx="4519574" cy="328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762498" y="762375"/>
            <a:ext cx="6552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20" name="Google Shape;22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850" y="1360075"/>
            <a:ext cx="4721701" cy="33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762498" y="762375"/>
            <a:ext cx="6364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850" y="1341025"/>
            <a:ext cx="4623699" cy="332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762498" y="762375"/>
            <a:ext cx="7116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32" name="Google Shape;23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775" y="1332875"/>
            <a:ext cx="4697174" cy="33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762498" y="762375"/>
            <a:ext cx="6462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38" name="Google Shape;2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975" y="1324700"/>
            <a:ext cx="4664525" cy="335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762499" y="762375"/>
            <a:ext cx="6258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44" name="Google Shape;24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750" y="1357375"/>
            <a:ext cx="4539473" cy="3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>
            <p:ph type="title"/>
          </p:nvPr>
        </p:nvSpPr>
        <p:spPr>
          <a:xfrm>
            <a:off x="762498" y="762375"/>
            <a:ext cx="6805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50" name="Google Shape;25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8725" y="1349200"/>
            <a:ext cx="4566551" cy="33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type="title"/>
          </p:nvPr>
        </p:nvSpPr>
        <p:spPr>
          <a:xfrm>
            <a:off x="762499" y="762375"/>
            <a:ext cx="5548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56" name="Google Shape;25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925" y="1341050"/>
            <a:ext cx="4680851" cy="33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4"/>
          <p:cNvSpPr txBox="1"/>
          <p:nvPr>
            <p:ph type="title"/>
          </p:nvPr>
        </p:nvSpPr>
        <p:spPr>
          <a:xfrm>
            <a:off x="762498" y="762375"/>
            <a:ext cx="6642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Kruskal’s Algorithm (Simulation)</a:t>
            </a:r>
            <a:endParaRPr/>
          </a:p>
        </p:txBody>
      </p:sp>
      <p:pic>
        <p:nvPicPr>
          <p:cNvPr id="262" name="Google Shape;26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074" y="1365500"/>
            <a:ext cx="6368527" cy="327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5"/>
          <p:cNvSpPr txBox="1"/>
          <p:nvPr>
            <p:ph type="title"/>
          </p:nvPr>
        </p:nvSpPr>
        <p:spPr>
          <a:xfrm>
            <a:off x="730106" y="736900"/>
            <a:ext cx="4998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268" name="Google Shape;268;p45"/>
          <p:cNvSpPr txBox="1"/>
          <p:nvPr>
            <p:ph idx="1" type="body"/>
          </p:nvPr>
        </p:nvSpPr>
        <p:spPr>
          <a:xfrm>
            <a:off x="730100" y="1438275"/>
            <a:ext cx="4854600" cy="31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KRUSKAL(G):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edges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edges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G, </a:t>
            </a:r>
            <a:r>
              <a:rPr b="1" lang="en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by weight (ascending)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//Initialize DSU</a:t>
            </a:r>
            <a:endParaRPr b="1" sz="11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parent[v] = v, rank[v] = 0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vertex v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mst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= []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total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= </a:t>
            </a:r>
            <a:r>
              <a:rPr b="1" lang="en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edge (u, v, w)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edges: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FIND(u) ≠ FIND(v):        </a:t>
            </a:r>
            <a:endParaRPr b="1" sz="11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        UNION(u, v)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mst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append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((u, v, w))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total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+= w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len(mst) == len(V) - </a:t>
            </a:r>
            <a:r>
              <a:rPr b="1" lang="en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:         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mst</a:t>
            </a:r>
            <a:r>
              <a:rPr b="1" lang="en" sz="11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total</a:t>
            </a:r>
            <a:endParaRPr b="1" sz="110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269" name="Google Shape;269;p45"/>
          <p:cNvSpPr txBox="1"/>
          <p:nvPr/>
        </p:nvSpPr>
        <p:spPr>
          <a:xfrm>
            <a:off x="5533950" y="1298625"/>
            <a:ext cx="3114900" cy="4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FIND(x):                            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parent[x] ≠ x: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parent[x] = FIND(parent[x]) 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parent[x]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UNION(x, y):                        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rx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FIND(x)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ry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FIND(y)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rx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ry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rank[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rx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&lt; rank[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ry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parent[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rx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ry</a:t>
            </a:r>
            <a:endParaRPr b="1" sz="110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rank[rx] &gt; rank[ry]: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parent[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ry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rx</a:t>
            </a:r>
            <a:endParaRPr b="1" sz="110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parent[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ry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rx, 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rank[</a:t>
            </a:r>
            <a:r>
              <a:rPr b="1" lang="en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rx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+= </a:t>
            </a:r>
            <a:r>
              <a:rPr b="1" lang="en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10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type="title"/>
          </p:nvPr>
        </p:nvSpPr>
        <p:spPr>
          <a:xfrm>
            <a:off x="762481" y="762375"/>
            <a:ext cx="5002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275" name="Google Shape;275;p46"/>
          <p:cNvSpPr txBox="1"/>
          <p:nvPr>
            <p:ph idx="1" type="body"/>
          </p:nvPr>
        </p:nvSpPr>
        <p:spPr>
          <a:xfrm>
            <a:off x="762475" y="1495200"/>
            <a:ext cx="78753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Kruskal’s Algorithm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follows the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Greedy Approach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to find the MST in a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weighted and undirected graph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At every step of the solution,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 Kruskal’s algorithm picks the edges with the with the least cost/weight unless it makes a cycle.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(i.e. greedy choice) 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6" name="Google Shape;27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850" y="2366625"/>
            <a:ext cx="3016450" cy="22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6"/>
          <p:cNvSpPr txBox="1"/>
          <p:nvPr/>
        </p:nvSpPr>
        <p:spPr>
          <a:xfrm>
            <a:off x="4773325" y="2449263"/>
            <a:ext cx="3555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For this graph, Kruskal will choose the edge (a, b) first because it has the least cost/weight. Then it will choose either edge (a, d) or edge (b, d) as both has same cost/weight. In this way, it will choose least cost/weighted edges unless it makes a cycle and will eventually build up the MST (i.e. greedy approach).</a:t>
            </a:r>
            <a:endParaRPr b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/>
          <p:nvPr>
            <p:ph type="title"/>
          </p:nvPr>
        </p:nvSpPr>
        <p:spPr>
          <a:xfrm>
            <a:off x="754331" y="762375"/>
            <a:ext cx="498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</a:t>
            </a:r>
            <a:endParaRPr/>
          </a:p>
        </p:txBody>
      </p:sp>
      <p:sp>
        <p:nvSpPr>
          <p:cNvPr id="283" name="Google Shape;283;p47"/>
          <p:cNvSpPr txBox="1"/>
          <p:nvPr>
            <p:ph idx="1" type="body"/>
          </p:nvPr>
        </p:nvSpPr>
        <p:spPr>
          <a:xfrm>
            <a:off x="754325" y="1470675"/>
            <a:ext cx="7779000" cy="297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Time Complexity: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O(E log E)</a:t>
            </a:r>
            <a:endParaRPr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Sorting edges takes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O(E log E)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(where E = number of edges).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Union-Find operations take almost constant time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(O(α(V))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inverse Ackermann function, which is very small).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Space Complexity: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O(E + V)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○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Storing sorted edges takes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O(E)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space.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○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Union - Find operations takes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O(V)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space for rank/parent array.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Follows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greedy approach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Uses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Disjoint Set Union (DSU)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Union-Find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data structure to efficiently check whether adding an edge forms a cycle.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If the graph is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not connected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, it produces a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Minimum Spanning Forest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(MST for each component).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Does not work for directed graphs as path can not be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guaranteed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b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/>
          <p:nvPr>
            <p:ph type="title"/>
          </p:nvPr>
        </p:nvSpPr>
        <p:spPr>
          <a:xfrm>
            <a:off x="758156" y="77812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289" name="Google Shape;289;p48"/>
          <p:cNvSpPr txBox="1"/>
          <p:nvPr>
            <p:ph idx="1" type="body"/>
          </p:nvPr>
        </p:nvSpPr>
        <p:spPr>
          <a:xfrm>
            <a:off x="758149" y="1571525"/>
            <a:ext cx="78306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Graph Algorithms by Mumit Khan </a:t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https://drive.google.com/file/d/1MCbK6w6tSITZ3UrV9Na4-tPTolKXjO3D/view?usp=sharing</a:t>
            </a:r>
            <a:endParaRPr b="1" u="sng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