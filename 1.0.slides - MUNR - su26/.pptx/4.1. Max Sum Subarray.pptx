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Tahom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02640C-E7A3-47C6-A22B-8439596E0217}">
  <a:tblStyle styleId="{F702640C-E7A3-47C6-A22B-8439596E02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71254B6-1585-4C4F-A5F5-6F1928804B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Tahoma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4eeb9d1b0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274eeb9d1b0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4eeb9d1b0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4eeb9d1b0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4eebcf9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4eebcf9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4eebcf9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4eebcf9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4eebcf9e0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4eebcf9e0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4eebcf9e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4eebcf9e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94060ffa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94060ffa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94060ffa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94060ffa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7e87727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17e87727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94060ffa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e94060ffa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Sum Subarray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4" y="744425"/>
            <a:ext cx="4943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Max Sum Subarray Problem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673713" y="1414978"/>
            <a:ext cx="786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1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1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647550" y="179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{F702640C-E7A3-47C6-A22B-8439596E0217}</a:tableStyleId>
              </a:tblPr>
              <a:tblGrid>
                <a:gridCol w="495300"/>
                <a:gridCol w="495300"/>
                <a:gridCol w="495300"/>
                <a:gridCol w="493725"/>
                <a:gridCol w="495300"/>
                <a:gridCol w="495300"/>
                <a:gridCol w="495300"/>
                <a:gridCol w="495300"/>
                <a:gridCol w="495300"/>
                <a:gridCol w="4937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20"/>
          <p:cNvSpPr/>
          <p:nvPr/>
        </p:nvSpPr>
        <p:spPr>
          <a:xfrm rot="5400000">
            <a:off x="4902225" y="1423288"/>
            <a:ext cx="384300" cy="18717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3758675" y="2571750"/>
            <a:ext cx="282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max sum subarray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647550" y="3064350"/>
            <a:ext cx="79215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Char char="•"/>
            </a:pPr>
            <a:r>
              <a:rPr i="1" lang="en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[1..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of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that some of the numbers are </a:t>
            </a:r>
            <a:r>
              <a:rPr lang="en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this problem is trivial when all numbers are nonnegative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1600"/>
              <a:buChar char="•"/>
            </a:pPr>
            <a:r>
              <a:rPr i="1" lang="en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nonempty subarray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 the largest sum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+... + </a:t>
            </a:r>
            <a:r>
              <a:rPr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-25000" i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687656" y="762375"/>
            <a:ext cx="5024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Brute Force Approach</a:t>
            </a:r>
            <a:endParaRPr/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3603700" y="144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413525"/>
                <a:gridCol w="413525"/>
                <a:gridCol w="413525"/>
                <a:gridCol w="413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1"/>
          <p:cNvSpPr txBox="1"/>
          <p:nvPr/>
        </p:nvSpPr>
        <p:spPr>
          <a:xfrm>
            <a:off x="775625" y="1884875"/>
            <a:ext cx="314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subarrays of size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644770" y="1342237"/>
            <a:ext cx="198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1366425" y="2571750"/>
            <a:ext cx="372900" cy="396300"/>
          </a:xfrm>
          <a:prstGeom prst="rect">
            <a:avLst/>
          </a:prstGeom>
          <a:solidFill>
            <a:srgbClr val="F8F6F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1366425" y="3126300"/>
            <a:ext cx="372900" cy="396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-2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1366425" y="4239350"/>
            <a:ext cx="372900" cy="400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-1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1366425" y="3680875"/>
            <a:ext cx="372900" cy="400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2526013" y="2266763"/>
            <a:ext cx="5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129575" y="2266775"/>
            <a:ext cx="5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420600" y="3116625"/>
            <a:ext cx="3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2420600" y="3663450"/>
            <a:ext cx="3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2487300" y="273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588375"/>
                <a:gridCol w="588375"/>
              </a:tblGrid>
              <a:tr h="45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5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5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5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5" name="Google Shape;135;p21"/>
          <p:cNvSpPr txBox="1"/>
          <p:nvPr/>
        </p:nvSpPr>
        <p:spPr>
          <a:xfrm>
            <a:off x="4667050" y="1884875"/>
            <a:ext cx="37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subarrays of size 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5257800" y="3833200"/>
            <a:ext cx="411600" cy="44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5669573" y="3833200"/>
            <a:ext cx="411600" cy="44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5257800" y="2546700"/>
            <a:ext cx="411600" cy="44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5669573" y="2546700"/>
            <a:ext cx="411600" cy="44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5257800" y="3189950"/>
            <a:ext cx="411600" cy="44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5669573" y="3189950"/>
            <a:ext cx="411600" cy="446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7493800" y="2050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6590525" y="3116625"/>
            <a:ext cx="3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6590525" y="3663450"/>
            <a:ext cx="3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21"/>
          <p:cNvGraphicFramePr/>
          <p:nvPr/>
        </p:nvGraphicFramePr>
        <p:xfrm>
          <a:off x="6590525" y="254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486450"/>
                <a:gridCol w="486450"/>
              </a:tblGrid>
              <a:tr h="57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7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7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" name="Google Shape;146;p21"/>
          <p:cNvSpPr txBox="1"/>
          <p:nvPr/>
        </p:nvSpPr>
        <p:spPr>
          <a:xfrm>
            <a:off x="6590525" y="2146500"/>
            <a:ext cx="9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  Max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736107" y="762375"/>
            <a:ext cx="4869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Brute Force Approach</a:t>
            </a:r>
            <a:endParaRPr/>
          </a:p>
        </p:txBody>
      </p:sp>
      <p:graphicFrame>
        <p:nvGraphicFramePr>
          <p:cNvPr id="152" name="Google Shape;152;p22"/>
          <p:cNvGraphicFramePr/>
          <p:nvPr/>
        </p:nvGraphicFramePr>
        <p:xfrm>
          <a:off x="3603700" y="144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413525"/>
                <a:gridCol w="413525"/>
                <a:gridCol w="413525"/>
                <a:gridCol w="413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3" name="Google Shape;153;p22"/>
          <p:cNvSpPr txBox="1"/>
          <p:nvPr/>
        </p:nvSpPr>
        <p:spPr>
          <a:xfrm>
            <a:off x="736100" y="2061950"/>
            <a:ext cx="348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subarrays of size 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1240275" y="2928900"/>
            <a:ext cx="4128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1652949" y="2928900"/>
            <a:ext cx="4128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2065623" y="2928900"/>
            <a:ext cx="4128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1240275" y="3612828"/>
            <a:ext cx="4128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1652949" y="3612828"/>
            <a:ext cx="4128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2065623" y="3612828"/>
            <a:ext cx="4128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22"/>
          <p:cNvGraphicFramePr/>
          <p:nvPr/>
        </p:nvGraphicFramePr>
        <p:xfrm>
          <a:off x="2916225" y="292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477775"/>
                <a:gridCol w="477775"/>
              </a:tblGrid>
              <a:tr h="54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4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1" name="Google Shape;161;p22"/>
          <p:cNvSpPr txBox="1"/>
          <p:nvPr/>
        </p:nvSpPr>
        <p:spPr>
          <a:xfrm>
            <a:off x="4572000" y="2061950"/>
            <a:ext cx="405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subarrays of size 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5045176" y="2928902"/>
            <a:ext cx="4161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5461369" y="2928902"/>
            <a:ext cx="4161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5877562" y="2928902"/>
            <a:ext cx="4161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283083" y="2928902"/>
            <a:ext cx="416100" cy="455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22"/>
          <p:cNvGraphicFramePr/>
          <p:nvPr/>
        </p:nvGraphicFramePr>
        <p:xfrm>
          <a:off x="7164200" y="296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437350"/>
                <a:gridCol w="437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" name="Google Shape;167;p22"/>
          <p:cNvSpPr txBox="1"/>
          <p:nvPr/>
        </p:nvSpPr>
        <p:spPr>
          <a:xfrm>
            <a:off x="2877475" y="2495425"/>
            <a:ext cx="99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  Max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7164200" y="2514025"/>
            <a:ext cx="19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   Max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808750" y="4193850"/>
            <a:ext cx="517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brute force approach!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727256" y="748050"/>
            <a:ext cx="4968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 Approach	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777400" y="1787600"/>
            <a:ext cx="3106500" cy="31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 = -∞</a:t>
            </a:r>
            <a:endParaRPr b="1"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for i = 1 to n do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</a:t>
            </a:r>
            <a:endParaRPr b="1"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for j = i to n do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begin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	sum = sum + A[j]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	if sum &gt; max 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	then max = sum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	end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4754550" y="1520100"/>
            <a:ext cx="2768400" cy="1401600"/>
          </a:xfrm>
          <a:prstGeom prst="cloudCallout">
            <a:avLst>
              <a:gd fmla="val -65010" name="adj1"/>
              <a:gd fmla="val 88463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Time complexity?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O(n</a:t>
            </a:r>
            <a:r>
              <a:rPr b="1" baseline="30000" lang="en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lang="en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20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741506" y="762375"/>
            <a:ext cx="5001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 &amp; Conquer Approach</a:t>
            </a:r>
            <a:endParaRPr/>
          </a:p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741500" y="1432500"/>
            <a:ext cx="7989900" cy="16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locations of a maximum subarray </a:t>
            </a:r>
            <a:r>
              <a:rPr i="1" lang="en"/>
              <a:t>A</a:t>
            </a:r>
            <a:r>
              <a:rPr lang="en"/>
              <a:t>[</a:t>
            </a:r>
            <a:r>
              <a:rPr i="1" lang="en"/>
              <a:t>i</a:t>
            </a:r>
            <a:r>
              <a:rPr lang="en"/>
              <a:t>..</a:t>
            </a:r>
            <a:r>
              <a:rPr i="1" lang="en"/>
              <a:t>j</a:t>
            </a:r>
            <a:r>
              <a:rPr lang="en"/>
              <a:t>] of </a:t>
            </a:r>
            <a:r>
              <a:rPr i="1" lang="en"/>
              <a:t>A</a:t>
            </a:r>
            <a:r>
              <a:rPr lang="en"/>
              <a:t>[</a:t>
            </a:r>
            <a:r>
              <a:rPr i="1" lang="en"/>
              <a:t>low</a:t>
            </a:r>
            <a:r>
              <a:rPr lang="en"/>
              <a:t>..</a:t>
            </a:r>
            <a:r>
              <a:rPr i="1" lang="en"/>
              <a:t>high</a:t>
            </a:r>
            <a:r>
              <a:rPr lang="en"/>
              <a:t>],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where </a:t>
            </a:r>
            <a:r>
              <a:rPr i="1" lang="en"/>
              <a:t>mid</a:t>
            </a:r>
            <a:r>
              <a:rPr lang="en"/>
              <a:t> = (</a:t>
            </a:r>
            <a:r>
              <a:rPr i="1" lang="en"/>
              <a:t>low </a:t>
            </a:r>
            <a:r>
              <a:rPr lang="en"/>
              <a:t>+ </a:t>
            </a:r>
            <a:r>
              <a:rPr i="1" lang="en"/>
              <a:t>high</a:t>
            </a:r>
            <a:r>
              <a:rPr lang="en"/>
              <a:t>)/2</a:t>
            </a:r>
            <a:endParaRPr/>
          </a:p>
          <a:p>
            <a:pPr indent="-222250" lvl="1" marL="74295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Calibri"/>
              <a:buChar char="▪"/>
            </a:pPr>
            <a:r>
              <a:rPr lang="en">
                <a:solidFill>
                  <a:schemeClr val="dk1"/>
                </a:solidFill>
              </a:rPr>
              <a:t>entirely in </a:t>
            </a:r>
            <a:r>
              <a:rPr i="1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[</a:t>
            </a:r>
            <a:r>
              <a:rPr i="1" lang="en">
                <a:solidFill>
                  <a:schemeClr val="dk1"/>
                </a:solidFill>
              </a:rPr>
              <a:t>low</a:t>
            </a:r>
            <a:r>
              <a:rPr lang="en">
                <a:solidFill>
                  <a:schemeClr val="dk1"/>
                </a:solidFill>
              </a:rPr>
              <a:t>..</a:t>
            </a:r>
            <a:r>
              <a:rPr i="1" lang="en">
                <a:solidFill>
                  <a:schemeClr val="dk1"/>
                </a:solidFill>
              </a:rPr>
              <a:t>mid</a:t>
            </a:r>
            <a:r>
              <a:rPr lang="en">
                <a:solidFill>
                  <a:schemeClr val="dk1"/>
                </a:solidFill>
              </a:rPr>
              <a:t>] 		(</a:t>
            </a:r>
            <a:r>
              <a:rPr i="1" lang="en">
                <a:solidFill>
                  <a:schemeClr val="dk1"/>
                </a:solidFill>
              </a:rPr>
              <a:t>low</a:t>
            </a:r>
            <a:r>
              <a:rPr lang="en">
                <a:solidFill>
                  <a:schemeClr val="dk1"/>
                </a:solidFill>
              </a:rPr>
              <a:t> ≤ </a:t>
            </a:r>
            <a:r>
              <a:rPr i="1" lang="en">
                <a:solidFill>
                  <a:schemeClr val="dk1"/>
                </a:solidFill>
              </a:rPr>
              <a:t>i </a:t>
            </a:r>
            <a:r>
              <a:rPr lang="en">
                <a:solidFill>
                  <a:schemeClr val="dk1"/>
                </a:solidFill>
              </a:rPr>
              <a:t>≤ </a:t>
            </a:r>
            <a:r>
              <a:rPr i="1" lang="en">
                <a:solidFill>
                  <a:schemeClr val="dk1"/>
                </a:solidFill>
              </a:rPr>
              <a:t>j </a:t>
            </a:r>
            <a:r>
              <a:rPr lang="en">
                <a:solidFill>
                  <a:schemeClr val="dk1"/>
                </a:solidFill>
              </a:rPr>
              <a:t>≤ </a:t>
            </a:r>
            <a:r>
              <a:rPr i="1" lang="en">
                <a:solidFill>
                  <a:schemeClr val="dk1"/>
                </a:solidFill>
              </a:rPr>
              <a:t>mid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222250" lvl="1" marL="74295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Calibri"/>
              <a:buChar char="▪"/>
            </a:pPr>
            <a:r>
              <a:rPr lang="en">
                <a:solidFill>
                  <a:schemeClr val="dk1"/>
                </a:solidFill>
              </a:rPr>
              <a:t>entirely in </a:t>
            </a:r>
            <a:r>
              <a:rPr i="1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[</a:t>
            </a:r>
            <a:r>
              <a:rPr i="1" lang="en">
                <a:solidFill>
                  <a:schemeClr val="dk1"/>
                </a:solidFill>
              </a:rPr>
              <a:t>mid</a:t>
            </a:r>
            <a:r>
              <a:rPr lang="en">
                <a:solidFill>
                  <a:schemeClr val="dk1"/>
                </a:solidFill>
              </a:rPr>
              <a:t>+1</a:t>
            </a:r>
            <a:r>
              <a:rPr i="1" lang="en">
                <a:solidFill>
                  <a:schemeClr val="dk1"/>
                </a:solidFill>
              </a:rPr>
              <a:t>..high</a:t>
            </a:r>
            <a:r>
              <a:rPr lang="en">
                <a:solidFill>
                  <a:schemeClr val="dk1"/>
                </a:solidFill>
              </a:rPr>
              <a:t>] 	           (</a:t>
            </a:r>
            <a:r>
              <a:rPr i="1" lang="en">
                <a:solidFill>
                  <a:schemeClr val="dk1"/>
                </a:solidFill>
              </a:rPr>
              <a:t>mid</a:t>
            </a:r>
            <a:r>
              <a:rPr lang="en">
                <a:solidFill>
                  <a:schemeClr val="dk1"/>
                </a:solidFill>
              </a:rPr>
              <a:t> &lt; </a:t>
            </a:r>
            <a:r>
              <a:rPr i="1" lang="en">
                <a:solidFill>
                  <a:schemeClr val="dk1"/>
                </a:solidFill>
              </a:rPr>
              <a:t>i </a:t>
            </a:r>
            <a:r>
              <a:rPr lang="en">
                <a:solidFill>
                  <a:schemeClr val="dk1"/>
                </a:solidFill>
              </a:rPr>
              <a:t>≤ </a:t>
            </a:r>
            <a:r>
              <a:rPr i="1" lang="en">
                <a:solidFill>
                  <a:schemeClr val="dk1"/>
                </a:solidFill>
              </a:rPr>
              <a:t>j </a:t>
            </a:r>
            <a:r>
              <a:rPr lang="en">
                <a:solidFill>
                  <a:schemeClr val="dk1"/>
                </a:solidFill>
              </a:rPr>
              <a:t>≤ </a:t>
            </a:r>
            <a:r>
              <a:rPr i="1" lang="en">
                <a:solidFill>
                  <a:schemeClr val="dk1"/>
                </a:solidFill>
              </a:rPr>
              <a:t>high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222250" lvl="1" marL="74295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Calibri"/>
              <a:buChar char="▪"/>
            </a:pPr>
            <a:r>
              <a:rPr lang="en">
                <a:solidFill>
                  <a:schemeClr val="dk1"/>
                </a:solidFill>
              </a:rPr>
              <a:t>crossing the midpoint 		(</a:t>
            </a:r>
            <a:r>
              <a:rPr i="1" lang="en">
                <a:solidFill>
                  <a:schemeClr val="dk1"/>
                </a:solidFill>
              </a:rPr>
              <a:t>low</a:t>
            </a:r>
            <a:r>
              <a:rPr lang="en">
                <a:solidFill>
                  <a:schemeClr val="dk1"/>
                </a:solidFill>
              </a:rPr>
              <a:t> ≤ </a:t>
            </a:r>
            <a:r>
              <a:rPr i="1" lang="en">
                <a:solidFill>
                  <a:schemeClr val="dk1"/>
                </a:solidFill>
              </a:rPr>
              <a:t>i </a:t>
            </a:r>
            <a:r>
              <a:rPr lang="en">
                <a:solidFill>
                  <a:schemeClr val="dk1"/>
                </a:solidFill>
              </a:rPr>
              <a:t>≤ </a:t>
            </a:r>
            <a:r>
              <a:rPr i="1" lang="en">
                <a:solidFill>
                  <a:schemeClr val="dk1"/>
                </a:solidFill>
              </a:rPr>
              <a:t>mid</a:t>
            </a:r>
            <a:r>
              <a:rPr lang="en">
                <a:solidFill>
                  <a:schemeClr val="dk1"/>
                </a:solidFill>
              </a:rPr>
              <a:t> &lt; </a:t>
            </a:r>
            <a:r>
              <a:rPr i="1" lang="en">
                <a:solidFill>
                  <a:schemeClr val="dk1"/>
                </a:solidFill>
              </a:rPr>
              <a:t>j </a:t>
            </a:r>
            <a:r>
              <a:rPr lang="en">
                <a:solidFill>
                  <a:schemeClr val="dk1"/>
                </a:solidFill>
              </a:rPr>
              <a:t>≤ </a:t>
            </a:r>
            <a:r>
              <a:rPr i="1" lang="en">
                <a:solidFill>
                  <a:schemeClr val="dk1"/>
                </a:solidFill>
              </a:rPr>
              <a:t>high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413" y="2790725"/>
            <a:ext cx="4921170" cy="18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687656" y="762375"/>
            <a:ext cx="4989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 &amp; Conquer Approach</a:t>
            </a:r>
            <a:endParaRPr/>
          </a:p>
        </p:txBody>
      </p:sp>
      <p:graphicFrame>
        <p:nvGraphicFramePr>
          <p:cNvPr id="189" name="Google Shape;189;p25"/>
          <p:cNvGraphicFramePr/>
          <p:nvPr/>
        </p:nvGraphicFramePr>
        <p:xfrm>
          <a:off x="3638450" y="18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0" name="Google Shape;190;p25"/>
          <p:cNvGraphicFramePr/>
          <p:nvPr/>
        </p:nvGraphicFramePr>
        <p:xfrm>
          <a:off x="3255600" y="265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1" name="Google Shape;191;p25"/>
          <p:cNvGraphicFramePr/>
          <p:nvPr/>
        </p:nvGraphicFramePr>
        <p:xfrm>
          <a:off x="4787000" y="265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p25"/>
          <p:cNvGraphicFramePr/>
          <p:nvPr/>
        </p:nvGraphicFramePr>
        <p:xfrm>
          <a:off x="3106975" y="33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</a:tblGrid>
              <a:tr h="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" name="Google Shape;193;p25"/>
          <p:cNvGraphicFramePr/>
          <p:nvPr/>
        </p:nvGraphicFramePr>
        <p:xfrm>
          <a:off x="3779275" y="33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</a:tblGrid>
              <a:tr h="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p25"/>
          <p:cNvGraphicFramePr/>
          <p:nvPr/>
        </p:nvGraphicFramePr>
        <p:xfrm>
          <a:off x="4603450" y="33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</a:tblGrid>
              <a:tr h="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5" name="Google Shape;195;p25"/>
          <p:cNvGraphicFramePr/>
          <p:nvPr/>
        </p:nvGraphicFramePr>
        <p:xfrm>
          <a:off x="5367675" y="33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{571254B6-1585-4C4F-A5F5-6F1928804B35}</a:tableStyleId>
              </a:tblPr>
              <a:tblGrid>
                <a:gridCol w="382850"/>
              </a:tblGrid>
              <a:tr h="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96" name="Google Shape;196;p25"/>
          <p:cNvCxnSpPr/>
          <p:nvPr/>
        </p:nvCxnSpPr>
        <p:spPr>
          <a:xfrm flipH="1">
            <a:off x="3678325" y="2264725"/>
            <a:ext cx="3825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5"/>
          <p:cNvCxnSpPr/>
          <p:nvPr/>
        </p:nvCxnSpPr>
        <p:spPr>
          <a:xfrm>
            <a:off x="4786925" y="2280350"/>
            <a:ext cx="351300" cy="3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5"/>
          <p:cNvCxnSpPr/>
          <p:nvPr/>
        </p:nvCxnSpPr>
        <p:spPr>
          <a:xfrm flipH="1">
            <a:off x="3358100" y="3061100"/>
            <a:ext cx="2421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5"/>
          <p:cNvCxnSpPr/>
          <p:nvPr/>
        </p:nvCxnSpPr>
        <p:spPr>
          <a:xfrm>
            <a:off x="3678275" y="3084500"/>
            <a:ext cx="288900" cy="2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5"/>
          <p:cNvCxnSpPr/>
          <p:nvPr/>
        </p:nvCxnSpPr>
        <p:spPr>
          <a:xfrm flipH="1">
            <a:off x="4802550" y="3061100"/>
            <a:ext cx="335700" cy="2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5"/>
          <p:cNvCxnSpPr/>
          <p:nvPr/>
        </p:nvCxnSpPr>
        <p:spPr>
          <a:xfrm>
            <a:off x="5192900" y="3068900"/>
            <a:ext cx="3201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5"/>
          <p:cNvSpPr txBox="1"/>
          <p:nvPr/>
        </p:nvSpPr>
        <p:spPr>
          <a:xfrm>
            <a:off x="5821225" y="4001950"/>
            <a:ext cx="93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857825" y="2271350"/>
            <a:ext cx="217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6100450" y="2935000"/>
            <a:ext cx="14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2955500" y="295730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LSS =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5513000" y="2569900"/>
            <a:ext cx="60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 = 4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3764925" y="295730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 = -2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2724225" y="2548100"/>
            <a:ext cx="7656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 =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4435275" y="295730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LSS =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5292163" y="295730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 = -1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4914500" y="2205963"/>
            <a:ext cx="876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RSS =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295550" y="2179975"/>
            <a:ext cx="685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LSS =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4061238" y="1514325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 =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687656" y="762375"/>
            <a:ext cx="498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758499" y="1317500"/>
            <a:ext cx="6427800" cy="3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maxSumSubArray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 sz="10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leftSum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maxSumSubArray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[: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rightSum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maxSumSubArray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:],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'-inf'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105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'-inf'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0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 = mid - 1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0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0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 = mid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n - 1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endParaRPr b="1" sz="105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leftSum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rightSum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687656" y="762375"/>
            <a:ext cx="498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Complexity Analysis</a:t>
            </a:r>
            <a:endParaRPr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758499" y="1317500"/>
            <a:ext cx="6427800" cy="3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maxSumSubArray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 sz="10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leftSum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maxSumSubArray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[: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                               </a:t>
            </a:r>
            <a:r>
              <a:rPr b="1" lang="en" sz="10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T(n/2)</a:t>
            </a:r>
            <a:endParaRPr b="1" sz="10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rightSum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maxSumSubArray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:],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mid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                          </a:t>
            </a:r>
            <a:r>
              <a:rPr b="1" lang="en" sz="10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T(n/2)</a:t>
            </a:r>
            <a:endParaRPr b="1" sz="10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'-inf'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105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'-inf'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0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 = mid - 1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0                                                   </a:t>
            </a:r>
            <a:r>
              <a:rPr b="1" lang="en" sz="10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n/2</a:t>
            </a:r>
            <a:endParaRPr b="1" sz="10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0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 = mid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n - 1                                                   </a:t>
            </a:r>
            <a:r>
              <a:rPr b="1" lang="en" sz="10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n/2</a:t>
            </a:r>
            <a:endParaRPr b="1" sz="10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crossLeft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crossRight</a:t>
            </a:r>
            <a:endParaRPr b="1" sz="105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leftSum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rightSum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05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crossSum</a:t>
            </a:r>
            <a:r>
              <a:rPr b="1" lang="en" sz="10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" name="Google Shape;226;p27"/>
          <p:cNvCxnSpPr/>
          <p:nvPr/>
        </p:nvCxnSpPr>
        <p:spPr>
          <a:xfrm flipH="1" rot="10800000">
            <a:off x="4022550" y="2290800"/>
            <a:ext cx="21570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7"/>
          <p:cNvCxnSpPr/>
          <p:nvPr/>
        </p:nvCxnSpPr>
        <p:spPr>
          <a:xfrm>
            <a:off x="4400400" y="2495400"/>
            <a:ext cx="17790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7"/>
          <p:cNvCxnSpPr/>
          <p:nvPr/>
        </p:nvCxnSpPr>
        <p:spPr>
          <a:xfrm>
            <a:off x="2629225" y="2928350"/>
            <a:ext cx="355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7"/>
          <p:cNvCxnSpPr/>
          <p:nvPr/>
        </p:nvCxnSpPr>
        <p:spPr>
          <a:xfrm flipH="1" rot="10800000">
            <a:off x="2581975" y="3778650"/>
            <a:ext cx="35817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687656" y="762375"/>
            <a:ext cx="4968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Complexity Analysis</a:t>
            </a:r>
            <a:endParaRPr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763050" y="1814525"/>
            <a:ext cx="5576700" cy="19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Therefore,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T(n) = 2T(n/2) + n/2 + n/2 = 2T(n/2) + O(n)</a:t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Applying Master’s theorem,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a = 2, b</a:t>
            </a:r>
            <a:r>
              <a:rPr baseline="30000" lang="en"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= 2 and p = 0, therefore a = b</a:t>
            </a:r>
            <a:r>
              <a:rPr baseline="30000" lang="en"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and p &gt; -1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aseline="30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T(n) = O(n^(log</a:t>
            </a:r>
            <a:r>
              <a:rPr baseline="-25000" lang="en"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a) log</a:t>
            </a:r>
            <a:r>
              <a:rPr baseline="30000" lang="en">
                <a:latin typeface="Tahoma"/>
                <a:ea typeface="Tahoma"/>
                <a:cs typeface="Tahoma"/>
                <a:sym typeface="Tahoma"/>
              </a:rPr>
              <a:t>p+1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n) = O(n^(log</a:t>
            </a:r>
            <a:r>
              <a:rPr baseline="-25000" lang="en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2) log</a:t>
            </a:r>
            <a:r>
              <a:rPr baseline="30000" lang="en">
                <a:latin typeface="Tahoma"/>
                <a:ea typeface="Tahoma"/>
                <a:cs typeface="Tahoma"/>
                <a:sym typeface="Tahoma"/>
              </a:rPr>
              <a:t>0+1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n) =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O(nlogn)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