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y="6858000" cx="12192000"/>
  <p:notesSz cx="6858000" cy="9144000"/>
  <p:embeddedFontLst>
    <p:embeddedFont>
      <p:font typeface="Courgette"/>
      <p:regular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384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7EC0097-2149-47C6-8289-F3911038BEC2}">
  <a:tblStyle styleId="{C7EC0097-2149-47C6-8289-F3911038BEC2}"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9EFF7"/>
          </a:solidFill>
        </a:fill>
      </a:tcStyle>
    </a:wholeTbl>
    <a:band1H>
      <a:tcTxStyle/>
      <a:tcStyle>
        <a:fill>
          <a:solidFill>
            <a:srgbClr val="D0DEEF"/>
          </a:solidFill>
        </a:fill>
      </a:tcStyle>
    </a:band1H>
    <a:band2H>
      <a:tcTxStyle/>
    </a:band2H>
    <a:band1V>
      <a:tcTxStyle/>
      <a:tcStyle>
        <a:fill>
          <a:solidFill>
            <a:srgbClr val="D0DEEF"/>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6" Type="http://schemas.openxmlformats.org/officeDocument/2006/relationships/font" Target="fonts/Courgette-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 name="Google Shape;22;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 name="Shape 25"/>
        <p:cNvGrpSpPr/>
        <p:nvPr/>
      </p:nvGrpSpPr>
      <p:grpSpPr>
        <a:xfrm>
          <a:off x="0" y="0"/>
          <a:ext cx="0" cy="0"/>
          <a:chOff x="0" y="0"/>
          <a:chExt cx="0" cy="0"/>
        </a:xfrm>
      </p:grpSpPr>
      <p:sp>
        <p:nvSpPr>
          <p:cNvPr id="26" name="Google Shape;26;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8" name="Google Shape;28;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1" name="Shape 31"/>
        <p:cNvGrpSpPr/>
        <p:nvPr/>
      </p:nvGrpSpPr>
      <p:grpSpPr>
        <a:xfrm>
          <a:off x="0" y="0"/>
          <a:ext cx="0" cy="0"/>
          <a:chOff x="0" y="0"/>
          <a:chExt cx="0" cy="0"/>
        </a:xfrm>
      </p:grpSpPr>
      <p:sp>
        <p:nvSpPr>
          <p:cNvPr id="32" name="Google Shape;32;p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4" name="Google Shape;34;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7" name="Google Shape;47;p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5183188" y="987425"/>
            <a:ext cx="6172200" cy="4873625"/>
          </a:xfrm>
          <a:prstGeom prst="rect">
            <a:avLst/>
          </a:prstGeom>
          <a:noFill/>
          <a:ln>
            <a:noFill/>
          </a:ln>
        </p:spPr>
      </p:sp>
      <p:sp>
        <p:nvSpPr>
          <p:cNvPr id="68" name="Google Shape;68;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3"/>
          <p:cNvSpPr txBox="1"/>
          <p:nvPr/>
        </p:nvSpPr>
        <p:spPr>
          <a:xfrm>
            <a:off x="3435816" y="2101756"/>
            <a:ext cx="5479584" cy="175432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3600" u="none" cap="none" strike="noStrike">
                <a:solidFill>
                  <a:schemeClr val="dk1"/>
                </a:solidFill>
                <a:latin typeface="Times New Roman"/>
                <a:ea typeface="Times New Roman"/>
                <a:cs typeface="Times New Roman"/>
                <a:sym typeface="Times New Roman"/>
              </a:rPr>
              <a:t>CSE221</a:t>
            </a:r>
            <a:endParaRPr/>
          </a:p>
          <a:p>
            <a:pPr indent="0" lvl="0" marL="0" marR="0" rtl="0" algn="ctr">
              <a:spcBef>
                <a:spcPts val="0"/>
              </a:spcBef>
              <a:spcAft>
                <a:spcPts val="0"/>
              </a:spcAft>
              <a:buNone/>
            </a:pPr>
            <a:r>
              <a:t/>
            </a:r>
            <a:endParaRPr b="0" i="0" sz="3600" u="none" cap="none" strike="noStrike">
              <a:solidFill>
                <a:schemeClr val="dk1"/>
              </a:solidFill>
              <a:latin typeface="Times New Roman"/>
              <a:ea typeface="Times New Roman"/>
              <a:cs typeface="Times New Roman"/>
              <a:sym typeface="Times New Roman"/>
            </a:endParaRPr>
          </a:p>
          <a:p>
            <a:pPr indent="0" lvl="0" marL="0" marR="0" rtl="0" algn="ctr">
              <a:spcBef>
                <a:spcPts val="0"/>
              </a:spcBef>
              <a:spcAft>
                <a:spcPts val="0"/>
              </a:spcAft>
              <a:buNone/>
            </a:pPr>
            <a:r>
              <a:rPr b="0" i="0" lang="en-US" sz="3600" u="none" cap="none" strike="noStrike">
                <a:solidFill>
                  <a:schemeClr val="dk1"/>
                </a:solidFill>
                <a:latin typeface="Times New Roman"/>
                <a:ea typeface="Times New Roman"/>
                <a:cs typeface="Times New Roman"/>
                <a:sym typeface="Times New Roman"/>
              </a:rPr>
              <a:t>Algorithms: </a:t>
            </a:r>
            <a:r>
              <a:rPr b="0" i="1" lang="en-US" sz="3600" u="none" cap="none" strike="noStrike">
                <a:solidFill>
                  <a:schemeClr val="dk1"/>
                </a:solidFill>
                <a:latin typeface="Times New Roman"/>
                <a:ea typeface="Times New Roman"/>
                <a:cs typeface="Times New Roman"/>
                <a:sym typeface="Times New Roman"/>
              </a:rPr>
              <a:t>Binary Search</a:t>
            </a:r>
            <a:endParaRPr/>
          </a:p>
        </p:txBody>
      </p:sp>
      <p:sp>
        <p:nvSpPr>
          <p:cNvPr id="90" name="Google Shape;90;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Summer 2020</a:t>
            </a:r>
            <a:endParaRPr/>
          </a:p>
        </p:txBody>
      </p:sp>
      <p:pic>
        <p:nvPicPr>
          <p:cNvPr descr="bracu_logo.png" id="91" name="Google Shape;91;p13"/>
          <p:cNvPicPr preferRelativeResize="0"/>
          <p:nvPr/>
        </p:nvPicPr>
        <p:blipFill rotWithShape="1">
          <a:blip r:embed="rId3">
            <a:alphaModFix/>
          </a:blip>
          <a:srcRect b="0" l="0" r="0" t="0"/>
          <a:stretch/>
        </p:blipFill>
        <p:spPr>
          <a:xfrm>
            <a:off x="10688827" y="14277"/>
            <a:ext cx="1479371" cy="135732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Binary Search</a:t>
            </a:r>
            <a:endParaRPr/>
          </a:p>
        </p:txBody>
      </p:sp>
      <p:sp>
        <p:nvSpPr>
          <p:cNvPr id="97" name="Google Shape;97;p14"/>
          <p:cNvSpPr txBox="1"/>
          <p:nvPr>
            <p:ph idx="1" type="body"/>
          </p:nvPr>
        </p:nvSpPr>
        <p:spPr>
          <a:xfrm>
            <a:off x="838200" y="1468425"/>
            <a:ext cx="10515600" cy="4351338"/>
          </a:xfrm>
          <a:prstGeom prst="rect">
            <a:avLst/>
          </a:prstGeom>
          <a:noFill/>
          <a:ln>
            <a:noFill/>
          </a:ln>
        </p:spPr>
        <p:txBody>
          <a:bodyPr anchorCtr="0" anchor="t" bIns="45700" lIns="91425" spcFirstLastPara="1" rIns="91425" wrap="square" tIns="45700">
            <a:normAutofit fontScale="25000" lnSpcReduction="20000"/>
          </a:bodyPr>
          <a:lstStyle/>
          <a:p>
            <a:pPr indent="-228600" lvl="0" marL="228600" rtl="0" algn="l">
              <a:lnSpc>
                <a:spcPct val="170000"/>
              </a:lnSpc>
              <a:spcBef>
                <a:spcPts val="0"/>
              </a:spcBef>
              <a:spcAft>
                <a:spcPts val="0"/>
              </a:spcAft>
              <a:buClr>
                <a:schemeClr val="dk1"/>
              </a:buClr>
              <a:buSzPct val="100000"/>
              <a:buChar char="•"/>
            </a:pPr>
            <a:r>
              <a:rPr lang="en-US" sz="8000"/>
              <a:t>A divide and conquer algorithm</a:t>
            </a:r>
            <a:endParaRPr/>
          </a:p>
          <a:p>
            <a:pPr indent="-228600" lvl="0" marL="228600" rtl="0" algn="l">
              <a:lnSpc>
                <a:spcPct val="170000"/>
              </a:lnSpc>
              <a:spcBef>
                <a:spcPts val="1000"/>
              </a:spcBef>
              <a:spcAft>
                <a:spcPts val="0"/>
              </a:spcAft>
              <a:buClr>
                <a:schemeClr val="dk1"/>
              </a:buClr>
              <a:buSzPct val="100000"/>
              <a:buChar char="•"/>
            </a:pPr>
            <a:r>
              <a:rPr lang="en-US" sz="8000"/>
              <a:t>Does not search the entire array like linear search</a:t>
            </a:r>
            <a:endParaRPr/>
          </a:p>
          <a:p>
            <a:pPr indent="-228600" lvl="0" marL="228600" rtl="0" algn="l">
              <a:lnSpc>
                <a:spcPct val="170000"/>
              </a:lnSpc>
              <a:spcBef>
                <a:spcPts val="1000"/>
              </a:spcBef>
              <a:spcAft>
                <a:spcPts val="0"/>
              </a:spcAft>
              <a:buClr>
                <a:schemeClr val="dk1"/>
              </a:buClr>
              <a:buSzPct val="100000"/>
              <a:buChar char="•"/>
            </a:pPr>
            <a:r>
              <a:rPr lang="en-US" sz="8000"/>
              <a:t>Given an array of </a:t>
            </a:r>
            <a:r>
              <a:rPr b="1" lang="en-US" sz="8000" u="sng"/>
              <a:t>sorted elements</a:t>
            </a:r>
            <a:r>
              <a:rPr lang="en-US" sz="8000"/>
              <a:t> and the item, k, to search for, we first check if the middle element matches k. </a:t>
            </a:r>
            <a:endParaRPr sz="8000" u="sng"/>
          </a:p>
          <a:p>
            <a:pPr indent="-228600" lvl="0" marL="228600" rtl="0" algn="l">
              <a:lnSpc>
                <a:spcPct val="170000"/>
              </a:lnSpc>
              <a:spcBef>
                <a:spcPts val="1000"/>
              </a:spcBef>
              <a:spcAft>
                <a:spcPts val="0"/>
              </a:spcAft>
              <a:buClr>
                <a:schemeClr val="dk1"/>
              </a:buClr>
              <a:buSzPct val="100000"/>
              <a:buChar char="•"/>
            </a:pPr>
            <a:r>
              <a:rPr lang="en-US" sz="8000"/>
              <a:t>If we find then bingo! Else we check </a:t>
            </a:r>
            <a:r>
              <a:rPr lang="en-US" sz="8000">
                <a:solidFill>
                  <a:srgbClr val="FF0000"/>
                </a:solidFill>
              </a:rPr>
              <a:t>if k &gt; middle element </a:t>
            </a:r>
            <a:r>
              <a:rPr lang="en-US" sz="8000"/>
              <a:t>or </a:t>
            </a:r>
            <a:r>
              <a:rPr lang="en-US" sz="8000">
                <a:solidFill>
                  <a:srgbClr val="FF0000"/>
                </a:solidFill>
              </a:rPr>
              <a:t>k &lt; middle element</a:t>
            </a:r>
            <a:r>
              <a:rPr lang="en-US" sz="8000"/>
              <a:t>? If the first condition is true we look into the right half of the array. If the second condition is true we look into the left half of the array.</a:t>
            </a:r>
            <a:endParaRPr/>
          </a:p>
          <a:p>
            <a:pPr indent="-228600" lvl="0" marL="228600" rtl="0" algn="l">
              <a:lnSpc>
                <a:spcPct val="170000"/>
              </a:lnSpc>
              <a:spcBef>
                <a:spcPts val="1000"/>
              </a:spcBef>
              <a:spcAft>
                <a:spcPts val="0"/>
              </a:spcAft>
              <a:buClr>
                <a:schemeClr val="dk1"/>
              </a:buClr>
              <a:buSzPct val="100000"/>
              <a:buChar char="•"/>
            </a:pPr>
            <a:r>
              <a:rPr lang="en-US" sz="8000"/>
              <a:t>Note that the red marked conditions are true if and only if the array is sorted. </a:t>
            </a:r>
            <a:endParaRPr/>
          </a:p>
          <a:p>
            <a:pPr indent="-184150" lvl="0" marL="22860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rPr lang="en-US"/>
              <a:t> </a:t>
            </a:r>
            <a:endParaRPr/>
          </a:p>
        </p:txBody>
      </p:sp>
      <p:sp>
        <p:nvSpPr>
          <p:cNvPr id="98" name="Google Shape;98;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Summer 2020</a:t>
            </a:r>
            <a:endParaRPr/>
          </a:p>
        </p:txBody>
      </p:sp>
      <p:pic>
        <p:nvPicPr>
          <p:cNvPr descr="bracu_logo.png" id="99" name="Google Shape;99;p14"/>
          <p:cNvPicPr preferRelativeResize="0"/>
          <p:nvPr/>
        </p:nvPicPr>
        <p:blipFill rotWithShape="1">
          <a:blip r:embed="rId3">
            <a:alphaModFix/>
          </a:blip>
          <a:srcRect b="0" l="0" r="0" t="0"/>
          <a:stretch/>
        </p:blipFill>
        <p:spPr>
          <a:xfrm>
            <a:off x="10688827" y="14277"/>
            <a:ext cx="1479371" cy="135732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5"/>
          <p:cNvSpPr txBox="1"/>
          <p:nvPr>
            <p:ph type="title"/>
          </p:nvPr>
        </p:nvSpPr>
        <p:spPr>
          <a:xfrm>
            <a:off x="831850" y="573206"/>
            <a:ext cx="10515600" cy="797739"/>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sz="4400"/>
              <a:t>Binary Search</a:t>
            </a:r>
            <a:endParaRPr sz="4400"/>
          </a:p>
        </p:txBody>
      </p:sp>
      <p:sp>
        <p:nvSpPr>
          <p:cNvPr id="105" name="Google Shape;105;p15"/>
          <p:cNvSpPr txBox="1"/>
          <p:nvPr>
            <p:ph idx="1" type="body"/>
          </p:nvPr>
        </p:nvSpPr>
        <p:spPr>
          <a:xfrm>
            <a:off x="845498" y="1259399"/>
            <a:ext cx="10515600" cy="569391"/>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888888"/>
              </a:buClr>
              <a:buSzPts val="2400"/>
              <a:buNone/>
            </a:pPr>
            <a:r>
              <a:rPr lang="en-US"/>
              <a:t>Pseudo code (Iterative)</a:t>
            </a:r>
            <a:endParaRPr/>
          </a:p>
        </p:txBody>
      </p:sp>
      <p:sp>
        <p:nvSpPr>
          <p:cNvPr id="106" name="Google Shape;106;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Summer 2020</a:t>
            </a:r>
            <a:endParaRPr/>
          </a:p>
        </p:txBody>
      </p:sp>
      <p:sp>
        <p:nvSpPr>
          <p:cNvPr id="107" name="Google Shape;107;p15"/>
          <p:cNvSpPr txBox="1"/>
          <p:nvPr/>
        </p:nvSpPr>
        <p:spPr>
          <a:xfrm>
            <a:off x="957252" y="1814499"/>
            <a:ext cx="4884671" cy="4278094"/>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boolean binarySearch(A[], </a:t>
            </a:r>
            <a:r>
              <a:rPr b="0" i="0" lang="en-US" sz="1800" u="none" cap="none" strike="noStrike">
                <a:solidFill>
                  <a:schemeClr val="dk1"/>
                </a:solidFill>
                <a:latin typeface="Courgette"/>
                <a:ea typeface="Courgette"/>
                <a:cs typeface="Courgette"/>
                <a:sym typeface="Courgette"/>
              </a:rPr>
              <a:t>l</a:t>
            </a:r>
            <a:r>
              <a:rPr b="0" i="0" lang="en-US" sz="1800" u="none" cap="none" strike="noStrike">
                <a:solidFill>
                  <a:schemeClr val="dk1"/>
                </a:solidFill>
                <a:latin typeface="Calibri"/>
                <a:ea typeface="Calibri"/>
                <a:cs typeface="Calibri"/>
                <a:sym typeface="Calibri"/>
              </a:rPr>
              <a:t> , r, item){</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while (</a:t>
            </a:r>
            <a:r>
              <a:rPr lang="en-US" sz="1800">
                <a:solidFill>
                  <a:schemeClr val="dk1"/>
                </a:solidFill>
                <a:latin typeface="Courgette"/>
                <a:ea typeface="Courgette"/>
                <a:cs typeface="Courgette"/>
                <a:sym typeface="Courgette"/>
              </a:rPr>
              <a:t>l</a:t>
            </a:r>
            <a:r>
              <a:rPr lang="en-US" sz="1800">
                <a:solidFill>
                  <a:schemeClr val="dk1"/>
                </a:solidFill>
                <a:latin typeface="Calibri"/>
                <a:ea typeface="Calibri"/>
                <a:cs typeface="Calibri"/>
                <a:sym typeface="Calibri"/>
              </a:rPr>
              <a:t> &lt;=r){</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mid = (</a:t>
            </a:r>
            <a:r>
              <a:rPr lang="en-US" sz="1800">
                <a:solidFill>
                  <a:schemeClr val="dk1"/>
                </a:solidFill>
                <a:latin typeface="Courgette"/>
                <a:ea typeface="Courgette"/>
                <a:cs typeface="Courgette"/>
                <a:sym typeface="Courgette"/>
              </a:rPr>
              <a:t>l</a:t>
            </a:r>
            <a:r>
              <a:rPr lang="en-US" sz="1800">
                <a:solidFill>
                  <a:schemeClr val="dk1"/>
                </a:solidFill>
                <a:latin typeface="Calibri"/>
                <a:ea typeface="Calibri"/>
                <a:cs typeface="Calibri"/>
                <a:sym typeface="Calibri"/>
              </a:rPr>
              <a:t> +r)/2;</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if (A[mid]==item){</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return true;</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}else{</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if (item&lt;A[mid]){</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r = mid-1;</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}else{</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r>
              <a:rPr lang="en-US" sz="1800">
                <a:solidFill>
                  <a:schemeClr val="dk1"/>
                </a:solidFill>
                <a:latin typeface="Courgette"/>
                <a:ea typeface="Courgette"/>
                <a:cs typeface="Courgette"/>
                <a:sym typeface="Courgette"/>
              </a:rPr>
              <a:t> l</a:t>
            </a:r>
            <a:r>
              <a:rPr lang="en-US" sz="1800">
                <a:solidFill>
                  <a:schemeClr val="dk1"/>
                </a:solidFill>
                <a:latin typeface="Calibri"/>
                <a:ea typeface="Calibri"/>
                <a:cs typeface="Calibri"/>
                <a:sym typeface="Calibri"/>
              </a:rPr>
              <a:t> = mid+1;</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return false;</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a:t>
            </a:r>
            <a:endParaRPr sz="1800">
              <a:solidFill>
                <a:schemeClr val="dk1"/>
              </a:solidFill>
              <a:latin typeface="Calibri"/>
              <a:ea typeface="Calibri"/>
              <a:cs typeface="Calibri"/>
              <a:sym typeface="Calibri"/>
            </a:endParaRPr>
          </a:p>
        </p:txBody>
      </p:sp>
      <p:cxnSp>
        <p:nvCxnSpPr>
          <p:cNvPr id="108" name="Google Shape;108;p15"/>
          <p:cNvCxnSpPr/>
          <p:nvPr/>
        </p:nvCxnSpPr>
        <p:spPr>
          <a:xfrm flipH="1">
            <a:off x="3200402" y="1285875"/>
            <a:ext cx="3200399" cy="985838"/>
          </a:xfrm>
          <a:prstGeom prst="straightConnector1">
            <a:avLst/>
          </a:prstGeom>
          <a:noFill/>
          <a:ln cap="flat" cmpd="sng" w="38100">
            <a:solidFill>
              <a:schemeClr val="dk1"/>
            </a:solidFill>
            <a:prstDash val="solid"/>
            <a:miter lim="800000"/>
            <a:headEnd len="sm" w="sm" type="none"/>
            <a:tailEnd len="med" w="med" type="stealth"/>
          </a:ln>
        </p:spPr>
      </p:cxnSp>
      <p:cxnSp>
        <p:nvCxnSpPr>
          <p:cNvPr id="109" name="Google Shape;109;p15"/>
          <p:cNvCxnSpPr/>
          <p:nvPr/>
        </p:nvCxnSpPr>
        <p:spPr>
          <a:xfrm flipH="1">
            <a:off x="4186240" y="1828799"/>
            <a:ext cx="2328860" cy="657225"/>
          </a:xfrm>
          <a:prstGeom prst="straightConnector1">
            <a:avLst/>
          </a:prstGeom>
          <a:noFill/>
          <a:ln cap="flat" cmpd="sng" w="38100">
            <a:solidFill>
              <a:schemeClr val="dk1"/>
            </a:solidFill>
            <a:prstDash val="solid"/>
            <a:miter lim="800000"/>
            <a:headEnd len="sm" w="sm" type="none"/>
            <a:tailEnd len="med" w="med" type="stealth"/>
          </a:ln>
        </p:spPr>
      </p:cxnSp>
      <p:cxnSp>
        <p:nvCxnSpPr>
          <p:cNvPr id="110" name="Google Shape;110;p15"/>
          <p:cNvCxnSpPr/>
          <p:nvPr/>
        </p:nvCxnSpPr>
        <p:spPr>
          <a:xfrm flipH="1">
            <a:off x="4714875" y="2443163"/>
            <a:ext cx="1771650" cy="385760"/>
          </a:xfrm>
          <a:prstGeom prst="straightConnector1">
            <a:avLst/>
          </a:prstGeom>
          <a:noFill/>
          <a:ln cap="flat" cmpd="sng" w="38100">
            <a:solidFill>
              <a:schemeClr val="dk1"/>
            </a:solidFill>
            <a:prstDash val="solid"/>
            <a:miter lim="800000"/>
            <a:headEnd len="sm" w="sm" type="none"/>
            <a:tailEnd len="med" w="med" type="stealth"/>
          </a:ln>
        </p:spPr>
      </p:cxnSp>
      <p:cxnSp>
        <p:nvCxnSpPr>
          <p:cNvPr id="111" name="Google Shape;111;p15"/>
          <p:cNvCxnSpPr/>
          <p:nvPr/>
        </p:nvCxnSpPr>
        <p:spPr>
          <a:xfrm flipH="1">
            <a:off x="5472116" y="3143249"/>
            <a:ext cx="1157284" cy="385763"/>
          </a:xfrm>
          <a:prstGeom prst="straightConnector1">
            <a:avLst/>
          </a:prstGeom>
          <a:noFill/>
          <a:ln cap="flat" cmpd="sng" w="38100">
            <a:solidFill>
              <a:schemeClr val="dk1"/>
            </a:solidFill>
            <a:prstDash val="solid"/>
            <a:miter lim="800000"/>
            <a:headEnd len="sm" w="sm" type="none"/>
            <a:tailEnd len="med" w="med" type="stealth"/>
          </a:ln>
        </p:spPr>
      </p:cxnSp>
      <p:cxnSp>
        <p:nvCxnSpPr>
          <p:cNvPr id="112" name="Google Shape;112;p15"/>
          <p:cNvCxnSpPr/>
          <p:nvPr/>
        </p:nvCxnSpPr>
        <p:spPr>
          <a:xfrm flipH="1">
            <a:off x="5686426" y="4200522"/>
            <a:ext cx="1057277" cy="271465"/>
          </a:xfrm>
          <a:prstGeom prst="straightConnector1">
            <a:avLst/>
          </a:prstGeom>
          <a:noFill/>
          <a:ln cap="flat" cmpd="sng" w="38100">
            <a:solidFill>
              <a:schemeClr val="dk1"/>
            </a:solidFill>
            <a:prstDash val="solid"/>
            <a:miter lim="800000"/>
            <a:headEnd len="sm" w="sm" type="none"/>
            <a:tailEnd len="med" w="med" type="stealth"/>
          </a:ln>
        </p:spPr>
      </p:cxnSp>
      <p:cxnSp>
        <p:nvCxnSpPr>
          <p:cNvPr id="113" name="Google Shape;113;p15"/>
          <p:cNvCxnSpPr/>
          <p:nvPr/>
        </p:nvCxnSpPr>
        <p:spPr>
          <a:xfrm flipH="1">
            <a:off x="3552831" y="5300662"/>
            <a:ext cx="3005132" cy="66675"/>
          </a:xfrm>
          <a:prstGeom prst="straightConnector1">
            <a:avLst/>
          </a:prstGeom>
          <a:noFill/>
          <a:ln cap="flat" cmpd="sng" w="38100">
            <a:solidFill>
              <a:schemeClr val="dk1"/>
            </a:solidFill>
            <a:prstDash val="solid"/>
            <a:miter lim="800000"/>
            <a:headEnd len="sm" w="sm" type="none"/>
            <a:tailEnd len="med" w="med" type="stealth"/>
          </a:ln>
        </p:spPr>
      </p:cxnSp>
      <p:sp>
        <p:nvSpPr>
          <p:cNvPr id="114" name="Google Shape;114;p15"/>
          <p:cNvSpPr txBox="1"/>
          <p:nvPr/>
        </p:nvSpPr>
        <p:spPr>
          <a:xfrm>
            <a:off x="6715105" y="842928"/>
            <a:ext cx="4243406"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ourgette"/>
                <a:ea typeface="Courgette"/>
                <a:cs typeface="Courgette"/>
                <a:sym typeface="Courgette"/>
              </a:rPr>
              <a:t>l</a:t>
            </a:r>
            <a:r>
              <a:rPr lang="en-US" sz="2000">
                <a:solidFill>
                  <a:schemeClr val="dk1"/>
                </a:solidFill>
                <a:latin typeface="Calibri"/>
                <a:ea typeface="Calibri"/>
                <a:cs typeface="Calibri"/>
                <a:sym typeface="Calibri"/>
              </a:rPr>
              <a:t> must always be less or equal to r for the loop to run</a:t>
            </a:r>
            <a:endParaRPr sz="2000">
              <a:solidFill>
                <a:schemeClr val="dk1"/>
              </a:solidFill>
              <a:latin typeface="Calibri"/>
              <a:ea typeface="Calibri"/>
              <a:cs typeface="Calibri"/>
              <a:sym typeface="Calibri"/>
            </a:endParaRPr>
          </a:p>
        </p:txBody>
      </p:sp>
      <p:sp>
        <p:nvSpPr>
          <p:cNvPr id="115" name="Google Shape;115;p15"/>
          <p:cNvSpPr txBox="1"/>
          <p:nvPr/>
        </p:nvSpPr>
        <p:spPr>
          <a:xfrm>
            <a:off x="6724625" y="1581136"/>
            <a:ext cx="4305301"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Find the mid index</a:t>
            </a:r>
            <a:endParaRPr sz="2000">
              <a:solidFill>
                <a:schemeClr val="dk1"/>
              </a:solidFill>
              <a:latin typeface="Calibri"/>
              <a:ea typeface="Calibri"/>
              <a:cs typeface="Calibri"/>
              <a:sym typeface="Calibri"/>
            </a:endParaRPr>
          </a:p>
        </p:txBody>
      </p:sp>
      <p:sp>
        <p:nvSpPr>
          <p:cNvPr id="116" name="Google Shape;116;p15"/>
          <p:cNvSpPr txBox="1"/>
          <p:nvPr/>
        </p:nvSpPr>
        <p:spPr>
          <a:xfrm>
            <a:off x="6724625" y="1981200"/>
            <a:ext cx="4976836"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Check if item matches with the mid element, return true if does else next step.</a:t>
            </a:r>
            <a:endParaRPr sz="2000">
              <a:solidFill>
                <a:schemeClr val="dk1"/>
              </a:solidFill>
              <a:latin typeface="Calibri"/>
              <a:ea typeface="Calibri"/>
              <a:cs typeface="Calibri"/>
              <a:sym typeface="Calibri"/>
            </a:endParaRPr>
          </a:p>
        </p:txBody>
      </p:sp>
      <p:sp>
        <p:nvSpPr>
          <p:cNvPr id="117" name="Google Shape;117;p15"/>
          <p:cNvSpPr txBox="1"/>
          <p:nvPr/>
        </p:nvSpPr>
        <p:spPr>
          <a:xfrm>
            <a:off x="6738913" y="2738464"/>
            <a:ext cx="3614737" cy="10156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Check if the item is smaller, if yes shift the search range to left by moving r</a:t>
            </a:r>
            <a:endParaRPr sz="2000">
              <a:solidFill>
                <a:schemeClr val="dk1"/>
              </a:solidFill>
              <a:latin typeface="Calibri"/>
              <a:ea typeface="Calibri"/>
              <a:cs typeface="Calibri"/>
              <a:sym typeface="Calibri"/>
            </a:endParaRPr>
          </a:p>
        </p:txBody>
      </p:sp>
      <p:sp>
        <p:nvSpPr>
          <p:cNvPr id="118" name="Google Shape;118;p15"/>
          <p:cNvSpPr txBox="1"/>
          <p:nvPr/>
        </p:nvSpPr>
        <p:spPr>
          <a:xfrm>
            <a:off x="6781776" y="3867204"/>
            <a:ext cx="3614737" cy="10156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If the above condition is dissatisfied, shift the search range to right by moving </a:t>
            </a:r>
            <a:r>
              <a:rPr lang="en-US" sz="2000">
                <a:solidFill>
                  <a:schemeClr val="dk1"/>
                </a:solidFill>
                <a:latin typeface="Courgette"/>
                <a:ea typeface="Courgette"/>
                <a:cs typeface="Courgette"/>
                <a:sym typeface="Courgette"/>
              </a:rPr>
              <a:t>l</a:t>
            </a:r>
            <a:r>
              <a:rPr lang="en-US" sz="2000">
                <a:solidFill>
                  <a:schemeClr val="dk1"/>
                </a:solidFill>
                <a:latin typeface="Calibri"/>
                <a:ea typeface="Calibri"/>
                <a:cs typeface="Calibri"/>
                <a:sym typeface="Calibri"/>
              </a:rPr>
              <a:t> </a:t>
            </a:r>
            <a:endParaRPr sz="2000">
              <a:solidFill>
                <a:schemeClr val="dk1"/>
              </a:solidFill>
              <a:latin typeface="Calibri"/>
              <a:ea typeface="Calibri"/>
              <a:cs typeface="Calibri"/>
              <a:sym typeface="Calibri"/>
            </a:endParaRPr>
          </a:p>
        </p:txBody>
      </p:sp>
      <p:sp>
        <p:nvSpPr>
          <p:cNvPr id="119" name="Google Shape;119;p15"/>
          <p:cNvSpPr txBox="1"/>
          <p:nvPr/>
        </p:nvSpPr>
        <p:spPr>
          <a:xfrm>
            <a:off x="6743681" y="5000605"/>
            <a:ext cx="4694555"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The program will reach this line after while </a:t>
            </a:r>
            <a:br>
              <a:rPr lang="en-US" sz="2000">
                <a:solidFill>
                  <a:schemeClr val="dk1"/>
                </a:solidFill>
                <a:latin typeface="Calibri"/>
                <a:ea typeface="Calibri"/>
                <a:cs typeface="Calibri"/>
                <a:sym typeface="Calibri"/>
              </a:rPr>
            </a:br>
            <a:r>
              <a:rPr lang="en-US" sz="2000">
                <a:solidFill>
                  <a:schemeClr val="dk1"/>
                </a:solidFill>
                <a:latin typeface="Calibri"/>
                <a:ea typeface="Calibri"/>
                <a:cs typeface="Calibri"/>
                <a:sym typeface="Calibri"/>
              </a:rPr>
              <a:t>loop is complete. False is returned. </a:t>
            </a:r>
            <a:endParaRPr sz="2000">
              <a:solidFill>
                <a:schemeClr val="dk1"/>
              </a:solidFill>
              <a:latin typeface="Calibri"/>
              <a:ea typeface="Calibri"/>
              <a:cs typeface="Calibri"/>
              <a:sym typeface="Calibri"/>
            </a:endParaRPr>
          </a:p>
        </p:txBody>
      </p:sp>
      <p:pic>
        <p:nvPicPr>
          <p:cNvPr descr="bracu_logo.png" id="120" name="Google Shape;120;p15"/>
          <p:cNvPicPr preferRelativeResize="0"/>
          <p:nvPr/>
        </p:nvPicPr>
        <p:blipFill rotWithShape="1">
          <a:blip r:embed="rId3">
            <a:alphaModFix/>
          </a:blip>
          <a:srcRect b="0" l="0" r="0" t="0"/>
          <a:stretch/>
        </p:blipFill>
        <p:spPr>
          <a:xfrm>
            <a:off x="10688827" y="14277"/>
            <a:ext cx="1479371" cy="135732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Summer 2020</a:t>
            </a:r>
            <a:endParaRPr/>
          </a:p>
        </p:txBody>
      </p:sp>
      <p:graphicFrame>
        <p:nvGraphicFramePr>
          <p:cNvPr id="126" name="Google Shape;126;p16"/>
          <p:cNvGraphicFramePr/>
          <p:nvPr/>
        </p:nvGraphicFramePr>
        <p:xfrm>
          <a:off x="1053879" y="3147550"/>
          <a:ext cx="3000000" cy="3000000"/>
        </p:xfrm>
        <a:graphic>
          <a:graphicData uri="http://schemas.openxmlformats.org/drawingml/2006/table">
            <a:tbl>
              <a:tblPr bandRow="1" firstRow="1">
                <a:noFill/>
                <a:tableStyleId>{C7EC0097-2149-47C6-8289-F3911038BEC2}</a:tableStyleId>
              </a:tblPr>
              <a:tblGrid>
                <a:gridCol w="880100"/>
                <a:gridCol w="880100"/>
                <a:gridCol w="880100"/>
                <a:gridCol w="880100"/>
                <a:gridCol w="880100"/>
              </a:tblGrid>
              <a:tr h="370850">
                <a:tc>
                  <a:txBody>
                    <a:bodyPr/>
                    <a:lstStyle/>
                    <a:p>
                      <a:pPr indent="0" lvl="0" marL="0" marR="0" rtl="0" algn="ctr">
                        <a:spcBef>
                          <a:spcPts val="0"/>
                        </a:spcBef>
                        <a:spcAft>
                          <a:spcPts val="0"/>
                        </a:spcAft>
                        <a:buNone/>
                      </a:pPr>
                      <a:r>
                        <a:rPr lang="en-US" sz="1800" u="none" cap="none" strike="noStrike">
                          <a:solidFill>
                            <a:schemeClr val="dk1"/>
                          </a:solidFill>
                        </a:rPr>
                        <a:t>0</a:t>
                      </a:r>
                      <a:endParaRPr sz="1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spcBef>
                          <a:spcPts val="0"/>
                        </a:spcBef>
                        <a:spcAft>
                          <a:spcPts val="0"/>
                        </a:spcAft>
                        <a:buNone/>
                      </a:pPr>
                      <a:r>
                        <a:rPr lang="en-US" sz="1800" u="none" cap="none" strike="noStrike">
                          <a:solidFill>
                            <a:schemeClr val="dk1"/>
                          </a:solidFill>
                        </a:rPr>
                        <a:t>1</a:t>
                      </a:r>
                      <a:endParaRPr sz="1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spcBef>
                          <a:spcPts val="0"/>
                        </a:spcBef>
                        <a:spcAft>
                          <a:spcPts val="0"/>
                        </a:spcAft>
                        <a:buNone/>
                      </a:pPr>
                      <a:r>
                        <a:rPr lang="en-US" sz="1800" u="none" cap="none" strike="noStrike">
                          <a:solidFill>
                            <a:schemeClr val="dk1"/>
                          </a:solidFill>
                        </a:rPr>
                        <a:t>2</a:t>
                      </a:r>
                      <a:endParaRPr sz="1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spcBef>
                          <a:spcPts val="0"/>
                        </a:spcBef>
                        <a:spcAft>
                          <a:spcPts val="0"/>
                        </a:spcAft>
                        <a:buNone/>
                      </a:pPr>
                      <a:r>
                        <a:rPr lang="en-US" sz="1800" u="none" cap="none" strike="noStrike">
                          <a:solidFill>
                            <a:schemeClr val="dk1"/>
                          </a:solidFill>
                        </a:rPr>
                        <a:t>3</a:t>
                      </a:r>
                      <a:endParaRPr sz="1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spcBef>
                          <a:spcPts val="0"/>
                        </a:spcBef>
                        <a:spcAft>
                          <a:spcPts val="0"/>
                        </a:spcAft>
                        <a:buNone/>
                      </a:pPr>
                      <a:r>
                        <a:rPr lang="en-US" sz="1800" u="none" cap="none" strike="noStrike">
                          <a:solidFill>
                            <a:schemeClr val="dk1"/>
                          </a:solidFill>
                        </a:rPr>
                        <a:t>4</a:t>
                      </a:r>
                      <a:endParaRPr sz="1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r>
            </a:tbl>
          </a:graphicData>
        </a:graphic>
      </p:graphicFrame>
      <p:sp>
        <p:nvSpPr>
          <p:cNvPr id="127" name="Google Shape;127;p16"/>
          <p:cNvSpPr txBox="1"/>
          <p:nvPr/>
        </p:nvSpPr>
        <p:spPr>
          <a:xfrm>
            <a:off x="1296768" y="2466247"/>
            <a:ext cx="32861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chemeClr val="dk1"/>
                </a:solidFill>
                <a:latin typeface="Courgette"/>
                <a:ea typeface="Courgette"/>
                <a:cs typeface="Courgette"/>
                <a:sym typeface="Courgette"/>
              </a:rPr>
              <a:t>l</a:t>
            </a:r>
            <a:endParaRPr sz="1800">
              <a:solidFill>
                <a:schemeClr val="dk1"/>
              </a:solidFill>
              <a:latin typeface="Courgette"/>
              <a:ea typeface="Courgette"/>
              <a:cs typeface="Courgette"/>
              <a:sym typeface="Courgette"/>
            </a:endParaRPr>
          </a:p>
        </p:txBody>
      </p:sp>
      <p:sp>
        <p:nvSpPr>
          <p:cNvPr id="128" name="Google Shape;128;p16"/>
          <p:cNvSpPr txBox="1"/>
          <p:nvPr/>
        </p:nvSpPr>
        <p:spPr>
          <a:xfrm>
            <a:off x="4878168" y="2475777"/>
            <a:ext cx="32861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chemeClr val="dk1"/>
                </a:solidFill>
                <a:latin typeface="Courgette"/>
                <a:ea typeface="Courgette"/>
                <a:cs typeface="Courgette"/>
                <a:sym typeface="Courgette"/>
              </a:rPr>
              <a:t>r</a:t>
            </a:r>
            <a:endParaRPr/>
          </a:p>
        </p:txBody>
      </p:sp>
      <p:sp>
        <p:nvSpPr>
          <p:cNvPr id="129" name="Google Shape;129;p16"/>
          <p:cNvSpPr txBox="1"/>
          <p:nvPr/>
        </p:nvSpPr>
        <p:spPr>
          <a:xfrm>
            <a:off x="2911255" y="2466249"/>
            <a:ext cx="74295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chemeClr val="dk1"/>
                </a:solidFill>
                <a:latin typeface="Courgette"/>
                <a:ea typeface="Courgette"/>
                <a:cs typeface="Courgette"/>
                <a:sym typeface="Courgette"/>
              </a:rPr>
              <a:t>mid</a:t>
            </a:r>
            <a:endParaRPr sz="1800">
              <a:solidFill>
                <a:schemeClr val="dk1"/>
              </a:solidFill>
              <a:latin typeface="Courgette"/>
              <a:ea typeface="Courgette"/>
              <a:cs typeface="Courgette"/>
              <a:sym typeface="Courgette"/>
            </a:endParaRPr>
          </a:p>
        </p:txBody>
      </p:sp>
      <p:sp>
        <p:nvSpPr>
          <p:cNvPr id="130" name="Google Shape;130;p16"/>
          <p:cNvSpPr/>
          <p:nvPr/>
        </p:nvSpPr>
        <p:spPr>
          <a:xfrm>
            <a:off x="3039843" y="3999923"/>
            <a:ext cx="462188" cy="523724"/>
          </a:xfrm>
          <a:prstGeom prst="mathMultiply">
            <a:avLst>
              <a:gd fmla="val 23520" name="adj1"/>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1" name="Google Shape;131;p16"/>
          <p:cNvSpPr txBox="1"/>
          <p:nvPr/>
        </p:nvSpPr>
        <p:spPr>
          <a:xfrm>
            <a:off x="3554185" y="4109298"/>
            <a:ext cx="821059" cy="369332"/>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FF0000"/>
                </a:solidFill>
                <a:latin typeface="Calibri"/>
                <a:ea typeface="Calibri"/>
                <a:cs typeface="Calibri"/>
                <a:sym typeface="Calibri"/>
              </a:rPr>
              <a:t>60&gt; 34</a:t>
            </a:r>
            <a:endParaRPr b="1" sz="1800">
              <a:solidFill>
                <a:srgbClr val="FF0000"/>
              </a:solidFill>
              <a:latin typeface="Calibri"/>
              <a:ea typeface="Calibri"/>
              <a:cs typeface="Calibri"/>
              <a:sym typeface="Calibri"/>
            </a:endParaRPr>
          </a:p>
        </p:txBody>
      </p:sp>
      <p:sp>
        <p:nvSpPr>
          <p:cNvPr id="132" name="Google Shape;132;p16"/>
          <p:cNvSpPr txBox="1"/>
          <p:nvPr/>
        </p:nvSpPr>
        <p:spPr>
          <a:xfrm>
            <a:off x="4035296" y="2490055"/>
            <a:ext cx="32861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chemeClr val="dk1"/>
                </a:solidFill>
                <a:latin typeface="Courgette"/>
                <a:ea typeface="Courgette"/>
                <a:cs typeface="Courgette"/>
                <a:sym typeface="Courgette"/>
              </a:rPr>
              <a:t>l</a:t>
            </a:r>
            <a:endParaRPr sz="1800">
              <a:solidFill>
                <a:schemeClr val="dk1"/>
              </a:solidFill>
              <a:latin typeface="Courgette"/>
              <a:ea typeface="Courgette"/>
              <a:cs typeface="Courgette"/>
              <a:sym typeface="Courgette"/>
            </a:endParaRPr>
          </a:p>
        </p:txBody>
      </p:sp>
      <p:sp>
        <p:nvSpPr>
          <p:cNvPr id="133" name="Google Shape;133;p16"/>
          <p:cNvSpPr txBox="1"/>
          <p:nvPr/>
        </p:nvSpPr>
        <p:spPr>
          <a:xfrm>
            <a:off x="3792343" y="2104281"/>
            <a:ext cx="74295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chemeClr val="dk1"/>
                </a:solidFill>
                <a:latin typeface="Courgette"/>
                <a:ea typeface="Courgette"/>
                <a:cs typeface="Courgette"/>
                <a:sym typeface="Courgette"/>
              </a:rPr>
              <a:t>mid</a:t>
            </a:r>
            <a:endParaRPr sz="1800">
              <a:solidFill>
                <a:schemeClr val="dk1"/>
              </a:solidFill>
              <a:latin typeface="Courgette"/>
              <a:ea typeface="Courgette"/>
              <a:cs typeface="Courgette"/>
              <a:sym typeface="Courgette"/>
            </a:endParaRPr>
          </a:p>
        </p:txBody>
      </p:sp>
      <p:sp>
        <p:nvSpPr>
          <p:cNvPr id="134" name="Google Shape;134;p16"/>
          <p:cNvSpPr/>
          <p:nvPr/>
        </p:nvSpPr>
        <p:spPr>
          <a:xfrm>
            <a:off x="3920931" y="4009443"/>
            <a:ext cx="462188" cy="523724"/>
          </a:xfrm>
          <a:prstGeom prst="mathMultiply">
            <a:avLst>
              <a:gd fmla="val 23520" name="adj1"/>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5" name="Google Shape;135;p16"/>
          <p:cNvSpPr txBox="1"/>
          <p:nvPr/>
        </p:nvSpPr>
        <p:spPr>
          <a:xfrm>
            <a:off x="4449561" y="4104530"/>
            <a:ext cx="821059" cy="369332"/>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FF0000"/>
                </a:solidFill>
                <a:latin typeface="Calibri"/>
                <a:ea typeface="Calibri"/>
                <a:cs typeface="Calibri"/>
                <a:sym typeface="Calibri"/>
              </a:rPr>
              <a:t>60&gt; 58</a:t>
            </a:r>
            <a:endParaRPr b="1" sz="1800">
              <a:solidFill>
                <a:srgbClr val="FF0000"/>
              </a:solidFill>
              <a:latin typeface="Calibri"/>
              <a:ea typeface="Calibri"/>
              <a:cs typeface="Calibri"/>
              <a:sym typeface="Calibri"/>
            </a:endParaRPr>
          </a:p>
        </p:txBody>
      </p:sp>
      <p:sp>
        <p:nvSpPr>
          <p:cNvPr id="136" name="Google Shape;136;p16"/>
          <p:cNvSpPr txBox="1"/>
          <p:nvPr/>
        </p:nvSpPr>
        <p:spPr>
          <a:xfrm>
            <a:off x="4903610" y="2209072"/>
            <a:ext cx="32861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chemeClr val="dk1"/>
                </a:solidFill>
                <a:latin typeface="Courgette"/>
                <a:ea typeface="Courgette"/>
                <a:cs typeface="Courgette"/>
                <a:sym typeface="Courgette"/>
              </a:rPr>
              <a:t>l</a:t>
            </a:r>
            <a:endParaRPr sz="1800">
              <a:solidFill>
                <a:schemeClr val="dk1"/>
              </a:solidFill>
              <a:latin typeface="Courgette"/>
              <a:ea typeface="Courgette"/>
              <a:cs typeface="Courgette"/>
              <a:sym typeface="Courgette"/>
            </a:endParaRPr>
          </a:p>
        </p:txBody>
      </p:sp>
      <p:sp>
        <p:nvSpPr>
          <p:cNvPr id="137" name="Google Shape;137;p16"/>
          <p:cNvSpPr/>
          <p:nvPr/>
        </p:nvSpPr>
        <p:spPr>
          <a:xfrm>
            <a:off x="4728115" y="4012403"/>
            <a:ext cx="462188" cy="523724"/>
          </a:xfrm>
          <a:prstGeom prst="mathMultiply">
            <a:avLst>
              <a:gd fmla="val 23520" name="adj1"/>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8" name="Google Shape;138;p16"/>
          <p:cNvSpPr txBox="1"/>
          <p:nvPr/>
        </p:nvSpPr>
        <p:spPr>
          <a:xfrm>
            <a:off x="1039585" y="3652029"/>
            <a:ext cx="885824" cy="369332"/>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7</a:t>
            </a:r>
            <a:endParaRPr sz="1800">
              <a:solidFill>
                <a:schemeClr val="dk1"/>
              </a:solidFill>
              <a:latin typeface="Calibri"/>
              <a:ea typeface="Calibri"/>
              <a:cs typeface="Calibri"/>
              <a:sym typeface="Calibri"/>
            </a:endParaRPr>
          </a:p>
        </p:txBody>
      </p:sp>
      <p:sp>
        <p:nvSpPr>
          <p:cNvPr id="139" name="Google Shape;139;p16"/>
          <p:cNvSpPr txBox="1"/>
          <p:nvPr/>
        </p:nvSpPr>
        <p:spPr>
          <a:xfrm>
            <a:off x="1934935" y="3651830"/>
            <a:ext cx="885824" cy="369332"/>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12</a:t>
            </a:r>
            <a:endParaRPr sz="1800">
              <a:solidFill>
                <a:schemeClr val="dk1"/>
              </a:solidFill>
              <a:latin typeface="Calibri"/>
              <a:ea typeface="Calibri"/>
              <a:cs typeface="Calibri"/>
              <a:sym typeface="Calibri"/>
            </a:endParaRPr>
          </a:p>
        </p:txBody>
      </p:sp>
      <p:sp>
        <p:nvSpPr>
          <p:cNvPr id="140" name="Google Shape;140;p16"/>
          <p:cNvSpPr txBox="1"/>
          <p:nvPr/>
        </p:nvSpPr>
        <p:spPr>
          <a:xfrm>
            <a:off x="4576112" y="3648123"/>
            <a:ext cx="866728" cy="369332"/>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87</a:t>
            </a:r>
            <a:endParaRPr sz="1800">
              <a:solidFill>
                <a:schemeClr val="dk1"/>
              </a:solidFill>
              <a:latin typeface="Calibri"/>
              <a:ea typeface="Calibri"/>
              <a:cs typeface="Calibri"/>
              <a:sym typeface="Calibri"/>
            </a:endParaRPr>
          </a:p>
        </p:txBody>
      </p:sp>
      <p:sp>
        <p:nvSpPr>
          <p:cNvPr id="141" name="Google Shape;141;p16"/>
          <p:cNvSpPr txBox="1"/>
          <p:nvPr/>
        </p:nvSpPr>
        <p:spPr>
          <a:xfrm>
            <a:off x="3683390" y="3644468"/>
            <a:ext cx="885824" cy="369332"/>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58</a:t>
            </a:r>
            <a:endParaRPr sz="1800">
              <a:solidFill>
                <a:schemeClr val="dk1"/>
              </a:solidFill>
              <a:latin typeface="Calibri"/>
              <a:ea typeface="Calibri"/>
              <a:cs typeface="Calibri"/>
              <a:sym typeface="Calibri"/>
            </a:endParaRPr>
          </a:p>
        </p:txBody>
      </p:sp>
      <p:sp>
        <p:nvSpPr>
          <p:cNvPr id="142" name="Google Shape;142;p16"/>
          <p:cNvSpPr txBox="1"/>
          <p:nvPr/>
        </p:nvSpPr>
        <p:spPr>
          <a:xfrm>
            <a:off x="2826404" y="3647253"/>
            <a:ext cx="847750" cy="374716"/>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34</a:t>
            </a:r>
            <a:endParaRPr sz="1800">
              <a:solidFill>
                <a:schemeClr val="dk1"/>
              </a:solidFill>
              <a:latin typeface="Calibri"/>
              <a:ea typeface="Calibri"/>
              <a:cs typeface="Calibri"/>
              <a:sym typeface="Calibri"/>
            </a:endParaRPr>
          </a:p>
        </p:txBody>
      </p:sp>
      <p:sp>
        <p:nvSpPr>
          <p:cNvPr id="143" name="Google Shape;143;p16"/>
          <p:cNvSpPr txBox="1"/>
          <p:nvPr/>
        </p:nvSpPr>
        <p:spPr>
          <a:xfrm>
            <a:off x="4709031" y="1751705"/>
            <a:ext cx="74295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chemeClr val="dk1"/>
                </a:solidFill>
                <a:latin typeface="Courgette"/>
                <a:ea typeface="Courgette"/>
                <a:cs typeface="Courgette"/>
                <a:sym typeface="Courgette"/>
              </a:rPr>
              <a:t>mid</a:t>
            </a:r>
            <a:endParaRPr sz="1800">
              <a:solidFill>
                <a:schemeClr val="dk1"/>
              </a:solidFill>
              <a:latin typeface="Courgette"/>
              <a:ea typeface="Courgette"/>
              <a:cs typeface="Courgette"/>
              <a:sym typeface="Courgette"/>
            </a:endParaRPr>
          </a:p>
        </p:txBody>
      </p:sp>
      <p:sp>
        <p:nvSpPr>
          <p:cNvPr id="144" name="Google Shape;144;p16"/>
          <p:cNvSpPr txBox="1"/>
          <p:nvPr/>
        </p:nvSpPr>
        <p:spPr>
          <a:xfrm>
            <a:off x="5298009" y="4106802"/>
            <a:ext cx="821059" cy="369332"/>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FF0000"/>
                </a:solidFill>
                <a:latin typeface="Calibri"/>
                <a:ea typeface="Calibri"/>
                <a:cs typeface="Calibri"/>
                <a:sym typeface="Calibri"/>
              </a:rPr>
              <a:t>60&lt; 87</a:t>
            </a:r>
            <a:endParaRPr b="1" sz="1800">
              <a:solidFill>
                <a:srgbClr val="FF0000"/>
              </a:solidFill>
              <a:latin typeface="Calibri"/>
              <a:ea typeface="Calibri"/>
              <a:cs typeface="Calibri"/>
              <a:sym typeface="Calibri"/>
            </a:endParaRPr>
          </a:p>
        </p:txBody>
      </p:sp>
      <p:sp>
        <p:nvSpPr>
          <p:cNvPr id="145" name="Google Shape;145;p16"/>
          <p:cNvSpPr/>
          <p:nvPr/>
        </p:nvSpPr>
        <p:spPr>
          <a:xfrm>
            <a:off x="3923307" y="2277282"/>
            <a:ext cx="1405721" cy="491320"/>
          </a:xfrm>
          <a:prstGeom prst="ellipse">
            <a:avLst/>
          </a:prstGeom>
          <a:no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6" name="Google Shape;146;p16"/>
          <p:cNvSpPr txBox="1"/>
          <p:nvPr/>
        </p:nvSpPr>
        <p:spPr>
          <a:xfrm>
            <a:off x="3966024" y="2191441"/>
            <a:ext cx="32861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chemeClr val="dk1"/>
                </a:solidFill>
                <a:latin typeface="Courgette"/>
                <a:ea typeface="Courgette"/>
                <a:cs typeface="Courgette"/>
                <a:sym typeface="Courgette"/>
              </a:rPr>
              <a:t>r</a:t>
            </a:r>
            <a:endParaRPr/>
          </a:p>
        </p:txBody>
      </p:sp>
      <p:sp>
        <p:nvSpPr>
          <p:cNvPr id="147" name="Google Shape;147;p16"/>
          <p:cNvSpPr txBox="1"/>
          <p:nvPr/>
        </p:nvSpPr>
        <p:spPr>
          <a:xfrm>
            <a:off x="831850" y="687510"/>
            <a:ext cx="5040313" cy="797739"/>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Binary Search</a:t>
            </a:r>
            <a:endParaRPr b="0" i="0" sz="4400" u="none" cap="none" strike="noStrike">
              <a:solidFill>
                <a:schemeClr val="dk1"/>
              </a:solidFill>
              <a:latin typeface="Calibri"/>
              <a:ea typeface="Calibri"/>
              <a:cs typeface="Calibri"/>
              <a:sym typeface="Calibri"/>
            </a:endParaRPr>
          </a:p>
        </p:txBody>
      </p:sp>
      <p:sp>
        <p:nvSpPr>
          <p:cNvPr id="148" name="Google Shape;148;p16"/>
          <p:cNvSpPr txBox="1"/>
          <p:nvPr/>
        </p:nvSpPr>
        <p:spPr>
          <a:xfrm>
            <a:off x="845498" y="1259399"/>
            <a:ext cx="4583752" cy="569391"/>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None/>
            </a:pPr>
            <a:r>
              <a:rPr b="0" i="0" lang="en-US" sz="2400" u="none" cap="none" strike="noStrike">
                <a:solidFill>
                  <a:srgbClr val="7F7F7F"/>
                </a:solidFill>
                <a:latin typeface="Calibri"/>
                <a:ea typeface="Calibri"/>
                <a:cs typeface="Calibri"/>
                <a:sym typeface="Calibri"/>
              </a:rPr>
              <a:t>Simulation</a:t>
            </a:r>
            <a:endParaRPr b="0" i="0" sz="2400" u="none" cap="none" strike="noStrike">
              <a:solidFill>
                <a:srgbClr val="7F7F7F"/>
              </a:solidFill>
              <a:latin typeface="Calibri"/>
              <a:ea typeface="Calibri"/>
              <a:cs typeface="Calibri"/>
              <a:sym typeface="Calibri"/>
            </a:endParaRPr>
          </a:p>
        </p:txBody>
      </p:sp>
      <p:sp>
        <p:nvSpPr>
          <p:cNvPr id="149" name="Google Shape;149;p16"/>
          <p:cNvSpPr txBox="1"/>
          <p:nvPr/>
        </p:nvSpPr>
        <p:spPr>
          <a:xfrm>
            <a:off x="6229524" y="1214403"/>
            <a:ext cx="4979248" cy="4708981"/>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boolean binarySearch(A[], </a:t>
            </a:r>
            <a:r>
              <a:rPr lang="en-US" sz="2000">
                <a:solidFill>
                  <a:schemeClr val="dk1"/>
                </a:solidFill>
                <a:latin typeface="Courgette"/>
                <a:ea typeface="Courgette"/>
                <a:cs typeface="Courgette"/>
                <a:sym typeface="Courgette"/>
              </a:rPr>
              <a:t>l</a:t>
            </a:r>
            <a:r>
              <a:rPr lang="en-US" sz="2000">
                <a:solidFill>
                  <a:schemeClr val="dk1"/>
                </a:solidFill>
                <a:latin typeface="Calibri"/>
                <a:ea typeface="Calibri"/>
                <a:cs typeface="Calibri"/>
                <a:sym typeface="Calibri"/>
              </a:rPr>
              <a:t> , r, item){</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while (</a:t>
            </a:r>
            <a:r>
              <a:rPr lang="en-US" sz="2000">
                <a:solidFill>
                  <a:schemeClr val="dk1"/>
                </a:solidFill>
                <a:latin typeface="Courgette"/>
                <a:ea typeface="Courgette"/>
                <a:cs typeface="Courgette"/>
                <a:sym typeface="Courgette"/>
              </a:rPr>
              <a:t>l</a:t>
            </a:r>
            <a:r>
              <a:rPr lang="en-US" sz="2000">
                <a:solidFill>
                  <a:schemeClr val="dk1"/>
                </a:solidFill>
                <a:latin typeface="Calibri"/>
                <a:ea typeface="Calibri"/>
                <a:cs typeface="Calibri"/>
                <a:sym typeface="Calibri"/>
              </a:rPr>
              <a:t> &lt;=r){</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mid = (</a:t>
            </a:r>
            <a:r>
              <a:rPr lang="en-US" sz="2000">
                <a:solidFill>
                  <a:schemeClr val="dk1"/>
                </a:solidFill>
                <a:latin typeface="Courgette"/>
                <a:ea typeface="Courgette"/>
                <a:cs typeface="Courgette"/>
                <a:sym typeface="Courgette"/>
              </a:rPr>
              <a:t>l</a:t>
            </a:r>
            <a:r>
              <a:rPr lang="en-US" sz="2000">
                <a:solidFill>
                  <a:schemeClr val="dk1"/>
                </a:solidFill>
                <a:latin typeface="Calibri"/>
                <a:ea typeface="Calibri"/>
                <a:cs typeface="Calibri"/>
                <a:sym typeface="Calibri"/>
              </a:rPr>
              <a:t> +r)/2;</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if (A[mid]==item){</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return true;</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}else{</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if (item&lt;A[mid]){</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r = mid-1;</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}else{</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a:t>
            </a:r>
            <a:r>
              <a:rPr lang="en-US" sz="2000">
                <a:solidFill>
                  <a:schemeClr val="dk1"/>
                </a:solidFill>
                <a:latin typeface="Courgette"/>
                <a:ea typeface="Courgette"/>
                <a:cs typeface="Courgette"/>
                <a:sym typeface="Courgette"/>
              </a:rPr>
              <a:t> l</a:t>
            </a:r>
            <a:r>
              <a:rPr lang="en-US" sz="2000">
                <a:solidFill>
                  <a:schemeClr val="dk1"/>
                </a:solidFill>
                <a:latin typeface="Calibri"/>
                <a:ea typeface="Calibri"/>
                <a:cs typeface="Calibri"/>
                <a:sym typeface="Calibri"/>
              </a:rPr>
              <a:t> = mid+1;</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return false;</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a:t>
            </a:r>
            <a:endParaRPr sz="2000">
              <a:solidFill>
                <a:schemeClr val="dk1"/>
              </a:solidFill>
              <a:latin typeface="Calibri"/>
              <a:ea typeface="Calibri"/>
              <a:cs typeface="Calibri"/>
              <a:sym typeface="Calibri"/>
            </a:endParaRPr>
          </a:p>
        </p:txBody>
      </p:sp>
      <p:pic>
        <p:nvPicPr>
          <p:cNvPr descr="bracu_logo.png" id="150" name="Google Shape;150;p16"/>
          <p:cNvPicPr preferRelativeResize="0"/>
          <p:nvPr/>
        </p:nvPicPr>
        <p:blipFill rotWithShape="1">
          <a:blip r:embed="rId3">
            <a:alphaModFix/>
          </a:blip>
          <a:srcRect b="0" l="0" r="0" t="0"/>
          <a:stretch/>
        </p:blipFill>
        <p:spPr>
          <a:xfrm>
            <a:off x="10688827" y="14277"/>
            <a:ext cx="1479371" cy="135732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
                                        </p:tgtEl>
                                        <p:attrNameLst>
                                          <p:attrName>style.visibility</p:attrName>
                                        </p:attrNameLst>
                                      </p:cBhvr>
                                      <p:to>
                                        <p:strVal val="visible"/>
                                      </p:to>
                                    </p:set>
                                    <p:animEffect filter="fade" transition="in">
                                      <p:cBhvr>
                                        <p:cTn dur="500"/>
                                        <p:tgtEl>
                                          <p:spTgt spid="127"/>
                                        </p:tgtEl>
                                      </p:cBhvr>
                                    </p:animEffect>
                                  </p:childTnLst>
                                </p:cTn>
                              </p:par>
                              <p:par>
                                <p:cTn fill="hold" nodeType="withEffect" presetClass="entr" presetID="10" presetSubtype="0">
                                  <p:stCondLst>
                                    <p:cond delay="0"/>
                                  </p:stCondLst>
                                  <p:childTnLst>
                                    <p:set>
                                      <p:cBhvr>
                                        <p:cTn dur="1" fill="hold">
                                          <p:stCondLst>
                                            <p:cond delay="0"/>
                                          </p:stCondLst>
                                        </p:cTn>
                                        <p:tgtEl>
                                          <p:spTgt spid="128"/>
                                        </p:tgtEl>
                                        <p:attrNameLst>
                                          <p:attrName>style.visibility</p:attrName>
                                        </p:attrNameLst>
                                      </p:cBhvr>
                                      <p:to>
                                        <p:strVal val="visible"/>
                                      </p:to>
                                    </p:set>
                                    <p:animEffect filter="fade" transition="in">
                                      <p:cBhvr>
                                        <p:cTn dur="500"/>
                                        <p:tgtEl>
                                          <p:spTgt spid="128"/>
                                        </p:tgtEl>
                                      </p:cBhvr>
                                    </p:animEffect>
                                  </p:childTnLst>
                                </p:cTn>
                              </p:par>
                              <p:par>
                                <p:cTn fill="hold" nodeType="withEffect" presetClass="entr" presetID="10" presetSubtype="0">
                                  <p:stCondLst>
                                    <p:cond delay="0"/>
                                  </p:stCondLst>
                                  <p:childTnLst>
                                    <p:set>
                                      <p:cBhvr>
                                        <p:cTn dur="1" fill="hold">
                                          <p:stCondLst>
                                            <p:cond delay="0"/>
                                          </p:stCondLst>
                                        </p:cTn>
                                        <p:tgtEl>
                                          <p:spTgt spid="129"/>
                                        </p:tgtEl>
                                        <p:attrNameLst>
                                          <p:attrName>style.visibility</p:attrName>
                                        </p:attrNameLst>
                                      </p:cBhvr>
                                      <p:to>
                                        <p:strVal val="visible"/>
                                      </p:to>
                                    </p:set>
                                    <p:animEffect filter="fade" transition="in">
                                      <p:cBhvr>
                                        <p:cTn dur="500"/>
                                        <p:tgtEl>
                                          <p:spTgt spid="1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gtEl>
                                        <p:attrNameLst>
                                          <p:attrName>style.visibility</p:attrName>
                                        </p:attrNameLst>
                                      </p:cBhvr>
                                      <p:to>
                                        <p:strVal val="visible"/>
                                      </p:to>
                                    </p:set>
                                    <p:animEffect filter="fade" transition="in">
                                      <p:cBhvr>
                                        <p:cTn dur="500"/>
                                        <p:tgtEl>
                                          <p:spTgt spid="1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
                                        </p:tgtEl>
                                        <p:attrNameLst>
                                          <p:attrName>style.visibility</p:attrName>
                                        </p:attrNameLst>
                                      </p:cBhvr>
                                      <p:to>
                                        <p:strVal val="visible"/>
                                      </p:to>
                                    </p:set>
                                    <p:animEffect filter="fade" transition="in">
                                      <p:cBhvr>
                                        <p:cTn dur="500"/>
                                        <p:tgtEl>
                                          <p:spTgt spid="1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27"/>
                                        </p:tgtEl>
                                      </p:cBhvr>
                                    </p:animEffect>
                                    <p:set>
                                      <p:cBhvr>
                                        <p:cTn dur="1" fill="hold">
                                          <p:stCondLst>
                                            <p:cond delay="500"/>
                                          </p:stCondLst>
                                        </p:cTn>
                                        <p:tgtEl>
                                          <p:spTgt spid="127"/>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32"/>
                                        </p:tgtEl>
                                        <p:attrNameLst>
                                          <p:attrName>style.visibility</p:attrName>
                                        </p:attrNameLst>
                                      </p:cBhvr>
                                      <p:to>
                                        <p:strVal val="visible"/>
                                      </p:to>
                                    </p:set>
                                    <p:animEffect filter="fade" transition="in">
                                      <p:cBhvr>
                                        <p:cTn dur="500"/>
                                        <p:tgtEl>
                                          <p:spTgt spid="1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29"/>
                                        </p:tgtEl>
                                      </p:cBhvr>
                                    </p:animEffect>
                                    <p:set>
                                      <p:cBhvr>
                                        <p:cTn dur="1" fill="hold">
                                          <p:stCondLst>
                                            <p:cond delay="500"/>
                                          </p:stCondLst>
                                        </p:cTn>
                                        <p:tgtEl>
                                          <p:spTgt spid="129"/>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30"/>
                                        </p:tgtEl>
                                      </p:cBhvr>
                                    </p:animEffect>
                                    <p:set>
                                      <p:cBhvr>
                                        <p:cTn dur="1" fill="hold">
                                          <p:stCondLst>
                                            <p:cond delay="500"/>
                                          </p:stCondLst>
                                        </p:cTn>
                                        <p:tgtEl>
                                          <p:spTgt spid="130"/>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31"/>
                                        </p:tgtEl>
                                      </p:cBhvr>
                                    </p:animEffect>
                                    <p:set>
                                      <p:cBhvr>
                                        <p:cTn dur="1" fill="hold">
                                          <p:stCondLst>
                                            <p:cond delay="500"/>
                                          </p:stCondLst>
                                        </p:cTn>
                                        <p:tgtEl>
                                          <p:spTgt spid="13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gtEl>
                                        <p:attrNameLst>
                                          <p:attrName>style.visibility</p:attrName>
                                        </p:attrNameLst>
                                      </p:cBhvr>
                                      <p:to>
                                        <p:strVal val="visible"/>
                                      </p:to>
                                    </p:set>
                                    <p:animEffect filter="fade" transition="in">
                                      <p:cBhvr>
                                        <p:cTn dur="500"/>
                                        <p:tgtEl>
                                          <p:spTgt spid="1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gtEl>
                                        <p:attrNameLst>
                                          <p:attrName>style.visibility</p:attrName>
                                        </p:attrNameLst>
                                      </p:cBhvr>
                                      <p:to>
                                        <p:strVal val="visible"/>
                                      </p:to>
                                    </p:set>
                                    <p:animEffect filter="fade" transition="in">
                                      <p:cBhvr>
                                        <p:cTn dur="500"/>
                                        <p:tgtEl>
                                          <p:spTgt spid="1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
                                        </p:tgtEl>
                                        <p:attrNameLst>
                                          <p:attrName>style.visibility</p:attrName>
                                        </p:attrNameLst>
                                      </p:cBhvr>
                                      <p:to>
                                        <p:strVal val="visible"/>
                                      </p:to>
                                    </p:set>
                                    <p:animEffect filter="fade" transition="in">
                                      <p:cBhvr>
                                        <p:cTn dur="500"/>
                                        <p:tgtEl>
                                          <p:spTgt spid="1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32"/>
                                        </p:tgtEl>
                                      </p:cBhvr>
                                    </p:animEffect>
                                    <p:set>
                                      <p:cBhvr>
                                        <p:cTn dur="1" fill="hold">
                                          <p:stCondLst>
                                            <p:cond delay="500"/>
                                          </p:stCondLst>
                                        </p:cTn>
                                        <p:tgtEl>
                                          <p:spTgt spid="132"/>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36"/>
                                        </p:tgtEl>
                                        <p:attrNameLst>
                                          <p:attrName>style.visibility</p:attrName>
                                        </p:attrNameLst>
                                      </p:cBhvr>
                                      <p:to>
                                        <p:strVal val="visible"/>
                                      </p:to>
                                    </p:set>
                                    <p:animEffect filter="fade" transition="in">
                                      <p:cBhvr>
                                        <p:cTn dur="500"/>
                                        <p:tgtEl>
                                          <p:spTgt spid="1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33"/>
                                        </p:tgtEl>
                                      </p:cBhvr>
                                    </p:animEffect>
                                    <p:set>
                                      <p:cBhvr>
                                        <p:cTn dur="1" fill="hold">
                                          <p:stCondLst>
                                            <p:cond delay="500"/>
                                          </p:stCondLst>
                                        </p:cTn>
                                        <p:tgtEl>
                                          <p:spTgt spid="133"/>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34"/>
                                        </p:tgtEl>
                                      </p:cBhvr>
                                    </p:animEffect>
                                    <p:set>
                                      <p:cBhvr>
                                        <p:cTn dur="1" fill="hold">
                                          <p:stCondLst>
                                            <p:cond delay="500"/>
                                          </p:stCondLst>
                                        </p:cTn>
                                        <p:tgtEl>
                                          <p:spTgt spid="134"/>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35"/>
                                        </p:tgtEl>
                                      </p:cBhvr>
                                    </p:animEffect>
                                    <p:set>
                                      <p:cBhvr>
                                        <p:cTn dur="1" fill="hold">
                                          <p:stCondLst>
                                            <p:cond delay="500"/>
                                          </p:stCondLst>
                                        </p:cTn>
                                        <p:tgtEl>
                                          <p:spTgt spid="13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3"/>
                                        </p:tgtEl>
                                        <p:attrNameLst>
                                          <p:attrName>style.visibility</p:attrName>
                                        </p:attrNameLst>
                                      </p:cBhvr>
                                      <p:to>
                                        <p:strVal val="visible"/>
                                      </p:to>
                                    </p:set>
                                    <p:animEffect filter="fade" transition="in">
                                      <p:cBhvr>
                                        <p:cTn dur="500"/>
                                        <p:tgtEl>
                                          <p:spTgt spid="1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
                                        </p:tgtEl>
                                        <p:attrNameLst>
                                          <p:attrName>style.visibility</p:attrName>
                                        </p:attrNameLst>
                                      </p:cBhvr>
                                      <p:to>
                                        <p:strVal val="visible"/>
                                      </p:to>
                                    </p:set>
                                    <p:animEffect filter="fade" transition="in">
                                      <p:cBhvr>
                                        <p:cTn dur="500"/>
                                        <p:tgtEl>
                                          <p:spTgt spid="1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
                                        </p:tgtEl>
                                        <p:attrNameLst>
                                          <p:attrName>style.visibility</p:attrName>
                                        </p:attrNameLst>
                                      </p:cBhvr>
                                      <p:to>
                                        <p:strVal val="visible"/>
                                      </p:to>
                                    </p:set>
                                    <p:animEffect filter="fade" transition="in">
                                      <p:cBhvr>
                                        <p:cTn dur="500"/>
                                        <p:tgtEl>
                                          <p:spTgt spid="1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28"/>
                                        </p:tgtEl>
                                      </p:cBhvr>
                                    </p:animEffect>
                                    <p:set>
                                      <p:cBhvr>
                                        <p:cTn dur="1" fill="hold">
                                          <p:stCondLst>
                                            <p:cond delay="500"/>
                                          </p:stCondLst>
                                        </p:cTn>
                                        <p:tgtEl>
                                          <p:spTgt spid="128"/>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46"/>
                                        </p:tgtEl>
                                        <p:attrNameLst>
                                          <p:attrName>style.visibility</p:attrName>
                                        </p:attrNameLst>
                                      </p:cBhvr>
                                      <p:to>
                                        <p:strVal val="visible"/>
                                      </p:to>
                                    </p:set>
                                    <p:animEffect filter="fade" transition="in">
                                      <p:cBhvr>
                                        <p:cTn dur="500"/>
                                        <p:tgtEl>
                                          <p:spTgt spid="1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44"/>
                                        </p:tgtEl>
                                      </p:cBhvr>
                                    </p:animEffect>
                                    <p:set>
                                      <p:cBhvr>
                                        <p:cTn dur="1" fill="hold">
                                          <p:stCondLst>
                                            <p:cond delay="500"/>
                                          </p:stCondLst>
                                        </p:cTn>
                                        <p:tgtEl>
                                          <p:spTgt spid="144"/>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43"/>
                                        </p:tgtEl>
                                      </p:cBhvr>
                                    </p:animEffect>
                                    <p:set>
                                      <p:cBhvr>
                                        <p:cTn dur="1" fill="hold">
                                          <p:stCondLst>
                                            <p:cond delay="500"/>
                                          </p:stCondLst>
                                        </p:cTn>
                                        <p:tgtEl>
                                          <p:spTgt spid="143"/>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37"/>
                                        </p:tgtEl>
                                      </p:cBhvr>
                                    </p:animEffect>
                                    <p:set>
                                      <p:cBhvr>
                                        <p:cTn dur="1" fill="hold">
                                          <p:stCondLst>
                                            <p:cond delay="500"/>
                                          </p:stCondLst>
                                        </p:cTn>
                                        <p:tgtEl>
                                          <p:spTgt spid="13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
                                        </p:tgtEl>
                                        <p:attrNameLst>
                                          <p:attrName>style.visibility</p:attrName>
                                        </p:attrNameLst>
                                      </p:cBhvr>
                                      <p:to>
                                        <p:strVal val="visible"/>
                                      </p:to>
                                    </p:set>
                                    <p:animEffect filter="fade" transition="in">
                                      <p:cBhvr>
                                        <p:cTn dur="500"/>
                                        <p:tgtEl>
                                          <p:spTgt spid="1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Summer 2020</a:t>
            </a:r>
            <a:endParaRPr/>
          </a:p>
        </p:txBody>
      </p:sp>
      <p:sp>
        <p:nvSpPr>
          <p:cNvPr id="156" name="Google Shape;156;p17"/>
          <p:cNvSpPr txBox="1"/>
          <p:nvPr/>
        </p:nvSpPr>
        <p:spPr>
          <a:xfrm>
            <a:off x="831850" y="687510"/>
            <a:ext cx="5040313" cy="797739"/>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Binary Search</a:t>
            </a:r>
            <a:endParaRPr b="0" i="0" sz="4400" u="none" cap="none" strike="noStrike">
              <a:solidFill>
                <a:schemeClr val="dk1"/>
              </a:solidFill>
              <a:latin typeface="Calibri"/>
              <a:ea typeface="Calibri"/>
              <a:cs typeface="Calibri"/>
              <a:sym typeface="Calibri"/>
            </a:endParaRPr>
          </a:p>
        </p:txBody>
      </p:sp>
      <p:sp>
        <p:nvSpPr>
          <p:cNvPr id="157" name="Google Shape;157;p17"/>
          <p:cNvSpPr txBox="1"/>
          <p:nvPr/>
        </p:nvSpPr>
        <p:spPr>
          <a:xfrm>
            <a:off x="845498" y="1259399"/>
            <a:ext cx="4583752" cy="569391"/>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None/>
            </a:pPr>
            <a:r>
              <a:rPr b="0" i="0" lang="en-US" sz="2400" u="none" cap="none" strike="noStrike">
                <a:solidFill>
                  <a:srgbClr val="7F7F7F"/>
                </a:solidFill>
                <a:latin typeface="Calibri"/>
                <a:ea typeface="Calibri"/>
                <a:cs typeface="Calibri"/>
                <a:sym typeface="Calibri"/>
              </a:rPr>
              <a:t>Time Complexity (Iterative)</a:t>
            </a:r>
            <a:endParaRPr b="0" i="0" sz="2400" u="none" cap="none" strike="noStrike">
              <a:solidFill>
                <a:srgbClr val="7F7F7F"/>
              </a:solidFill>
              <a:latin typeface="Calibri"/>
              <a:ea typeface="Calibri"/>
              <a:cs typeface="Calibri"/>
              <a:sym typeface="Calibri"/>
            </a:endParaRPr>
          </a:p>
        </p:txBody>
      </p:sp>
      <p:sp>
        <p:nvSpPr>
          <p:cNvPr id="158" name="Google Shape;158;p17"/>
          <p:cNvSpPr txBox="1"/>
          <p:nvPr/>
        </p:nvSpPr>
        <p:spPr>
          <a:xfrm>
            <a:off x="928685" y="1771639"/>
            <a:ext cx="3287055" cy="4093428"/>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000">
                <a:solidFill>
                  <a:schemeClr val="dk1"/>
                </a:solidFill>
                <a:latin typeface="Calibri"/>
                <a:ea typeface="Calibri"/>
                <a:cs typeface="Calibri"/>
                <a:sym typeface="Calibri"/>
              </a:rPr>
              <a:t>In order to compute the time  complexity of divide and conquer problems we will focus on the problem size and </a:t>
            </a:r>
            <a:r>
              <a:rPr b="1" lang="en-US" sz="2000">
                <a:solidFill>
                  <a:schemeClr val="dk1"/>
                </a:solidFill>
                <a:latin typeface="Calibri"/>
                <a:ea typeface="Calibri"/>
                <a:cs typeface="Calibri"/>
                <a:sym typeface="Calibri"/>
              </a:rPr>
              <a:t>work done </a:t>
            </a:r>
            <a:r>
              <a:rPr lang="en-US" sz="2000">
                <a:solidFill>
                  <a:schemeClr val="dk1"/>
                </a:solidFill>
                <a:latin typeface="Calibri"/>
                <a:ea typeface="Calibri"/>
                <a:cs typeface="Calibri"/>
                <a:sym typeface="Calibri"/>
              </a:rPr>
              <a:t>at every step.</a:t>
            </a:r>
            <a:r>
              <a:rPr b="1" lang="en-US" sz="2000">
                <a:solidFill>
                  <a:schemeClr val="dk1"/>
                </a:solidFill>
                <a:latin typeface="Calibri"/>
                <a:ea typeface="Calibri"/>
                <a:cs typeface="Calibri"/>
                <a:sym typeface="Calibri"/>
              </a:rPr>
              <a:t> </a:t>
            </a:r>
            <a:r>
              <a:rPr lang="en-US" sz="2000">
                <a:solidFill>
                  <a:schemeClr val="dk1"/>
                </a:solidFill>
                <a:latin typeface="Calibri"/>
                <a:ea typeface="Calibri"/>
                <a:cs typeface="Calibri"/>
                <a:sym typeface="Calibri"/>
              </a:rPr>
              <a:t>Work done refers to finding the mid, matching, changing left or right. These are constant operations. Refer to the previous slide. You will see that at each step the problem size (range) was reducing by factor of 2. </a:t>
            </a:r>
            <a:endParaRPr sz="2000">
              <a:solidFill>
                <a:schemeClr val="dk1"/>
              </a:solidFill>
              <a:latin typeface="Calibri"/>
              <a:ea typeface="Calibri"/>
              <a:cs typeface="Calibri"/>
              <a:sym typeface="Calibri"/>
            </a:endParaRPr>
          </a:p>
        </p:txBody>
      </p:sp>
      <p:sp>
        <p:nvSpPr>
          <p:cNvPr id="159" name="Google Shape;159;p17"/>
          <p:cNvSpPr txBox="1"/>
          <p:nvPr/>
        </p:nvSpPr>
        <p:spPr>
          <a:xfrm>
            <a:off x="4481629" y="1795447"/>
            <a:ext cx="3371851" cy="4093428"/>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000">
                <a:solidFill>
                  <a:schemeClr val="dk1"/>
                </a:solidFill>
                <a:latin typeface="Calibri"/>
                <a:ea typeface="Calibri"/>
                <a:cs typeface="Calibri"/>
                <a:sym typeface="Calibri"/>
              </a:rPr>
              <a:t>Initially the domain of search was the entire array of length </a:t>
            </a:r>
            <a:r>
              <a:rPr b="1" i="1" lang="en-US" sz="2000">
                <a:solidFill>
                  <a:schemeClr val="dk1"/>
                </a:solidFill>
                <a:latin typeface="Calibri"/>
                <a:ea typeface="Calibri"/>
                <a:cs typeface="Calibri"/>
                <a:sym typeface="Calibri"/>
              </a:rPr>
              <a:t>n</a:t>
            </a:r>
            <a:r>
              <a:rPr lang="en-US" sz="2000">
                <a:solidFill>
                  <a:schemeClr val="dk1"/>
                </a:solidFill>
                <a:latin typeface="Calibri"/>
                <a:ea typeface="Calibri"/>
                <a:cs typeface="Calibri"/>
                <a:sym typeface="Calibri"/>
              </a:rPr>
              <a:t>. In the second step we only considered the right half. The domain got reduced to </a:t>
            </a:r>
            <a:r>
              <a:rPr b="1" i="1" lang="en-US" sz="2000">
                <a:solidFill>
                  <a:schemeClr val="dk1"/>
                </a:solidFill>
                <a:latin typeface="Calibri"/>
                <a:ea typeface="Calibri"/>
                <a:cs typeface="Calibri"/>
                <a:sym typeface="Calibri"/>
              </a:rPr>
              <a:t>n/2</a:t>
            </a:r>
            <a:r>
              <a:rPr lang="en-US" sz="2000">
                <a:solidFill>
                  <a:schemeClr val="dk1"/>
                </a:solidFill>
                <a:latin typeface="Calibri"/>
                <a:ea typeface="Calibri"/>
                <a:cs typeface="Calibri"/>
                <a:sym typeface="Calibri"/>
              </a:rPr>
              <a:t>. In the following steps this sub problem was getting smaller by factor of 2; </a:t>
            </a:r>
            <a:r>
              <a:rPr b="1" i="1" lang="en-US" sz="2000">
                <a:solidFill>
                  <a:schemeClr val="dk1"/>
                </a:solidFill>
                <a:latin typeface="Calibri"/>
                <a:ea typeface="Calibri"/>
                <a:cs typeface="Calibri"/>
                <a:sym typeface="Calibri"/>
              </a:rPr>
              <a:t>n/4, n/8, … </a:t>
            </a:r>
            <a:r>
              <a:rPr lang="en-US" sz="2000">
                <a:solidFill>
                  <a:schemeClr val="dk1"/>
                </a:solidFill>
                <a:latin typeface="Calibri"/>
                <a:ea typeface="Calibri"/>
                <a:cs typeface="Calibri"/>
                <a:sym typeface="Calibri"/>
              </a:rPr>
              <a:t>until 1 or 0. We need to count how many steps it took for the problem of size </a:t>
            </a:r>
            <a:r>
              <a:rPr b="1" i="1" lang="en-US" sz="2000">
                <a:solidFill>
                  <a:schemeClr val="dk1"/>
                </a:solidFill>
                <a:latin typeface="Calibri"/>
                <a:ea typeface="Calibri"/>
                <a:cs typeface="Calibri"/>
                <a:sym typeface="Calibri"/>
              </a:rPr>
              <a:t>n</a:t>
            </a:r>
            <a:r>
              <a:rPr lang="en-US" sz="2000">
                <a:solidFill>
                  <a:schemeClr val="dk1"/>
                </a:solidFill>
                <a:latin typeface="Calibri"/>
                <a:ea typeface="Calibri"/>
                <a:cs typeface="Calibri"/>
                <a:sym typeface="Calibri"/>
              </a:rPr>
              <a:t> to become 0 or 1  then multiply it by work done at each step.</a:t>
            </a:r>
            <a:endParaRPr sz="2000">
              <a:solidFill>
                <a:schemeClr val="dk1"/>
              </a:solidFill>
              <a:latin typeface="Calibri"/>
              <a:ea typeface="Calibri"/>
              <a:cs typeface="Calibri"/>
              <a:sym typeface="Calibri"/>
            </a:endParaRPr>
          </a:p>
        </p:txBody>
      </p:sp>
      <p:graphicFrame>
        <p:nvGraphicFramePr>
          <p:cNvPr id="160" name="Google Shape;160;p17"/>
          <p:cNvGraphicFramePr/>
          <p:nvPr/>
        </p:nvGraphicFramePr>
        <p:xfrm>
          <a:off x="8172456" y="1905530"/>
          <a:ext cx="3000000" cy="3000000"/>
        </p:xfrm>
        <a:graphic>
          <a:graphicData uri="http://schemas.openxmlformats.org/drawingml/2006/table">
            <a:tbl>
              <a:tblPr bandRow="1" firstRow="1">
                <a:noFill/>
                <a:tableStyleId>{C7EC0097-2149-47C6-8289-F3911038BEC2}</a:tableStyleId>
              </a:tblPr>
              <a:tblGrid>
                <a:gridCol w="1538275"/>
                <a:gridCol w="1538275"/>
              </a:tblGrid>
              <a:tr h="370850">
                <a:tc>
                  <a:txBody>
                    <a:bodyPr/>
                    <a:lstStyle/>
                    <a:p>
                      <a:pPr indent="0" lvl="0" marL="0" marR="0" rtl="0" algn="ctr">
                        <a:spcBef>
                          <a:spcPts val="0"/>
                        </a:spcBef>
                        <a:spcAft>
                          <a:spcPts val="0"/>
                        </a:spcAft>
                        <a:buNone/>
                      </a:pPr>
                      <a:r>
                        <a:rPr lang="en-US" sz="2000" u="none" cap="none" strike="noStrike">
                          <a:solidFill>
                            <a:schemeClr val="dk1"/>
                          </a:solidFill>
                        </a:rPr>
                        <a:t>Problem Size</a:t>
                      </a:r>
                      <a:endParaRPr sz="20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2000" u="none" cap="none" strike="noStrike">
                          <a:solidFill>
                            <a:schemeClr val="dk1"/>
                          </a:solidFill>
                        </a:rPr>
                        <a:t>Step No.</a:t>
                      </a:r>
                      <a:endParaRPr sz="20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2000" u="none" cap="none" strike="noStrike">
                          <a:solidFill>
                            <a:schemeClr val="dk1"/>
                          </a:solidFill>
                        </a:rPr>
                        <a:t>n</a:t>
                      </a:r>
                      <a:endParaRPr sz="20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2000" u="none" cap="none" strike="noStrike">
                          <a:solidFill>
                            <a:schemeClr val="dk1"/>
                          </a:solidFill>
                        </a:rPr>
                        <a:t>0 </a:t>
                      </a:r>
                      <a:endParaRPr sz="20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2000" u="none" cap="none" strike="noStrike">
                          <a:solidFill>
                            <a:schemeClr val="dk1"/>
                          </a:solidFill>
                        </a:rPr>
                        <a:t>n/2</a:t>
                      </a:r>
                      <a:endParaRPr sz="20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2000" u="none" cap="none" strike="noStrike">
                          <a:solidFill>
                            <a:schemeClr val="dk1"/>
                          </a:solidFill>
                        </a:rPr>
                        <a:t>1</a:t>
                      </a:r>
                      <a:endParaRPr sz="20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2000" u="none" cap="none" strike="noStrike">
                          <a:solidFill>
                            <a:schemeClr val="dk1"/>
                          </a:solidFill>
                        </a:rPr>
                        <a:t>n/4</a:t>
                      </a:r>
                      <a:endParaRPr sz="20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2000" u="none" cap="none" strike="noStrike">
                          <a:solidFill>
                            <a:schemeClr val="dk1"/>
                          </a:solidFill>
                        </a:rPr>
                        <a:t>2</a:t>
                      </a:r>
                      <a:endParaRPr sz="20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2000" u="none" cap="none" strike="noStrike">
                          <a:solidFill>
                            <a:schemeClr val="dk1"/>
                          </a:solidFill>
                        </a:rPr>
                        <a:t>n/8</a:t>
                      </a:r>
                      <a:endParaRPr sz="20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2000" u="none" cap="none" strike="noStrike">
                          <a:solidFill>
                            <a:schemeClr val="dk1"/>
                          </a:solidFill>
                        </a:rPr>
                        <a:t>3</a:t>
                      </a:r>
                      <a:endParaRPr sz="20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2000" u="none" cap="none" strike="noStrike">
                          <a:solidFill>
                            <a:schemeClr val="dk1"/>
                          </a:solidFill>
                        </a:rPr>
                        <a:t>….</a:t>
                      </a:r>
                      <a:endParaRPr sz="20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2000" u="none" cap="none" strike="noStrike">
                          <a:solidFill>
                            <a:schemeClr val="dk1"/>
                          </a:solidFill>
                        </a:rPr>
                        <a:t>….</a:t>
                      </a:r>
                      <a:endParaRPr sz="20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2000" u="none" cap="none" strike="noStrike">
                          <a:solidFill>
                            <a:schemeClr val="dk1"/>
                          </a:solidFill>
                        </a:rPr>
                        <a:t>1</a:t>
                      </a:r>
                      <a:endParaRPr sz="20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2000" u="none" cap="none" strike="noStrike">
                          <a:solidFill>
                            <a:schemeClr val="dk1"/>
                          </a:solidFill>
                        </a:rPr>
                        <a:t>k</a:t>
                      </a:r>
                      <a:endParaRPr sz="20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pic>
        <p:nvPicPr>
          <p:cNvPr descr="bracu_logo.png" id="161" name="Google Shape;161;p17"/>
          <p:cNvPicPr preferRelativeResize="0"/>
          <p:nvPr/>
        </p:nvPicPr>
        <p:blipFill rotWithShape="1">
          <a:blip r:embed="rId3">
            <a:alphaModFix/>
          </a:blip>
          <a:srcRect b="0" l="0" r="0" t="0"/>
          <a:stretch/>
        </p:blipFill>
        <p:spPr>
          <a:xfrm>
            <a:off x="10688827" y="14277"/>
            <a:ext cx="1479371" cy="135732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Summer 2020</a:t>
            </a:r>
            <a:endParaRPr/>
          </a:p>
        </p:txBody>
      </p:sp>
      <p:sp>
        <p:nvSpPr>
          <p:cNvPr id="167" name="Google Shape;167;p18"/>
          <p:cNvSpPr txBox="1"/>
          <p:nvPr/>
        </p:nvSpPr>
        <p:spPr>
          <a:xfrm>
            <a:off x="831850" y="687510"/>
            <a:ext cx="5040313" cy="797739"/>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Binary Search</a:t>
            </a:r>
            <a:endParaRPr b="0" i="0" sz="4400" u="none" cap="none" strike="noStrike">
              <a:solidFill>
                <a:schemeClr val="dk1"/>
              </a:solidFill>
              <a:latin typeface="Calibri"/>
              <a:ea typeface="Calibri"/>
              <a:cs typeface="Calibri"/>
              <a:sym typeface="Calibri"/>
            </a:endParaRPr>
          </a:p>
        </p:txBody>
      </p:sp>
      <p:sp>
        <p:nvSpPr>
          <p:cNvPr id="168" name="Google Shape;168;p18"/>
          <p:cNvSpPr txBox="1"/>
          <p:nvPr/>
        </p:nvSpPr>
        <p:spPr>
          <a:xfrm>
            <a:off x="845498" y="1259399"/>
            <a:ext cx="4583752" cy="569391"/>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None/>
            </a:pPr>
            <a:r>
              <a:rPr b="0" i="0" lang="en-US" sz="2400" u="none" cap="none" strike="noStrike">
                <a:solidFill>
                  <a:srgbClr val="7F7F7F"/>
                </a:solidFill>
                <a:latin typeface="Calibri"/>
                <a:ea typeface="Calibri"/>
                <a:cs typeface="Calibri"/>
                <a:sym typeface="Calibri"/>
              </a:rPr>
              <a:t>Time Complexity (Iterative) Contd.</a:t>
            </a:r>
            <a:endParaRPr b="0" i="0" sz="2400" u="none" cap="none" strike="noStrike">
              <a:solidFill>
                <a:srgbClr val="7F7F7F"/>
              </a:solidFill>
              <a:latin typeface="Calibri"/>
              <a:ea typeface="Calibri"/>
              <a:cs typeface="Calibri"/>
              <a:sym typeface="Calibri"/>
            </a:endParaRPr>
          </a:p>
        </p:txBody>
      </p:sp>
      <p:graphicFrame>
        <p:nvGraphicFramePr>
          <p:cNvPr id="169" name="Google Shape;169;p18"/>
          <p:cNvGraphicFramePr/>
          <p:nvPr/>
        </p:nvGraphicFramePr>
        <p:xfrm>
          <a:off x="971550" y="1855586"/>
          <a:ext cx="3000000" cy="3000000"/>
        </p:xfrm>
        <a:graphic>
          <a:graphicData uri="http://schemas.openxmlformats.org/drawingml/2006/table">
            <a:tbl>
              <a:tblPr bandRow="1" firstRow="1">
                <a:noFill/>
                <a:tableStyleId>{C7EC0097-2149-47C6-8289-F3911038BEC2}</a:tableStyleId>
              </a:tblPr>
              <a:tblGrid>
                <a:gridCol w="1346225"/>
                <a:gridCol w="1317125"/>
                <a:gridCol w="1317125"/>
              </a:tblGrid>
              <a:tr h="467650">
                <a:tc>
                  <a:txBody>
                    <a:bodyPr/>
                    <a:lstStyle/>
                    <a:p>
                      <a:pPr indent="0" lvl="0" marL="0" marR="0" rtl="0" algn="ctr">
                        <a:spcBef>
                          <a:spcPts val="0"/>
                        </a:spcBef>
                        <a:spcAft>
                          <a:spcPts val="0"/>
                        </a:spcAft>
                        <a:buNone/>
                      </a:pPr>
                      <a:r>
                        <a:rPr lang="en-US" sz="2000" u="none" cap="none" strike="noStrike">
                          <a:solidFill>
                            <a:schemeClr val="dk1"/>
                          </a:solidFill>
                        </a:rPr>
                        <a:t>Problem Size</a:t>
                      </a:r>
                      <a:endParaRPr sz="20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2000" u="none" cap="none" strike="noStrike">
                          <a:solidFill>
                            <a:schemeClr val="dk1"/>
                          </a:solidFill>
                        </a:rPr>
                        <a:t>Step No.</a:t>
                      </a:r>
                      <a:endParaRPr sz="20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2000" u="none" cap="none" strike="noStrike">
                          <a:solidFill>
                            <a:schemeClr val="dk1"/>
                          </a:solidFill>
                        </a:rPr>
                        <a:t>Work done at each step</a:t>
                      </a:r>
                      <a:endParaRPr sz="20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67650">
                <a:tc>
                  <a:txBody>
                    <a:bodyPr/>
                    <a:lstStyle/>
                    <a:p>
                      <a:pPr indent="0" lvl="0" marL="0" marR="0" rtl="0" algn="ctr">
                        <a:spcBef>
                          <a:spcPts val="0"/>
                        </a:spcBef>
                        <a:spcAft>
                          <a:spcPts val="0"/>
                        </a:spcAft>
                        <a:buNone/>
                      </a:pPr>
                      <a:r>
                        <a:rPr lang="en-US" sz="2000" u="none" cap="none" strike="noStrike">
                          <a:solidFill>
                            <a:schemeClr val="dk1"/>
                          </a:solidFill>
                        </a:rPr>
                        <a:t>n</a:t>
                      </a:r>
                      <a:endParaRPr sz="20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2000" u="none" cap="none" strike="noStrike">
                          <a:solidFill>
                            <a:schemeClr val="dk1"/>
                          </a:solidFill>
                        </a:rPr>
                        <a:t>0 </a:t>
                      </a:r>
                      <a:endParaRPr sz="20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2000" u="none" cap="none" strike="noStrike">
                          <a:solidFill>
                            <a:schemeClr val="dk1"/>
                          </a:solidFill>
                        </a:rPr>
                        <a:t>1</a:t>
                      </a:r>
                      <a:endParaRPr sz="20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67650">
                <a:tc>
                  <a:txBody>
                    <a:bodyPr/>
                    <a:lstStyle/>
                    <a:p>
                      <a:pPr indent="0" lvl="0" marL="0" marR="0" rtl="0" algn="ctr">
                        <a:spcBef>
                          <a:spcPts val="0"/>
                        </a:spcBef>
                        <a:spcAft>
                          <a:spcPts val="0"/>
                        </a:spcAft>
                        <a:buNone/>
                      </a:pPr>
                      <a:r>
                        <a:rPr lang="en-US" sz="2000" u="none" cap="none" strike="noStrike">
                          <a:solidFill>
                            <a:schemeClr val="dk1"/>
                          </a:solidFill>
                        </a:rPr>
                        <a:t>n/</a:t>
                      </a:r>
                      <a:r>
                        <a:rPr lang="en-US" sz="2000" u="none" cap="none" strike="noStrike">
                          <a:solidFill>
                            <a:srgbClr val="FF0000"/>
                          </a:solidFill>
                        </a:rPr>
                        <a:t>2</a:t>
                      </a:r>
                      <a:endParaRPr sz="2000" u="none" cap="none" strike="noStrike">
                        <a:solidFill>
                          <a:srgbClr val="FF0000"/>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2000" u="none" cap="none" strike="noStrike">
                          <a:solidFill>
                            <a:schemeClr val="dk1"/>
                          </a:solidFill>
                        </a:rPr>
                        <a:t>1</a:t>
                      </a:r>
                      <a:endParaRPr sz="20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2000" u="none" cap="none" strike="noStrike">
                          <a:solidFill>
                            <a:schemeClr val="dk1"/>
                          </a:solidFill>
                        </a:rPr>
                        <a:t>1</a:t>
                      </a:r>
                      <a:endParaRPr sz="20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67650">
                <a:tc>
                  <a:txBody>
                    <a:bodyPr/>
                    <a:lstStyle/>
                    <a:p>
                      <a:pPr indent="0" lvl="0" marL="0" marR="0" rtl="0" algn="ctr">
                        <a:spcBef>
                          <a:spcPts val="0"/>
                        </a:spcBef>
                        <a:spcAft>
                          <a:spcPts val="0"/>
                        </a:spcAft>
                        <a:buNone/>
                      </a:pPr>
                      <a:r>
                        <a:rPr lang="en-US" sz="2000" u="none" cap="none" strike="noStrike">
                          <a:solidFill>
                            <a:schemeClr val="dk1"/>
                          </a:solidFill>
                        </a:rPr>
                        <a:t>n/</a:t>
                      </a:r>
                      <a:r>
                        <a:rPr lang="en-US" sz="2000" u="none" cap="none" strike="noStrike">
                          <a:solidFill>
                            <a:srgbClr val="FF0000"/>
                          </a:solidFill>
                        </a:rPr>
                        <a:t>4</a:t>
                      </a:r>
                      <a:endParaRPr sz="2000" u="none" cap="none" strike="noStrike">
                        <a:solidFill>
                          <a:srgbClr val="FF0000"/>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2000" u="none" cap="none" strike="noStrike">
                          <a:solidFill>
                            <a:schemeClr val="dk1"/>
                          </a:solidFill>
                        </a:rPr>
                        <a:t>2</a:t>
                      </a:r>
                      <a:endParaRPr sz="20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2000" u="none" cap="none" strike="noStrike">
                          <a:solidFill>
                            <a:schemeClr val="dk1"/>
                          </a:solidFill>
                        </a:rPr>
                        <a:t>1</a:t>
                      </a:r>
                      <a:endParaRPr sz="20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67650">
                <a:tc>
                  <a:txBody>
                    <a:bodyPr/>
                    <a:lstStyle/>
                    <a:p>
                      <a:pPr indent="0" lvl="0" marL="0" marR="0" rtl="0" algn="ctr">
                        <a:spcBef>
                          <a:spcPts val="0"/>
                        </a:spcBef>
                        <a:spcAft>
                          <a:spcPts val="0"/>
                        </a:spcAft>
                        <a:buNone/>
                      </a:pPr>
                      <a:r>
                        <a:rPr lang="en-US" sz="2000" u="none" cap="none" strike="noStrike">
                          <a:solidFill>
                            <a:schemeClr val="dk1"/>
                          </a:solidFill>
                        </a:rPr>
                        <a:t>n/</a:t>
                      </a:r>
                      <a:r>
                        <a:rPr lang="en-US" sz="2000" u="none" cap="none" strike="noStrike">
                          <a:solidFill>
                            <a:srgbClr val="FF0000"/>
                          </a:solidFill>
                        </a:rPr>
                        <a:t>8</a:t>
                      </a:r>
                      <a:endParaRPr sz="2000" u="none" cap="none" strike="noStrike">
                        <a:solidFill>
                          <a:srgbClr val="FF0000"/>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2000" u="none" cap="none" strike="noStrike">
                          <a:solidFill>
                            <a:schemeClr val="dk1"/>
                          </a:solidFill>
                        </a:rPr>
                        <a:t>3</a:t>
                      </a:r>
                      <a:endParaRPr sz="20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2000" u="none" cap="none" strike="noStrike">
                          <a:solidFill>
                            <a:schemeClr val="dk1"/>
                          </a:solidFill>
                        </a:rPr>
                        <a:t>1</a:t>
                      </a:r>
                      <a:endParaRPr sz="20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67650">
                <a:tc>
                  <a:txBody>
                    <a:bodyPr/>
                    <a:lstStyle/>
                    <a:p>
                      <a:pPr indent="0" lvl="0" marL="0" marR="0" rtl="0" algn="ctr">
                        <a:spcBef>
                          <a:spcPts val="0"/>
                        </a:spcBef>
                        <a:spcAft>
                          <a:spcPts val="0"/>
                        </a:spcAft>
                        <a:buNone/>
                      </a:pPr>
                      <a:r>
                        <a:rPr lang="en-US" sz="2000" u="none" cap="none" strike="noStrike">
                          <a:solidFill>
                            <a:schemeClr val="dk1"/>
                          </a:solidFill>
                        </a:rPr>
                        <a:t>….</a:t>
                      </a:r>
                      <a:endParaRPr sz="20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2000" u="none" cap="none" strike="noStrike">
                          <a:solidFill>
                            <a:schemeClr val="dk1"/>
                          </a:solidFill>
                        </a:rPr>
                        <a:t>….</a:t>
                      </a:r>
                      <a:endParaRPr sz="20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2000" u="none" cap="none" strike="noStrike">
                          <a:solidFill>
                            <a:schemeClr val="dk1"/>
                          </a:solidFill>
                        </a:rPr>
                        <a:t>1</a:t>
                      </a:r>
                      <a:endParaRPr sz="20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67650">
                <a:tc>
                  <a:txBody>
                    <a:bodyPr/>
                    <a:lstStyle/>
                    <a:p>
                      <a:pPr indent="0" lvl="0" marL="0" marR="0" rtl="0" algn="ctr">
                        <a:spcBef>
                          <a:spcPts val="0"/>
                        </a:spcBef>
                        <a:spcAft>
                          <a:spcPts val="0"/>
                        </a:spcAft>
                        <a:buNone/>
                      </a:pPr>
                      <a:r>
                        <a:rPr lang="en-US" sz="2000" u="none" cap="none" strike="noStrike">
                          <a:solidFill>
                            <a:schemeClr val="dk1"/>
                          </a:solidFill>
                        </a:rPr>
                        <a:t>1</a:t>
                      </a:r>
                      <a:endParaRPr sz="20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2000" u="none" cap="none" strike="noStrike">
                          <a:solidFill>
                            <a:schemeClr val="dk1"/>
                          </a:solidFill>
                        </a:rPr>
                        <a:t>k</a:t>
                      </a:r>
                      <a:endParaRPr sz="20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2000" u="none" cap="none" strike="noStrike">
                          <a:solidFill>
                            <a:schemeClr val="dk1"/>
                          </a:solidFill>
                        </a:rPr>
                        <a:t>1</a:t>
                      </a:r>
                      <a:endParaRPr sz="20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170" name="Google Shape;170;p18"/>
          <p:cNvSpPr txBox="1"/>
          <p:nvPr/>
        </p:nvSpPr>
        <p:spPr>
          <a:xfrm>
            <a:off x="5214951" y="1785928"/>
            <a:ext cx="5772150" cy="3878602"/>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000">
                <a:solidFill>
                  <a:schemeClr val="dk1"/>
                </a:solidFill>
                <a:latin typeface="Calibri"/>
                <a:ea typeface="Calibri"/>
                <a:cs typeface="Calibri"/>
                <a:sym typeface="Calibri"/>
              </a:rPr>
              <a:t>It took </a:t>
            </a:r>
            <a:r>
              <a:rPr b="1" i="1" lang="en-US" sz="2000">
                <a:solidFill>
                  <a:schemeClr val="dk1"/>
                </a:solidFill>
                <a:latin typeface="Calibri"/>
                <a:ea typeface="Calibri"/>
                <a:cs typeface="Calibri"/>
                <a:sym typeface="Calibri"/>
              </a:rPr>
              <a:t>k</a:t>
            </a:r>
            <a:r>
              <a:rPr lang="en-US" sz="2000">
                <a:solidFill>
                  <a:schemeClr val="dk1"/>
                </a:solidFill>
                <a:latin typeface="Calibri"/>
                <a:ea typeface="Calibri"/>
                <a:cs typeface="Calibri"/>
                <a:sym typeface="Calibri"/>
              </a:rPr>
              <a:t> steps for the searching to end and work done at each step was constant. We need to find </a:t>
            </a:r>
            <a:r>
              <a:rPr b="1" i="1" lang="en-US" sz="2000">
                <a:solidFill>
                  <a:schemeClr val="dk1"/>
                </a:solidFill>
                <a:latin typeface="Calibri"/>
                <a:ea typeface="Calibri"/>
                <a:cs typeface="Calibri"/>
                <a:sym typeface="Calibri"/>
              </a:rPr>
              <a:t>k</a:t>
            </a:r>
            <a:r>
              <a:rPr lang="en-US" sz="2000">
                <a:solidFill>
                  <a:schemeClr val="dk1"/>
                </a:solidFill>
                <a:latin typeface="Calibri"/>
                <a:ea typeface="Calibri"/>
                <a:cs typeface="Calibri"/>
                <a:sym typeface="Calibri"/>
              </a:rPr>
              <a:t> in terms of </a:t>
            </a:r>
            <a:r>
              <a:rPr b="1" i="1" lang="en-US" sz="2000">
                <a:solidFill>
                  <a:schemeClr val="dk1"/>
                </a:solidFill>
                <a:latin typeface="Calibri"/>
                <a:ea typeface="Calibri"/>
                <a:cs typeface="Calibri"/>
                <a:sym typeface="Calibri"/>
              </a:rPr>
              <a:t>n. </a:t>
            </a:r>
            <a:r>
              <a:rPr lang="en-US" sz="2000">
                <a:solidFill>
                  <a:schemeClr val="dk1"/>
                </a:solidFill>
                <a:latin typeface="Calibri"/>
                <a:ea typeface="Calibri"/>
                <a:cs typeface="Calibri"/>
                <a:sym typeface="Calibri"/>
              </a:rPr>
              <a:t>If you notice the divisors of the problem size </a:t>
            </a:r>
            <a:r>
              <a:rPr lang="en-US" sz="2000">
                <a:solidFill>
                  <a:srgbClr val="FF0000"/>
                </a:solidFill>
                <a:latin typeface="Calibri"/>
                <a:ea typeface="Calibri"/>
                <a:cs typeface="Calibri"/>
                <a:sym typeface="Calibri"/>
              </a:rPr>
              <a:t>(marked red)</a:t>
            </a:r>
            <a:r>
              <a:rPr lang="en-US" sz="2000">
                <a:solidFill>
                  <a:schemeClr val="dk1"/>
                </a:solidFill>
                <a:latin typeface="Calibri"/>
                <a:ea typeface="Calibri"/>
                <a:cs typeface="Calibri"/>
                <a:sym typeface="Calibri"/>
              </a:rPr>
              <a:t> are all powers of 2 and we can use the step numbers as exponents. Therefore each problem size can  be written as, </a:t>
            </a:r>
            <a:endParaRPr/>
          </a:p>
          <a:p>
            <a:pPr indent="0" lvl="0" marL="0" marR="0" rtl="0" algn="just">
              <a:spcBef>
                <a:spcPts val="0"/>
              </a:spcBef>
              <a:spcAft>
                <a:spcPts val="0"/>
              </a:spcAft>
              <a:buNone/>
            </a:pPr>
            <a:r>
              <a:rPr b="1" i="1" lang="en-US" sz="2000">
                <a:solidFill>
                  <a:schemeClr val="dk1"/>
                </a:solidFill>
                <a:latin typeface="Calibri"/>
                <a:ea typeface="Calibri"/>
                <a:cs typeface="Calibri"/>
                <a:sym typeface="Calibri"/>
              </a:rPr>
              <a:t>n/2^(step no.)</a:t>
            </a:r>
            <a:endParaRPr/>
          </a:p>
          <a:p>
            <a:pPr indent="0" lvl="0" marL="0" marR="0" rtl="0" algn="just">
              <a:spcBef>
                <a:spcPts val="0"/>
              </a:spcBef>
              <a:spcAft>
                <a:spcPts val="0"/>
              </a:spcAft>
              <a:buNone/>
            </a:pPr>
            <a:r>
              <a:rPr lang="en-US" sz="2000">
                <a:solidFill>
                  <a:schemeClr val="dk1"/>
                </a:solidFill>
                <a:latin typeface="Calibri"/>
                <a:ea typeface="Calibri"/>
                <a:cs typeface="Calibri"/>
                <a:sym typeface="Calibri"/>
              </a:rPr>
              <a:t>The last line can be written an, </a:t>
            </a:r>
            <a:r>
              <a:rPr b="1" i="1" lang="en-US" sz="2000">
                <a:solidFill>
                  <a:schemeClr val="dk1"/>
                </a:solidFill>
                <a:latin typeface="Calibri"/>
                <a:ea typeface="Calibri"/>
                <a:cs typeface="Calibri"/>
                <a:sym typeface="Calibri"/>
              </a:rPr>
              <a:t>1 = n/2^k</a:t>
            </a:r>
            <a:r>
              <a:rPr lang="en-US" sz="2000">
                <a:solidFill>
                  <a:schemeClr val="dk1"/>
                </a:solidFill>
                <a:latin typeface="Calibri"/>
                <a:ea typeface="Calibri"/>
                <a:cs typeface="Calibri"/>
                <a:sym typeface="Calibri"/>
              </a:rPr>
              <a:t>.</a:t>
            </a:r>
            <a:endParaRPr/>
          </a:p>
          <a:p>
            <a:pPr indent="0" lvl="0" marL="0" marR="0" rtl="0" algn="just">
              <a:spcBef>
                <a:spcPts val="0"/>
              </a:spcBef>
              <a:spcAft>
                <a:spcPts val="0"/>
              </a:spcAft>
              <a:buNone/>
            </a:pPr>
            <a:r>
              <a:rPr lang="en-US" sz="2000">
                <a:solidFill>
                  <a:schemeClr val="dk1"/>
                </a:solidFill>
                <a:latin typeface="Calibri"/>
                <a:ea typeface="Calibri"/>
                <a:cs typeface="Calibri"/>
                <a:sym typeface="Calibri"/>
              </a:rPr>
              <a:t>If we solve it, we will find that </a:t>
            </a:r>
            <a:r>
              <a:rPr b="1" i="1" lang="en-US" sz="2000">
                <a:solidFill>
                  <a:schemeClr val="dk1"/>
                </a:solidFill>
                <a:latin typeface="Calibri"/>
                <a:ea typeface="Calibri"/>
                <a:cs typeface="Calibri"/>
                <a:sym typeface="Calibri"/>
              </a:rPr>
              <a:t>k = log</a:t>
            </a:r>
            <a:r>
              <a:rPr b="1" baseline="-25000" i="1" lang="en-US" sz="2000">
                <a:solidFill>
                  <a:schemeClr val="dk1"/>
                </a:solidFill>
                <a:latin typeface="Calibri"/>
                <a:ea typeface="Calibri"/>
                <a:cs typeface="Calibri"/>
                <a:sym typeface="Calibri"/>
              </a:rPr>
              <a:t>2</a:t>
            </a:r>
            <a:r>
              <a:rPr b="1" i="1" lang="en-US" sz="2000">
                <a:solidFill>
                  <a:schemeClr val="dk1"/>
                </a:solidFill>
                <a:latin typeface="Calibri"/>
                <a:ea typeface="Calibri"/>
                <a:cs typeface="Calibri"/>
                <a:sym typeface="Calibri"/>
              </a:rPr>
              <a:t>n</a:t>
            </a:r>
            <a:endParaRPr/>
          </a:p>
          <a:p>
            <a:pPr indent="0" lvl="0" marL="0" marR="0" rtl="0" algn="just">
              <a:spcBef>
                <a:spcPts val="0"/>
              </a:spcBef>
              <a:spcAft>
                <a:spcPts val="0"/>
              </a:spcAft>
              <a:buNone/>
            </a:pPr>
            <a:r>
              <a:rPr lang="en-US" sz="2000">
                <a:solidFill>
                  <a:schemeClr val="dk1"/>
                </a:solidFill>
                <a:latin typeface="Calibri"/>
                <a:ea typeface="Calibri"/>
                <a:cs typeface="Calibri"/>
                <a:sym typeface="Calibri"/>
              </a:rPr>
              <a:t>Therefore the time complexity is </a:t>
            </a:r>
            <a:r>
              <a:rPr b="1" i="1" lang="en-US" sz="2000">
                <a:solidFill>
                  <a:schemeClr val="dk1"/>
                </a:solidFill>
                <a:latin typeface="Calibri"/>
                <a:ea typeface="Calibri"/>
                <a:cs typeface="Calibri"/>
                <a:sym typeface="Calibri"/>
              </a:rPr>
              <a:t>log</a:t>
            </a:r>
            <a:r>
              <a:rPr b="1" baseline="-25000" i="1" lang="en-US" sz="2000">
                <a:solidFill>
                  <a:schemeClr val="dk1"/>
                </a:solidFill>
                <a:latin typeface="Calibri"/>
                <a:ea typeface="Calibri"/>
                <a:cs typeface="Calibri"/>
                <a:sym typeface="Calibri"/>
              </a:rPr>
              <a:t>2</a:t>
            </a:r>
            <a:r>
              <a:rPr b="1" i="1" lang="en-US" sz="2000">
                <a:solidFill>
                  <a:schemeClr val="dk1"/>
                </a:solidFill>
                <a:latin typeface="Calibri"/>
                <a:ea typeface="Calibri"/>
                <a:cs typeface="Calibri"/>
                <a:sym typeface="Calibri"/>
              </a:rPr>
              <a:t>n </a:t>
            </a:r>
            <a:r>
              <a:rPr lang="en-US" sz="2000">
                <a:solidFill>
                  <a:schemeClr val="dk1"/>
                </a:solidFill>
                <a:latin typeface="Calibri"/>
                <a:ea typeface="Calibri"/>
                <a:cs typeface="Calibri"/>
                <a:sym typeface="Calibri"/>
              </a:rPr>
              <a:t>x </a:t>
            </a:r>
            <a:r>
              <a:rPr b="1" i="1" lang="en-US" sz="2000">
                <a:solidFill>
                  <a:schemeClr val="dk1"/>
                </a:solidFill>
                <a:latin typeface="Calibri"/>
                <a:ea typeface="Calibri"/>
                <a:cs typeface="Calibri"/>
                <a:sym typeface="Calibri"/>
              </a:rPr>
              <a:t>1</a:t>
            </a:r>
            <a:r>
              <a:rPr lang="en-US" sz="2000">
                <a:solidFill>
                  <a:schemeClr val="dk1"/>
                </a:solidFill>
                <a:latin typeface="Calibri"/>
                <a:ea typeface="Calibri"/>
                <a:cs typeface="Calibri"/>
                <a:sym typeface="Calibri"/>
              </a:rPr>
              <a:t>, which eventually is O(</a:t>
            </a:r>
            <a:r>
              <a:rPr b="1" i="1" lang="en-US" sz="2000">
                <a:solidFill>
                  <a:schemeClr val="dk1"/>
                </a:solidFill>
                <a:latin typeface="Calibri"/>
                <a:ea typeface="Calibri"/>
                <a:cs typeface="Calibri"/>
                <a:sym typeface="Calibri"/>
              </a:rPr>
              <a:t>log</a:t>
            </a:r>
            <a:r>
              <a:rPr b="1" baseline="-25000" i="1" lang="en-US" sz="2000">
                <a:solidFill>
                  <a:schemeClr val="dk1"/>
                </a:solidFill>
                <a:latin typeface="Calibri"/>
                <a:ea typeface="Calibri"/>
                <a:cs typeface="Calibri"/>
                <a:sym typeface="Calibri"/>
              </a:rPr>
              <a:t>2</a:t>
            </a:r>
            <a:r>
              <a:rPr b="1" i="1" lang="en-US" sz="2000">
                <a:solidFill>
                  <a:schemeClr val="dk1"/>
                </a:solidFill>
                <a:latin typeface="Calibri"/>
                <a:ea typeface="Calibri"/>
                <a:cs typeface="Calibri"/>
                <a:sym typeface="Calibri"/>
              </a:rPr>
              <a:t>n</a:t>
            </a:r>
            <a:r>
              <a:rPr lang="en-US" sz="2000">
                <a:solidFill>
                  <a:schemeClr val="dk1"/>
                </a:solidFill>
                <a:latin typeface="Calibri"/>
                <a:ea typeface="Calibri"/>
                <a:cs typeface="Calibri"/>
                <a:sym typeface="Calibri"/>
              </a:rPr>
              <a:t>)</a:t>
            </a:r>
            <a:endParaRPr/>
          </a:p>
          <a:p>
            <a:pPr indent="0" lvl="0" marL="0" marR="0" rtl="0" algn="just">
              <a:spcBef>
                <a:spcPts val="0"/>
              </a:spcBef>
              <a:spcAft>
                <a:spcPts val="0"/>
              </a:spcAft>
              <a:buNone/>
            </a:pPr>
            <a:r>
              <a:t/>
            </a:r>
            <a:endParaRPr sz="2000">
              <a:solidFill>
                <a:schemeClr val="dk1"/>
              </a:solidFill>
              <a:latin typeface="Calibri"/>
              <a:ea typeface="Calibri"/>
              <a:cs typeface="Calibri"/>
              <a:sym typeface="Calibri"/>
            </a:endParaRPr>
          </a:p>
        </p:txBody>
      </p:sp>
      <p:pic>
        <p:nvPicPr>
          <p:cNvPr descr="bracu_logo.png" id="171" name="Google Shape;171;p18"/>
          <p:cNvPicPr preferRelativeResize="0"/>
          <p:nvPr/>
        </p:nvPicPr>
        <p:blipFill rotWithShape="1">
          <a:blip r:embed="rId3">
            <a:alphaModFix/>
          </a:blip>
          <a:srcRect b="0" l="0" r="0" t="0"/>
          <a:stretch/>
        </p:blipFill>
        <p:spPr>
          <a:xfrm>
            <a:off x="10688827" y="14277"/>
            <a:ext cx="1479371" cy="135732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Summer 2020</a:t>
            </a:r>
            <a:endParaRPr/>
          </a:p>
        </p:txBody>
      </p:sp>
      <p:sp>
        <p:nvSpPr>
          <p:cNvPr id="177" name="Google Shape;177;p19"/>
          <p:cNvSpPr txBox="1"/>
          <p:nvPr/>
        </p:nvSpPr>
        <p:spPr>
          <a:xfrm>
            <a:off x="831850" y="687510"/>
            <a:ext cx="5040313" cy="797739"/>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Binary Search</a:t>
            </a:r>
            <a:endParaRPr b="0" i="0" sz="4400" u="none" cap="none" strike="noStrike">
              <a:solidFill>
                <a:schemeClr val="dk1"/>
              </a:solidFill>
              <a:latin typeface="Calibri"/>
              <a:ea typeface="Calibri"/>
              <a:cs typeface="Calibri"/>
              <a:sym typeface="Calibri"/>
            </a:endParaRPr>
          </a:p>
        </p:txBody>
      </p:sp>
      <p:sp>
        <p:nvSpPr>
          <p:cNvPr id="178" name="Google Shape;178;p19"/>
          <p:cNvSpPr txBox="1"/>
          <p:nvPr/>
        </p:nvSpPr>
        <p:spPr>
          <a:xfrm>
            <a:off x="845498" y="1259399"/>
            <a:ext cx="4583752" cy="569391"/>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None/>
            </a:pPr>
            <a:r>
              <a:rPr b="0" i="0" lang="en-US" sz="2400" u="none" cap="none" strike="noStrike">
                <a:solidFill>
                  <a:srgbClr val="7F7F7F"/>
                </a:solidFill>
                <a:latin typeface="Calibri"/>
                <a:ea typeface="Calibri"/>
                <a:cs typeface="Calibri"/>
                <a:sym typeface="Calibri"/>
              </a:rPr>
              <a:t>Recursive</a:t>
            </a:r>
            <a:endParaRPr b="0" i="0" sz="2400" u="none" cap="none" strike="noStrike">
              <a:solidFill>
                <a:srgbClr val="7F7F7F"/>
              </a:solidFill>
              <a:latin typeface="Calibri"/>
              <a:ea typeface="Calibri"/>
              <a:cs typeface="Calibri"/>
              <a:sym typeface="Calibri"/>
            </a:endParaRPr>
          </a:p>
        </p:txBody>
      </p:sp>
      <p:sp>
        <p:nvSpPr>
          <p:cNvPr id="179" name="Google Shape;179;p19"/>
          <p:cNvSpPr txBox="1"/>
          <p:nvPr/>
        </p:nvSpPr>
        <p:spPr>
          <a:xfrm>
            <a:off x="8015286" y="1671624"/>
            <a:ext cx="3214690" cy="2862322"/>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000">
                <a:solidFill>
                  <a:schemeClr val="dk1"/>
                </a:solidFill>
                <a:latin typeface="Calibri"/>
                <a:ea typeface="Calibri"/>
                <a:cs typeface="Calibri"/>
                <a:sym typeface="Calibri"/>
              </a:rPr>
              <a:t>The core idea of the search is same; the while loop gets replaced by method calls. </a:t>
            </a:r>
            <a:endParaRPr/>
          </a:p>
          <a:p>
            <a:pPr indent="0" lvl="0" marL="0" marR="0" rtl="0" algn="just">
              <a:spcBef>
                <a:spcPts val="0"/>
              </a:spcBef>
              <a:spcAft>
                <a:spcPts val="0"/>
              </a:spcAft>
              <a:buNone/>
            </a:pPr>
            <a:r>
              <a:t/>
            </a:r>
            <a:endParaRPr sz="2000">
              <a:solidFill>
                <a:schemeClr val="dk1"/>
              </a:solidFill>
              <a:latin typeface="Calibri"/>
              <a:ea typeface="Calibri"/>
              <a:cs typeface="Calibri"/>
              <a:sym typeface="Calibri"/>
            </a:endParaRPr>
          </a:p>
          <a:p>
            <a:pPr indent="0" lvl="0" marL="0" marR="0" rtl="0" algn="just">
              <a:spcBef>
                <a:spcPts val="0"/>
              </a:spcBef>
              <a:spcAft>
                <a:spcPts val="0"/>
              </a:spcAft>
              <a:buNone/>
            </a:pPr>
            <a:r>
              <a:rPr lang="en-US" sz="2000">
                <a:solidFill>
                  <a:schemeClr val="dk1"/>
                </a:solidFill>
                <a:latin typeface="Calibri"/>
                <a:ea typeface="Calibri"/>
                <a:cs typeface="Calibri"/>
                <a:sym typeface="Calibri"/>
              </a:rPr>
              <a:t>The underlying mechanism of recursion</a:t>
            </a:r>
            <a:r>
              <a:rPr b="1" i="1" lang="en-US" sz="2000">
                <a:solidFill>
                  <a:schemeClr val="dk1"/>
                </a:solidFill>
                <a:latin typeface="Calibri"/>
                <a:ea typeface="Calibri"/>
                <a:cs typeface="Calibri"/>
                <a:sym typeface="Calibri"/>
              </a:rPr>
              <a:t> </a:t>
            </a:r>
            <a:r>
              <a:rPr lang="en-US" sz="2000">
                <a:solidFill>
                  <a:schemeClr val="dk1"/>
                </a:solidFill>
                <a:latin typeface="Calibri"/>
                <a:ea typeface="Calibri"/>
                <a:cs typeface="Calibri"/>
                <a:sym typeface="Calibri"/>
              </a:rPr>
              <a:t>(use of stack, return) is shown in the </a:t>
            </a:r>
            <a:r>
              <a:rPr i="1" lang="en-US" sz="2000">
                <a:solidFill>
                  <a:schemeClr val="dk1"/>
                </a:solidFill>
                <a:latin typeface="Calibri"/>
                <a:ea typeface="Calibri"/>
                <a:cs typeface="Calibri"/>
                <a:sym typeface="Calibri"/>
              </a:rPr>
              <a:t>linear search lecture</a:t>
            </a:r>
            <a:r>
              <a:rPr lang="en-US" sz="2000">
                <a:solidFill>
                  <a:schemeClr val="dk1"/>
                </a:solidFill>
                <a:latin typeface="Calibri"/>
                <a:ea typeface="Calibri"/>
                <a:cs typeface="Calibri"/>
                <a:sym typeface="Calibri"/>
              </a:rPr>
              <a:t>. Follow the same technique. </a:t>
            </a:r>
            <a:endParaRPr sz="2000">
              <a:solidFill>
                <a:schemeClr val="dk1"/>
              </a:solidFill>
              <a:latin typeface="Calibri"/>
              <a:ea typeface="Calibri"/>
              <a:cs typeface="Calibri"/>
              <a:sym typeface="Calibri"/>
            </a:endParaRPr>
          </a:p>
        </p:txBody>
      </p:sp>
      <p:sp>
        <p:nvSpPr>
          <p:cNvPr id="180" name="Google Shape;180;p19"/>
          <p:cNvSpPr txBox="1"/>
          <p:nvPr/>
        </p:nvSpPr>
        <p:spPr>
          <a:xfrm>
            <a:off x="957252" y="1743059"/>
            <a:ext cx="7007752" cy="4801314"/>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boolean binarySearch(A[], </a:t>
            </a:r>
            <a:r>
              <a:rPr lang="en-US" sz="1800">
                <a:solidFill>
                  <a:schemeClr val="dk1"/>
                </a:solidFill>
                <a:latin typeface="Courgette"/>
                <a:ea typeface="Courgette"/>
                <a:cs typeface="Courgette"/>
                <a:sym typeface="Courgette"/>
              </a:rPr>
              <a:t>l</a:t>
            </a:r>
            <a:r>
              <a:rPr lang="en-US" sz="1800">
                <a:solidFill>
                  <a:schemeClr val="dk1"/>
                </a:solidFill>
                <a:latin typeface="Calibri"/>
                <a:ea typeface="Calibri"/>
                <a:cs typeface="Calibri"/>
                <a:sym typeface="Calibri"/>
              </a:rPr>
              <a:t> , r, item){</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r>
              <a:rPr lang="en-US" sz="1800">
                <a:solidFill>
                  <a:srgbClr val="FF0000"/>
                </a:solidFill>
                <a:latin typeface="Calibri"/>
                <a:ea typeface="Calibri"/>
                <a:cs typeface="Calibri"/>
                <a:sym typeface="Calibri"/>
              </a:rPr>
              <a:t>if</a:t>
            </a:r>
            <a:r>
              <a:rPr lang="en-US" sz="1800">
                <a:solidFill>
                  <a:schemeClr val="dk1"/>
                </a:solidFill>
                <a:latin typeface="Calibri"/>
                <a:ea typeface="Calibri"/>
                <a:cs typeface="Calibri"/>
                <a:sym typeface="Calibri"/>
              </a:rPr>
              <a:t> (</a:t>
            </a:r>
            <a:r>
              <a:rPr lang="en-US" sz="1800">
                <a:solidFill>
                  <a:schemeClr val="dk1"/>
                </a:solidFill>
                <a:latin typeface="Courgette"/>
                <a:ea typeface="Courgette"/>
                <a:cs typeface="Courgette"/>
                <a:sym typeface="Courgette"/>
              </a:rPr>
              <a:t>l</a:t>
            </a:r>
            <a:r>
              <a:rPr lang="en-US" sz="1800">
                <a:solidFill>
                  <a:schemeClr val="dk1"/>
                </a:solidFill>
                <a:latin typeface="Calibri"/>
                <a:ea typeface="Calibri"/>
                <a:cs typeface="Calibri"/>
                <a:sym typeface="Calibri"/>
              </a:rPr>
              <a:t> &lt;=r){</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mid = (</a:t>
            </a:r>
            <a:r>
              <a:rPr lang="en-US" sz="1800">
                <a:solidFill>
                  <a:schemeClr val="dk1"/>
                </a:solidFill>
                <a:latin typeface="Courgette"/>
                <a:ea typeface="Courgette"/>
                <a:cs typeface="Courgette"/>
                <a:sym typeface="Courgette"/>
              </a:rPr>
              <a:t>l</a:t>
            </a:r>
            <a:r>
              <a:rPr lang="en-US" sz="1800">
                <a:solidFill>
                  <a:schemeClr val="dk1"/>
                </a:solidFill>
                <a:latin typeface="Calibri"/>
                <a:ea typeface="Calibri"/>
                <a:cs typeface="Calibri"/>
                <a:sym typeface="Calibri"/>
              </a:rPr>
              <a:t> +r)/2;</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if (A[mid]==item){</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return true;</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}else{</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if (item&lt;A[mid]){</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r = mid-1;</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r>
              <a:rPr b="1" lang="en-US" sz="1800">
                <a:solidFill>
                  <a:srgbClr val="FF0000"/>
                </a:solidFill>
                <a:latin typeface="Calibri"/>
                <a:ea typeface="Calibri"/>
                <a:cs typeface="Calibri"/>
                <a:sym typeface="Calibri"/>
              </a:rPr>
              <a:t>return binarySearch(A, </a:t>
            </a:r>
            <a:r>
              <a:rPr b="1" lang="en-US" sz="1800">
                <a:solidFill>
                  <a:srgbClr val="FF0000"/>
                </a:solidFill>
                <a:latin typeface="Courgette"/>
                <a:ea typeface="Courgette"/>
                <a:cs typeface="Courgette"/>
                <a:sym typeface="Courgette"/>
              </a:rPr>
              <a:t>l</a:t>
            </a:r>
            <a:r>
              <a:rPr b="1" lang="en-US" sz="1800">
                <a:solidFill>
                  <a:srgbClr val="FF0000"/>
                </a:solidFill>
                <a:latin typeface="Calibri"/>
                <a:ea typeface="Calibri"/>
                <a:cs typeface="Calibri"/>
                <a:sym typeface="Calibri"/>
              </a:rPr>
              <a:t> , r, item)</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}else{</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r>
              <a:rPr lang="en-US" sz="1800">
                <a:solidFill>
                  <a:schemeClr val="dk1"/>
                </a:solidFill>
                <a:latin typeface="Courgette"/>
                <a:ea typeface="Courgette"/>
                <a:cs typeface="Courgette"/>
                <a:sym typeface="Courgette"/>
              </a:rPr>
              <a:t> l</a:t>
            </a:r>
            <a:r>
              <a:rPr lang="en-US" sz="1800">
                <a:solidFill>
                  <a:schemeClr val="dk1"/>
                </a:solidFill>
                <a:latin typeface="Calibri"/>
                <a:ea typeface="Calibri"/>
                <a:cs typeface="Calibri"/>
                <a:sym typeface="Calibri"/>
              </a:rPr>
              <a:t> = mid+1;</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r>
              <a:rPr b="1" lang="en-US" sz="1800">
                <a:solidFill>
                  <a:srgbClr val="FF0000"/>
                </a:solidFill>
                <a:latin typeface="Calibri"/>
                <a:ea typeface="Calibri"/>
                <a:cs typeface="Calibri"/>
                <a:sym typeface="Calibri"/>
              </a:rPr>
              <a:t>return binarySearch(A, </a:t>
            </a:r>
            <a:r>
              <a:rPr b="1" lang="en-US" sz="1800">
                <a:solidFill>
                  <a:srgbClr val="FF0000"/>
                </a:solidFill>
                <a:latin typeface="Courgette"/>
                <a:ea typeface="Courgette"/>
                <a:cs typeface="Courgette"/>
                <a:sym typeface="Courgette"/>
              </a:rPr>
              <a:t>l</a:t>
            </a:r>
            <a:r>
              <a:rPr b="1" lang="en-US" sz="1800">
                <a:solidFill>
                  <a:srgbClr val="FF0000"/>
                </a:solidFill>
                <a:latin typeface="Calibri"/>
                <a:ea typeface="Calibri"/>
                <a:cs typeface="Calibri"/>
                <a:sym typeface="Calibri"/>
              </a:rPr>
              <a:t> , r, item)</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return false;</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a:t>
            </a:r>
            <a:endParaRPr sz="1800">
              <a:solidFill>
                <a:schemeClr val="dk1"/>
              </a:solidFill>
              <a:latin typeface="Calibri"/>
              <a:ea typeface="Calibri"/>
              <a:cs typeface="Calibri"/>
              <a:sym typeface="Calibri"/>
            </a:endParaRPr>
          </a:p>
        </p:txBody>
      </p:sp>
      <p:pic>
        <p:nvPicPr>
          <p:cNvPr descr="bracu_logo.png" id="181" name="Google Shape;181;p19"/>
          <p:cNvPicPr preferRelativeResize="0"/>
          <p:nvPr/>
        </p:nvPicPr>
        <p:blipFill rotWithShape="1">
          <a:blip r:embed="rId3">
            <a:alphaModFix/>
          </a:blip>
          <a:srcRect b="0" l="0" r="0" t="0"/>
          <a:stretch/>
        </p:blipFill>
        <p:spPr>
          <a:xfrm>
            <a:off x="10688827" y="14277"/>
            <a:ext cx="1479371" cy="135732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Summer 2020</a:t>
            </a:r>
            <a:endParaRPr/>
          </a:p>
        </p:txBody>
      </p:sp>
      <p:sp>
        <p:nvSpPr>
          <p:cNvPr id="187" name="Google Shape;187;p20"/>
          <p:cNvSpPr txBox="1"/>
          <p:nvPr/>
        </p:nvSpPr>
        <p:spPr>
          <a:xfrm>
            <a:off x="831850" y="687510"/>
            <a:ext cx="5040313" cy="797739"/>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Binary Search</a:t>
            </a:r>
            <a:endParaRPr b="0" i="0" sz="4400" u="none" cap="none" strike="noStrike">
              <a:solidFill>
                <a:schemeClr val="dk1"/>
              </a:solidFill>
              <a:latin typeface="Calibri"/>
              <a:ea typeface="Calibri"/>
              <a:cs typeface="Calibri"/>
              <a:sym typeface="Calibri"/>
            </a:endParaRPr>
          </a:p>
        </p:txBody>
      </p:sp>
      <p:sp>
        <p:nvSpPr>
          <p:cNvPr id="188" name="Google Shape;188;p20"/>
          <p:cNvSpPr txBox="1"/>
          <p:nvPr/>
        </p:nvSpPr>
        <p:spPr>
          <a:xfrm>
            <a:off x="845498" y="1259399"/>
            <a:ext cx="4583752" cy="569391"/>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None/>
            </a:pPr>
            <a:r>
              <a:rPr b="0" i="0" lang="en-US" sz="2400" u="none" cap="none" strike="noStrike">
                <a:solidFill>
                  <a:srgbClr val="7F7F7F"/>
                </a:solidFill>
                <a:latin typeface="Calibri"/>
                <a:ea typeface="Calibri"/>
                <a:cs typeface="Calibri"/>
                <a:sym typeface="Calibri"/>
              </a:rPr>
              <a:t>Time Complexity (Recursive)</a:t>
            </a:r>
            <a:endParaRPr b="0" i="0" sz="2400" u="none" cap="none" strike="noStrike">
              <a:solidFill>
                <a:srgbClr val="7F7F7F"/>
              </a:solidFill>
              <a:latin typeface="Calibri"/>
              <a:ea typeface="Calibri"/>
              <a:cs typeface="Calibri"/>
              <a:sym typeface="Calibri"/>
            </a:endParaRPr>
          </a:p>
        </p:txBody>
      </p:sp>
      <p:sp>
        <p:nvSpPr>
          <p:cNvPr id="189" name="Google Shape;189;p20"/>
          <p:cNvSpPr txBox="1"/>
          <p:nvPr/>
        </p:nvSpPr>
        <p:spPr>
          <a:xfrm>
            <a:off x="1000125" y="1800212"/>
            <a:ext cx="9501188" cy="646331"/>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800">
                <a:solidFill>
                  <a:schemeClr val="dk1"/>
                </a:solidFill>
                <a:latin typeface="Calibri"/>
                <a:ea typeface="Calibri"/>
                <a:cs typeface="Calibri"/>
                <a:sym typeface="Calibri"/>
              </a:rPr>
              <a:t>For recursive problems you need to have or find out the recurrence equation; then solve it</a:t>
            </a:r>
            <a:endParaRPr/>
          </a:p>
          <a:p>
            <a:pPr indent="0" lvl="0" marL="0" marR="0" rtl="0" algn="just">
              <a:spcBef>
                <a:spcPts val="0"/>
              </a:spcBef>
              <a:spcAft>
                <a:spcPts val="0"/>
              </a:spcAft>
              <a:buNone/>
            </a:pPr>
            <a:r>
              <a:rPr lang="en-US" sz="1800">
                <a:solidFill>
                  <a:schemeClr val="dk1"/>
                </a:solidFill>
                <a:latin typeface="Calibri"/>
                <a:ea typeface="Calibri"/>
                <a:cs typeface="Calibri"/>
                <a:sym typeface="Calibri"/>
              </a:rPr>
              <a:t>to find the running time. Let us find the recurrence equation of binary search step by step.</a:t>
            </a:r>
            <a:endParaRPr/>
          </a:p>
        </p:txBody>
      </p:sp>
      <p:graphicFrame>
        <p:nvGraphicFramePr>
          <p:cNvPr id="190" name="Google Shape;190;p20"/>
          <p:cNvGraphicFramePr/>
          <p:nvPr/>
        </p:nvGraphicFramePr>
        <p:xfrm>
          <a:off x="1060450" y="2534164"/>
          <a:ext cx="3000000" cy="3000000"/>
        </p:xfrm>
        <a:graphic>
          <a:graphicData uri="http://schemas.openxmlformats.org/drawingml/2006/table">
            <a:tbl>
              <a:tblPr bandRow="1" firstRow="1">
                <a:noFill/>
                <a:tableStyleId>{C7EC0097-2149-47C6-8289-F3911038BEC2}</a:tableStyleId>
              </a:tblPr>
              <a:tblGrid>
                <a:gridCol w="1591875"/>
                <a:gridCol w="7863275"/>
              </a:tblGrid>
              <a:tr h="370850">
                <a:tc>
                  <a:txBody>
                    <a:bodyPr/>
                    <a:lstStyle/>
                    <a:p>
                      <a:pPr indent="0" lvl="0" marL="0" marR="0" rtl="0" algn="ctr">
                        <a:spcBef>
                          <a:spcPts val="0"/>
                        </a:spcBef>
                        <a:spcAft>
                          <a:spcPts val="0"/>
                        </a:spcAft>
                        <a:buNone/>
                      </a:pPr>
                      <a:r>
                        <a:rPr b="0" lang="en-US" sz="1800" u="none" cap="none" strike="noStrike">
                          <a:solidFill>
                            <a:schemeClr val="dk1"/>
                          </a:solidFill>
                        </a:rPr>
                        <a:t>1.</a:t>
                      </a:r>
                      <a:endParaRPr b="0" sz="1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just">
                        <a:spcBef>
                          <a:spcPts val="0"/>
                        </a:spcBef>
                        <a:spcAft>
                          <a:spcPts val="0"/>
                        </a:spcAft>
                        <a:buNone/>
                      </a:pPr>
                      <a:r>
                        <a:rPr b="0" lang="en-US" sz="1800" u="none" cap="none" strike="noStrike">
                          <a:solidFill>
                            <a:schemeClr val="dk1"/>
                          </a:solidFill>
                        </a:rPr>
                        <a:t>Recursion starts with a method call where we pass the array. Let the name of the method be T and the size of the array be n. As we pass n as a parameter, we can write T(n). Note that there were other parameters too but we know that the time complexity is dependant on input. </a:t>
                      </a:r>
                      <a:endParaRPr b="0" sz="1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u="none" cap="none" strike="noStrike">
                          <a:solidFill>
                            <a:schemeClr val="dk1"/>
                          </a:solidFill>
                        </a:rPr>
                        <a:t>2. </a:t>
                      </a:r>
                      <a:endParaRPr sz="1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just">
                        <a:spcBef>
                          <a:spcPts val="0"/>
                        </a:spcBef>
                        <a:spcAft>
                          <a:spcPts val="0"/>
                        </a:spcAft>
                        <a:buNone/>
                      </a:pPr>
                      <a:r>
                        <a:rPr lang="en-US" sz="1800" u="none" cap="none" strike="noStrike">
                          <a:solidFill>
                            <a:schemeClr val="dk1"/>
                          </a:solidFill>
                        </a:rPr>
                        <a:t>T is the name of the method and now we need to find the work of the method. Recall that binary search divides the problem (array) of size n in 2 halves. We can write </a:t>
                      </a:r>
                      <a:r>
                        <a:rPr b="1" lang="en-US" sz="1800" u="none" cap="none" strike="noStrike">
                          <a:solidFill>
                            <a:schemeClr val="dk1"/>
                          </a:solidFill>
                        </a:rPr>
                        <a:t>T(n) = n/2 + n/2</a:t>
                      </a:r>
                      <a:r>
                        <a:rPr b="0" lang="en-US" sz="1800" u="none" cap="none" strike="noStrike">
                          <a:solidFill>
                            <a:schemeClr val="dk1"/>
                          </a:solidFill>
                        </a:rPr>
                        <a:t>. We only consider only one of the portions so we rewrite </a:t>
                      </a:r>
                      <a:r>
                        <a:rPr b="1" lang="en-US" sz="1800" u="none" cap="none" strike="noStrike">
                          <a:solidFill>
                            <a:schemeClr val="dk1"/>
                          </a:solidFill>
                        </a:rPr>
                        <a:t>T(n) = n/2</a:t>
                      </a:r>
                      <a:r>
                        <a:rPr b="0" lang="en-US" sz="1800" u="none" cap="none" strike="noStrike">
                          <a:solidFill>
                            <a:schemeClr val="dk1"/>
                          </a:solidFill>
                        </a:rPr>
                        <a:t>. On the split we find the mid, check with the mid, change left or right. These are constant operations. Thus </a:t>
                      </a:r>
                      <a:r>
                        <a:rPr b="1" lang="en-US" sz="1800" u="none" cap="none" strike="noStrike">
                          <a:solidFill>
                            <a:schemeClr val="dk1"/>
                          </a:solidFill>
                        </a:rPr>
                        <a:t>T(n) = n/2 + 1</a:t>
                      </a:r>
                      <a:r>
                        <a:rPr b="0" lang="en-US" sz="1800" u="none" cap="none" strike="noStrike">
                          <a:solidFill>
                            <a:schemeClr val="dk1"/>
                          </a:solidFill>
                        </a:rPr>
                        <a:t>. Lastly that half portion is further broken down in 2 and this is done by calling the same binarySearch method. That is the method T is invoked on n/2. Thus we can write                       </a:t>
                      </a:r>
                      <a:r>
                        <a:rPr b="1" lang="en-US" sz="1800" u="none" cap="none" strike="noStrike">
                          <a:solidFill>
                            <a:schemeClr val="dk1"/>
                          </a:solidFill>
                        </a:rPr>
                        <a:t>T(n) = T(n/2)+1</a:t>
                      </a:r>
                      <a:r>
                        <a:rPr b="0" lang="en-US" sz="1800" u="none" cap="none" strike="noStrike">
                          <a:solidFill>
                            <a:schemeClr val="dk1"/>
                          </a:solidFill>
                        </a:rPr>
                        <a:t>.</a:t>
                      </a:r>
                      <a:endParaRPr b="1" sz="1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pic>
        <p:nvPicPr>
          <p:cNvPr descr="bracu_logo.png" id="191" name="Google Shape;191;p20"/>
          <p:cNvPicPr preferRelativeResize="0"/>
          <p:nvPr/>
        </p:nvPicPr>
        <p:blipFill rotWithShape="1">
          <a:blip r:embed="rId3">
            <a:alphaModFix/>
          </a:blip>
          <a:srcRect b="0" l="0" r="0" t="0"/>
          <a:stretch/>
        </p:blipFill>
        <p:spPr>
          <a:xfrm>
            <a:off x="10688827" y="14277"/>
            <a:ext cx="1479371" cy="135732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Summer 2020</a:t>
            </a:r>
            <a:endParaRPr/>
          </a:p>
        </p:txBody>
      </p:sp>
      <p:sp>
        <p:nvSpPr>
          <p:cNvPr id="197" name="Google Shape;197;p21"/>
          <p:cNvSpPr txBox="1"/>
          <p:nvPr/>
        </p:nvSpPr>
        <p:spPr>
          <a:xfrm>
            <a:off x="831850" y="687510"/>
            <a:ext cx="5040313" cy="797739"/>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Binary Search</a:t>
            </a:r>
            <a:endParaRPr b="0" i="0" sz="4400" u="none" cap="none" strike="noStrike">
              <a:solidFill>
                <a:schemeClr val="dk1"/>
              </a:solidFill>
              <a:latin typeface="Calibri"/>
              <a:ea typeface="Calibri"/>
              <a:cs typeface="Calibri"/>
              <a:sym typeface="Calibri"/>
            </a:endParaRPr>
          </a:p>
        </p:txBody>
      </p:sp>
      <p:sp>
        <p:nvSpPr>
          <p:cNvPr id="198" name="Google Shape;198;p21"/>
          <p:cNvSpPr txBox="1"/>
          <p:nvPr/>
        </p:nvSpPr>
        <p:spPr>
          <a:xfrm>
            <a:off x="845498" y="1259399"/>
            <a:ext cx="4583752" cy="569391"/>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None/>
            </a:pPr>
            <a:r>
              <a:rPr b="0" i="0" lang="en-US" sz="2400" u="none" cap="none" strike="noStrike">
                <a:solidFill>
                  <a:srgbClr val="7F7F7F"/>
                </a:solidFill>
                <a:latin typeface="Calibri"/>
                <a:ea typeface="Calibri"/>
                <a:cs typeface="Calibri"/>
                <a:sym typeface="Calibri"/>
              </a:rPr>
              <a:t>Time Complexity (Recursive)</a:t>
            </a:r>
            <a:endParaRPr b="0" i="0" sz="2400" u="none" cap="none" strike="noStrike">
              <a:solidFill>
                <a:srgbClr val="7F7F7F"/>
              </a:solidFill>
              <a:latin typeface="Calibri"/>
              <a:ea typeface="Calibri"/>
              <a:cs typeface="Calibri"/>
              <a:sym typeface="Calibri"/>
            </a:endParaRPr>
          </a:p>
        </p:txBody>
      </p:sp>
      <p:sp>
        <p:nvSpPr>
          <p:cNvPr id="199" name="Google Shape;199;p21"/>
          <p:cNvSpPr txBox="1"/>
          <p:nvPr/>
        </p:nvSpPr>
        <p:spPr>
          <a:xfrm>
            <a:off x="1057275" y="1871651"/>
            <a:ext cx="10545194" cy="92333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800">
                <a:solidFill>
                  <a:schemeClr val="dk1"/>
                </a:solidFill>
                <a:latin typeface="Calibri"/>
                <a:ea typeface="Calibri"/>
                <a:cs typeface="Calibri"/>
                <a:sym typeface="Calibri"/>
              </a:rPr>
              <a:t>T(n) = T(n/2) + 1 There are a number of techniques to solve recurrence equations but we will focus on the </a:t>
            </a:r>
            <a:endParaRPr/>
          </a:p>
          <a:p>
            <a:pPr indent="0" lvl="0" marL="0" marR="0" rtl="0" algn="just">
              <a:spcBef>
                <a:spcPts val="0"/>
              </a:spcBef>
              <a:spcAft>
                <a:spcPts val="0"/>
              </a:spcAft>
              <a:buNone/>
            </a:pPr>
            <a:r>
              <a:rPr lang="en-US" sz="1800">
                <a:solidFill>
                  <a:schemeClr val="dk1"/>
                </a:solidFill>
                <a:latin typeface="Calibri"/>
                <a:ea typeface="Calibri"/>
                <a:cs typeface="Calibri"/>
                <a:sym typeface="Calibri"/>
              </a:rPr>
              <a:t>tree method. The tree below is exactly like the one we drew while  computing the running time of the iterative</a:t>
            </a:r>
            <a:endParaRPr/>
          </a:p>
          <a:p>
            <a:pPr indent="0" lvl="0" marL="0" marR="0" rtl="0" algn="just">
              <a:spcBef>
                <a:spcPts val="0"/>
              </a:spcBef>
              <a:spcAft>
                <a:spcPts val="0"/>
              </a:spcAft>
              <a:buNone/>
            </a:pPr>
            <a:r>
              <a:rPr lang="en-US" sz="1800">
                <a:solidFill>
                  <a:schemeClr val="dk1"/>
                </a:solidFill>
                <a:latin typeface="Calibri"/>
                <a:ea typeface="Calibri"/>
                <a:cs typeface="Calibri"/>
                <a:sym typeface="Calibri"/>
              </a:rPr>
              <a:t>Version of the problem. Therefore the method of finding the solution from the tree is exactly the same.</a:t>
            </a:r>
            <a:endParaRPr sz="1800">
              <a:solidFill>
                <a:schemeClr val="dk1"/>
              </a:solidFill>
              <a:latin typeface="Calibri"/>
              <a:ea typeface="Calibri"/>
              <a:cs typeface="Calibri"/>
              <a:sym typeface="Calibri"/>
            </a:endParaRPr>
          </a:p>
        </p:txBody>
      </p:sp>
      <p:sp>
        <p:nvSpPr>
          <p:cNvPr id="200" name="Google Shape;200;p21"/>
          <p:cNvSpPr txBox="1"/>
          <p:nvPr/>
        </p:nvSpPr>
        <p:spPr>
          <a:xfrm>
            <a:off x="1724639" y="2975820"/>
            <a:ext cx="2189312"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Step 1: T(n) …. 1</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01" name="Google Shape;201;p21"/>
          <p:cNvSpPr/>
          <p:nvPr/>
        </p:nvSpPr>
        <p:spPr>
          <a:xfrm rot="5400000">
            <a:off x="2492096" y="3363967"/>
            <a:ext cx="304800" cy="242888"/>
          </a:xfrm>
          <a:prstGeom prst="rightArrow">
            <a:avLst>
              <a:gd fmla="val 50000" name="adj1"/>
              <a:gd fmla="val 50000" name="adj2"/>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2" name="Google Shape;202;p21"/>
          <p:cNvSpPr txBox="1"/>
          <p:nvPr/>
        </p:nvSpPr>
        <p:spPr>
          <a:xfrm>
            <a:off x="1529377" y="3647332"/>
            <a:ext cx="190859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Step 2: T(n/2) …. 1</a:t>
            </a:r>
            <a:endParaRPr sz="1800">
              <a:solidFill>
                <a:schemeClr val="dk1"/>
              </a:solidFill>
              <a:latin typeface="Calibri"/>
              <a:ea typeface="Calibri"/>
              <a:cs typeface="Calibri"/>
              <a:sym typeface="Calibri"/>
            </a:endParaRPr>
          </a:p>
        </p:txBody>
      </p:sp>
      <p:sp>
        <p:nvSpPr>
          <p:cNvPr id="203" name="Google Shape;203;p21"/>
          <p:cNvSpPr/>
          <p:nvPr/>
        </p:nvSpPr>
        <p:spPr>
          <a:xfrm rot="5400000">
            <a:off x="2492096" y="4059292"/>
            <a:ext cx="304800" cy="242888"/>
          </a:xfrm>
          <a:prstGeom prst="rightArrow">
            <a:avLst>
              <a:gd fmla="val 50000" name="adj1"/>
              <a:gd fmla="val 50000" name="adj2"/>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4" name="Google Shape;204;p21"/>
          <p:cNvSpPr txBox="1"/>
          <p:nvPr/>
        </p:nvSpPr>
        <p:spPr>
          <a:xfrm>
            <a:off x="1529377" y="4342657"/>
            <a:ext cx="190859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Step 3: T(n/4) …. 1</a:t>
            </a:r>
            <a:endParaRPr sz="1800">
              <a:solidFill>
                <a:schemeClr val="dk1"/>
              </a:solidFill>
              <a:latin typeface="Calibri"/>
              <a:ea typeface="Calibri"/>
              <a:cs typeface="Calibri"/>
              <a:sym typeface="Calibri"/>
            </a:endParaRPr>
          </a:p>
        </p:txBody>
      </p:sp>
      <p:sp>
        <p:nvSpPr>
          <p:cNvPr id="205" name="Google Shape;205;p21"/>
          <p:cNvSpPr/>
          <p:nvPr/>
        </p:nvSpPr>
        <p:spPr>
          <a:xfrm rot="5400000">
            <a:off x="2492096" y="4745092"/>
            <a:ext cx="304800" cy="242888"/>
          </a:xfrm>
          <a:prstGeom prst="rightArrow">
            <a:avLst>
              <a:gd fmla="val 50000" name="adj1"/>
              <a:gd fmla="val 50000" name="adj2"/>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6" name="Google Shape;206;p21"/>
          <p:cNvSpPr txBox="1"/>
          <p:nvPr/>
        </p:nvSpPr>
        <p:spPr>
          <a:xfrm>
            <a:off x="1519852" y="5028457"/>
            <a:ext cx="190859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Step 4: T(n/4) …. 1</a:t>
            </a:r>
            <a:endParaRPr sz="1800">
              <a:solidFill>
                <a:schemeClr val="dk1"/>
              </a:solidFill>
              <a:latin typeface="Calibri"/>
              <a:ea typeface="Calibri"/>
              <a:cs typeface="Calibri"/>
              <a:sym typeface="Calibri"/>
            </a:endParaRPr>
          </a:p>
        </p:txBody>
      </p:sp>
      <p:sp>
        <p:nvSpPr>
          <p:cNvPr id="207" name="Google Shape;207;p21"/>
          <p:cNvSpPr txBox="1"/>
          <p:nvPr/>
        </p:nvSpPr>
        <p:spPr>
          <a:xfrm>
            <a:off x="2536397" y="5193603"/>
            <a:ext cx="301686"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sp>
        <p:nvSpPr>
          <p:cNvPr id="208" name="Google Shape;208;p21"/>
          <p:cNvSpPr/>
          <p:nvPr/>
        </p:nvSpPr>
        <p:spPr>
          <a:xfrm>
            <a:off x="1160062" y="2920621"/>
            <a:ext cx="3002507" cy="3493827"/>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9" name="Google Shape;209;p21"/>
          <p:cNvSpPr txBox="1"/>
          <p:nvPr/>
        </p:nvSpPr>
        <p:spPr>
          <a:xfrm>
            <a:off x="4437015" y="2905064"/>
            <a:ext cx="5772150" cy="2862322"/>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000">
                <a:solidFill>
                  <a:schemeClr val="dk1"/>
                </a:solidFill>
                <a:latin typeface="Calibri"/>
                <a:ea typeface="Calibri"/>
                <a:cs typeface="Calibri"/>
                <a:sym typeface="Calibri"/>
              </a:rPr>
              <a:t>It took </a:t>
            </a:r>
            <a:r>
              <a:rPr b="1" i="1" lang="en-US" sz="2000">
                <a:solidFill>
                  <a:schemeClr val="dk1"/>
                </a:solidFill>
                <a:latin typeface="Calibri"/>
                <a:ea typeface="Calibri"/>
                <a:cs typeface="Calibri"/>
                <a:sym typeface="Calibri"/>
              </a:rPr>
              <a:t>k</a:t>
            </a:r>
            <a:r>
              <a:rPr lang="en-US" sz="2000">
                <a:solidFill>
                  <a:schemeClr val="dk1"/>
                </a:solidFill>
                <a:latin typeface="Calibri"/>
                <a:ea typeface="Calibri"/>
                <a:cs typeface="Calibri"/>
                <a:sym typeface="Calibri"/>
              </a:rPr>
              <a:t> steps for the searching to end and work done at each step was constant. We need to find </a:t>
            </a:r>
            <a:r>
              <a:rPr b="1" i="1" lang="en-US" sz="2000">
                <a:solidFill>
                  <a:schemeClr val="dk1"/>
                </a:solidFill>
                <a:latin typeface="Calibri"/>
                <a:ea typeface="Calibri"/>
                <a:cs typeface="Calibri"/>
                <a:sym typeface="Calibri"/>
              </a:rPr>
              <a:t>k</a:t>
            </a:r>
            <a:r>
              <a:rPr lang="en-US" sz="2000">
                <a:solidFill>
                  <a:schemeClr val="dk1"/>
                </a:solidFill>
                <a:latin typeface="Calibri"/>
                <a:ea typeface="Calibri"/>
                <a:cs typeface="Calibri"/>
                <a:sym typeface="Calibri"/>
              </a:rPr>
              <a:t> in terms of </a:t>
            </a:r>
            <a:r>
              <a:rPr b="1" i="1" lang="en-US" sz="2000">
                <a:solidFill>
                  <a:schemeClr val="dk1"/>
                </a:solidFill>
                <a:latin typeface="Calibri"/>
                <a:ea typeface="Calibri"/>
                <a:cs typeface="Calibri"/>
                <a:sym typeface="Calibri"/>
              </a:rPr>
              <a:t>n. </a:t>
            </a:r>
            <a:r>
              <a:rPr lang="en-US" sz="2000">
                <a:solidFill>
                  <a:schemeClr val="dk1"/>
                </a:solidFill>
                <a:latin typeface="Calibri"/>
                <a:ea typeface="Calibri"/>
                <a:cs typeface="Calibri"/>
                <a:sym typeface="Calibri"/>
              </a:rPr>
              <a:t>Each problem size can  be written as, </a:t>
            </a:r>
            <a:endParaRPr/>
          </a:p>
          <a:p>
            <a:pPr indent="0" lvl="0" marL="0" marR="0" rtl="0" algn="just">
              <a:spcBef>
                <a:spcPts val="0"/>
              </a:spcBef>
              <a:spcAft>
                <a:spcPts val="0"/>
              </a:spcAft>
              <a:buNone/>
            </a:pPr>
            <a:r>
              <a:rPr b="1" i="1" lang="en-US" sz="2000">
                <a:solidFill>
                  <a:schemeClr val="dk1"/>
                </a:solidFill>
                <a:latin typeface="Calibri"/>
                <a:ea typeface="Calibri"/>
                <a:cs typeface="Calibri"/>
                <a:sym typeface="Calibri"/>
              </a:rPr>
              <a:t>n/2^(step no.)</a:t>
            </a:r>
            <a:endParaRPr/>
          </a:p>
          <a:p>
            <a:pPr indent="0" lvl="0" marL="0" marR="0" rtl="0" algn="just">
              <a:spcBef>
                <a:spcPts val="0"/>
              </a:spcBef>
              <a:spcAft>
                <a:spcPts val="0"/>
              </a:spcAft>
              <a:buNone/>
            </a:pPr>
            <a:r>
              <a:rPr lang="en-US" sz="2000">
                <a:solidFill>
                  <a:schemeClr val="dk1"/>
                </a:solidFill>
                <a:latin typeface="Calibri"/>
                <a:ea typeface="Calibri"/>
                <a:cs typeface="Calibri"/>
                <a:sym typeface="Calibri"/>
              </a:rPr>
              <a:t>The last line can be written an, </a:t>
            </a:r>
            <a:r>
              <a:rPr b="1" i="1" lang="en-US" sz="2000">
                <a:solidFill>
                  <a:schemeClr val="dk1"/>
                </a:solidFill>
                <a:latin typeface="Calibri"/>
                <a:ea typeface="Calibri"/>
                <a:cs typeface="Calibri"/>
                <a:sym typeface="Calibri"/>
              </a:rPr>
              <a:t>1 = n/2^k</a:t>
            </a:r>
            <a:r>
              <a:rPr lang="en-US" sz="2000">
                <a:solidFill>
                  <a:schemeClr val="dk1"/>
                </a:solidFill>
                <a:latin typeface="Calibri"/>
                <a:ea typeface="Calibri"/>
                <a:cs typeface="Calibri"/>
                <a:sym typeface="Calibri"/>
              </a:rPr>
              <a:t>.</a:t>
            </a:r>
            <a:endParaRPr/>
          </a:p>
          <a:p>
            <a:pPr indent="0" lvl="0" marL="0" marR="0" rtl="0" algn="just">
              <a:spcBef>
                <a:spcPts val="0"/>
              </a:spcBef>
              <a:spcAft>
                <a:spcPts val="0"/>
              </a:spcAft>
              <a:buNone/>
            </a:pPr>
            <a:r>
              <a:rPr lang="en-US" sz="2000">
                <a:solidFill>
                  <a:schemeClr val="dk1"/>
                </a:solidFill>
                <a:latin typeface="Calibri"/>
                <a:ea typeface="Calibri"/>
                <a:cs typeface="Calibri"/>
                <a:sym typeface="Calibri"/>
              </a:rPr>
              <a:t>If we solve it, we will find that </a:t>
            </a:r>
            <a:r>
              <a:rPr b="1" i="1" lang="en-US" sz="2000">
                <a:solidFill>
                  <a:schemeClr val="dk1"/>
                </a:solidFill>
                <a:latin typeface="Calibri"/>
                <a:ea typeface="Calibri"/>
                <a:cs typeface="Calibri"/>
                <a:sym typeface="Calibri"/>
              </a:rPr>
              <a:t>k = log</a:t>
            </a:r>
            <a:r>
              <a:rPr b="1" baseline="-25000" i="1" lang="en-US" sz="2000">
                <a:solidFill>
                  <a:schemeClr val="dk1"/>
                </a:solidFill>
                <a:latin typeface="Calibri"/>
                <a:ea typeface="Calibri"/>
                <a:cs typeface="Calibri"/>
                <a:sym typeface="Calibri"/>
              </a:rPr>
              <a:t>2</a:t>
            </a:r>
            <a:r>
              <a:rPr b="1" i="1" lang="en-US" sz="2000">
                <a:solidFill>
                  <a:schemeClr val="dk1"/>
                </a:solidFill>
                <a:latin typeface="Calibri"/>
                <a:ea typeface="Calibri"/>
                <a:cs typeface="Calibri"/>
                <a:sym typeface="Calibri"/>
              </a:rPr>
              <a:t>n</a:t>
            </a:r>
            <a:endParaRPr/>
          </a:p>
          <a:p>
            <a:pPr indent="0" lvl="0" marL="0" marR="0" rtl="0" algn="just">
              <a:spcBef>
                <a:spcPts val="0"/>
              </a:spcBef>
              <a:spcAft>
                <a:spcPts val="0"/>
              </a:spcAft>
              <a:buNone/>
            </a:pPr>
            <a:r>
              <a:rPr lang="en-US" sz="2000">
                <a:solidFill>
                  <a:schemeClr val="dk1"/>
                </a:solidFill>
                <a:latin typeface="Calibri"/>
                <a:ea typeface="Calibri"/>
                <a:cs typeface="Calibri"/>
                <a:sym typeface="Calibri"/>
              </a:rPr>
              <a:t>Therefore the time complexity is </a:t>
            </a:r>
            <a:r>
              <a:rPr b="1" i="1" lang="en-US" sz="2000">
                <a:solidFill>
                  <a:schemeClr val="dk1"/>
                </a:solidFill>
                <a:latin typeface="Calibri"/>
                <a:ea typeface="Calibri"/>
                <a:cs typeface="Calibri"/>
                <a:sym typeface="Calibri"/>
              </a:rPr>
              <a:t>log</a:t>
            </a:r>
            <a:r>
              <a:rPr b="1" baseline="-25000" i="1" lang="en-US" sz="2000">
                <a:solidFill>
                  <a:schemeClr val="dk1"/>
                </a:solidFill>
                <a:latin typeface="Calibri"/>
                <a:ea typeface="Calibri"/>
                <a:cs typeface="Calibri"/>
                <a:sym typeface="Calibri"/>
              </a:rPr>
              <a:t>2</a:t>
            </a:r>
            <a:r>
              <a:rPr b="1" i="1" lang="en-US" sz="2000">
                <a:solidFill>
                  <a:schemeClr val="dk1"/>
                </a:solidFill>
                <a:latin typeface="Calibri"/>
                <a:ea typeface="Calibri"/>
                <a:cs typeface="Calibri"/>
                <a:sym typeface="Calibri"/>
              </a:rPr>
              <a:t>n </a:t>
            </a:r>
            <a:r>
              <a:rPr lang="en-US" sz="2000">
                <a:solidFill>
                  <a:schemeClr val="dk1"/>
                </a:solidFill>
                <a:latin typeface="Calibri"/>
                <a:ea typeface="Calibri"/>
                <a:cs typeface="Calibri"/>
                <a:sym typeface="Calibri"/>
              </a:rPr>
              <a:t>x </a:t>
            </a:r>
            <a:r>
              <a:rPr b="1" i="1" lang="en-US" sz="2000">
                <a:solidFill>
                  <a:schemeClr val="dk1"/>
                </a:solidFill>
                <a:latin typeface="Calibri"/>
                <a:ea typeface="Calibri"/>
                <a:cs typeface="Calibri"/>
                <a:sym typeface="Calibri"/>
              </a:rPr>
              <a:t>1</a:t>
            </a:r>
            <a:r>
              <a:rPr lang="en-US" sz="2000">
                <a:solidFill>
                  <a:schemeClr val="dk1"/>
                </a:solidFill>
                <a:latin typeface="Calibri"/>
                <a:ea typeface="Calibri"/>
                <a:cs typeface="Calibri"/>
                <a:sym typeface="Calibri"/>
              </a:rPr>
              <a:t>, which eventually is O(</a:t>
            </a:r>
            <a:r>
              <a:rPr b="1" i="1" lang="en-US" sz="2000">
                <a:solidFill>
                  <a:schemeClr val="dk1"/>
                </a:solidFill>
                <a:latin typeface="Calibri"/>
                <a:ea typeface="Calibri"/>
                <a:cs typeface="Calibri"/>
                <a:sym typeface="Calibri"/>
              </a:rPr>
              <a:t>log</a:t>
            </a:r>
            <a:r>
              <a:rPr b="1" baseline="-25000" i="1" lang="en-US" sz="2000">
                <a:solidFill>
                  <a:schemeClr val="dk1"/>
                </a:solidFill>
                <a:latin typeface="Calibri"/>
                <a:ea typeface="Calibri"/>
                <a:cs typeface="Calibri"/>
                <a:sym typeface="Calibri"/>
              </a:rPr>
              <a:t>2</a:t>
            </a:r>
            <a:r>
              <a:rPr b="1" i="1" lang="en-US" sz="2000">
                <a:solidFill>
                  <a:schemeClr val="dk1"/>
                </a:solidFill>
                <a:latin typeface="Calibri"/>
                <a:ea typeface="Calibri"/>
                <a:cs typeface="Calibri"/>
                <a:sym typeface="Calibri"/>
              </a:rPr>
              <a:t>n</a:t>
            </a:r>
            <a:r>
              <a:rPr lang="en-US" sz="2000">
                <a:solidFill>
                  <a:schemeClr val="dk1"/>
                </a:solidFill>
                <a:latin typeface="Calibri"/>
                <a:ea typeface="Calibri"/>
                <a:cs typeface="Calibri"/>
                <a:sym typeface="Calibri"/>
              </a:rPr>
              <a:t>)</a:t>
            </a:r>
            <a:endParaRPr/>
          </a:p>
          <a:p>
            <a:pPr indent="0" lvl="0" marL="0" marR="0" rtl="0" algn="just">
              <a:spcBef>
                <a:spcPts val="0"/>
              </a:spcBef>
              <a:spcAft>
                <a:spcPts val="0"/>
              </a:spcAft>
              <a:buNone/>
            </a:pPr>
            <a:r>
              <a:t/>
            </a:r>
            <a:endParaRPr sz="2000">
              <a:solidFill>
                <a:schemeClr val="dk1"/>
              </a:solidFill>
              <a:latin typeface="Calibri"/>
              <a:ea typeface="Calibri"/>
              <a:cs typeface="Calibri"/>
              <a:sym typeface="Calibri"/>
            </a:endParaRPr>
          </a:p>
        </p:txBody>
      </p:sp>
      <p:pic>
        <p:nvPicPr>
          <p:cNvPr descr="bracu_logo.png" id="210" name="Google Shape;210;p21"/>
          <p:cNvPicPr preferRelativeResize="0"/>
          <p:nvPr/>
        </p:nvPicPr>
        <p:blipFill rotWithShape="1">
          <a:blip r:embed="rId3">
            <a:alphaModFix/>
          </a:blip>
          <a:srcRect b="0" l="0" r="0" t="0"/>
          <a:stretch/>
        </p:blipFill>
        <p:spPr>
          <a:xfrm>
            <a:off x="10688827" y="14277"/>
            <a:ext cx="1479371" cy="1357323"/>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