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6858000" cx="12192000"/>
  <p:notesSz cx="6858000" cy="9144000"/>
  <p:embeddedFontLst>
    <p:embeddedFont>
      <p:font typeface="Corsiva"/>
      <p:regular r:id="rId62"/>
      <p:bold r:id="rId63"/>
      <p:italic r:id="rId64"/>
      <p:boldItalic r:id="rId65"/>
    </p:embeddedFont>
    <p:embeddedFont>
      <p:font typeface="Noto Sans Symbols"/>
      <p:regular r:id="rId66"/>
      <p:bold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68" roundtripDataSignature="AMtx7mjFN8HOFUilG7whwjhbBsN9ioKg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Corsiva-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Corsiva-italic.fntdata"/><Relationship Id="rId63" Type="http://schemas.openxmlformats.org/officeDocument/2006/relationships/font" Target="fonts/Corsiva-bold.fntdata"/><Relationship Id="rId22" Type="http://schemas.openxmlformats.org/officeDocument/2006/relationships/slide" Target="slides/slide17.xml"/><Relationship Id="rId66" Type="http://schemas.openxmlformats.org/officeDocument/2006/relationships/font" Target="fonts/NotoSansSymbols-regular.fntdata"/><Relationship Id="rId21" Type="http://schemas.openxmlformats.org/officeDocument/2006/relationships/slide" Target="slides/slide16.xml"/><Relationship Id="rId65" Type="http://schemas.openxmlformats.org/officeDocument/2006/relationships/font" Target="fonts/Corsiva-boldItalic.fntdata"/><Relationship Id="rId24" Type="http://schemas.openxmlformats.org/officeDocument/2006/relationships/slide" Target="slides/slide19.xml"/><Relationship Id="rId68" Type="http://customschemas.google.com/relationships/presentationmetadata" Target="metadata"/><Relationship Id="rId23" Type="http://schemas.openxmlformats.org/officeDocument/2006/relationships/slide" Target="slides/slide18.xml"/><Relationship Id="rId67" Type="http://schemas.openxmlformats.org/officeDocument/2006/relationships/font" Target="fonts/NotoSansSymbols-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xlinux.nist.gov/dads/HTML/sim.html" TargetMode="External"/><Relationship Id="rId3" Type="http://schemas.openxmlformats.org/officeDocument/2006/relationships/hyperlink" Target="http://xlinux.nist.gov/dads/HTML/algorithm.html"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7" name="Google Shape;11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5" name="Google Shape;12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 name="Google Shape;13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5" name="Google Shape;145;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4" name="Google Shape;15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3" name="Google Shape;16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2" name="Google Shape;17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1" name="Google Shape;18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 name="Google Shape;18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7" name="Google Shape;19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05" name="Google Shape;20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16" name="Google Shape;21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29" name="Google Shape;22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42" name="Google Shape;24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57" name="Google Shape;25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66" name="Google Shape;26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81" name="Google Shape;28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Random Access Machine (RAM) model. This model assumes a single processor. In the RAM model, instructions are executed one after the other, with no concurrent operations. This model of computation is an abstraction that allows us to compare algorithms on the basis of performance. The assumptions made in the RAM model to accomplish this are:</a:t>
            </a:r>
            <a:endParaRPr/>
          </a:p>
          <a:p>
            <a:pPr indent="0" lvl="0" marL="0" rtl="0" algn="l">
              <a:spcBef>
                <a:spcPts val="360"/>
              </a:spcBef>
              <a:spcAft>
                <a:spcPts val="0"/>
              </a:spcAft>
              <a:buNone/>
            </a:pPr>
            <a:r>
              <a:rPr lang="en-US">
                <a:latin typeface="Arial"/>
                <a:ea typeface="Arial"/>
                <a:cs typeface="Arial"/>
                <a:sym typeface="Arial"/>
              </a:rPr>
              <a:t>Each simple operation takes 1 time step.</a:t>
            </a:r>
            <a:endParaRPr/>
          </a:p>
          <a:p>
            <a:pPr indent="0" lvl="0" marL="0" rtl="0" algn="l">
              <a:spcBef>
                <a:spcPts val="360"/>
              </a:spcBef>
              <a:spcAft>
                <a:spcPts val="0"/>
              </a:spcAft>
              <a:buNone/>
            </a:pPr>
            <a:r>
              <a:rPr lang="en-US">
                <a:latin typeface="Arial"/>
                <a:ea typeface="Arial"/>
                <a:cs typeface="Arial"/>
                <a:sym typeface="Arial"/>
              </a:rPr>
              <a:t>Loops and subroutines are not simple operations.</a:t>
            </a:r>
            <a:endParaRPr/>
          </a:p>
          <a:p>
            <a:pPr indent="0" lvl="0" marL="0" rtl="0" algn="l">
              <a:spcBef>
                <a:spcPts val="360"/>
              </a:spcBef>
              <a:spcAft>
                <a:spcPts val="0"/>
              </a:spcAft>
              <a:buNone/>
            </a:pPr>
            <a:r>
              <a:rPr lang="en-US">
                <a:latin typeface="Arial"/>
                <a:ea typeface="Arial"/>
                <a:cs typeface="Arial"/>
                <a:sym typeface="Arial"/>
              </a:rPr>
              <a:t>Each memory access takes one time step, and there is no shortage of memory.</a:t>
            </a:r>
            <a:endParaRPr/>
          </a:p>
          <a:p>
            <a:pPr indent="0" lvl="0" marL="0" rtl="0" algn="l">
              <a:spcBef>
                <a:spcPts val="360"/>
              </a:spcBef>
              <a:spcAft>
                <a:spcPts val="0"/>
              </a:spcAft>
              <a:buNone/>
            </a:pPr>
            <a:r>
              <a:t/>
            </a:r>
            <a:endParaRPr>
              <a:latin typeface="Arial"/>
              <a:ea typeface="Arial"/>
              <a:cs typeface="Arial"/>
              <a:sym typeface="Arial"/>
            </a:endParaRPr>
          </a:p>
        </p:txBody>
      </p:sp>
      <p:sp>
        <p:nvSpPr>
          <p:cNvPr id="296" name="Google Shape;296;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4" name="Google Shape;304;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asymptotically tight bound: Definition:</a:t>
            </a:r>
            <a:r>
              <a:rPr lang="en-US">
                <a:latin typeface="Arial"/>
                <a:ea typeface="Arial"/>
                <a:cs typeface="Arial"/>
                <a:sym typeface="Arial"/>
              </a:rPr>
              <a:t> When the </a:t>
            </a:r>
            <a:r>
              <a:rPr i="1" lang="en-US" u="sng">
                <a:solidFill>
                  <a:schemeClr val="hlink"/>
                </a:solidFill>
                <a:latin typeface="Arial"/>
                <a:ea typeface="Arial"/>
                <a:cs typeface="Arial"/>
                <a:sym typeface="Arial"/>
                <a:hlinkClick r:id="rId2"/>
              </a:rPr>
              <a:t>asymptotic complexity</a:t>
            </a:r>
            <a:r>
              <a:rPr lang="en-US">
                <a:latin typeface="Arial"/>
                <a:ea typeface="Arial"/>
                <a:cs typeface="Arial"/>
                <a:sym typeface="Arial"/>
              </a:rPr>
              <a:t> of an </a:t>
            </a:r>
            <a:r>
              <a:rPr i="1" lang="en-US" u="sng">
                <a:solidFill>
                  <a:schemeClr val="hlink"/>
                </a:solidFill>
                <a:latin typeface="Arial"/>
                <a:ea typeface="Arial"/>
                <a:cs typeface="Arial"/>
                <a:sym typeface="Arial"/>
                <a:hlinkClick r:id="rId3"/>
              </a:rPr>
              <a:t>algorithm</a:t>
            </a:r>
            <a:r>
              <a:rPr lang="en-US">
                <a:latin typeface="Arial"/>
                <a:ea typeface="Arial"/>
                <a:cs typeface="Arial"/>
                <a:sym typeface="Arial"/>
              </a:rPr>
              <a:t> exactly matches the theoretically proved asymptotic complexity of the corresponding problem. Informally, when an algorithm solves a problem at the theoretical minimum.</a:t>
            </a:r>
            <a:endParaRPr/>
          </a:p>
          <a:p>
            <a:pPr indent="0" lvl="0" marL="0" rtl="0" algn="l">
              <a:spcBef>
                <a:spcPts val="360"/>
              </a:spcBef>
              <a:spcAft>
                <a:spcPts val="0"/>
              </a:spcAft>
              <a:buNone/>
            </a:pPr>
            <a:r>
              <a:t/>
            </a:r>
            <a:endParaRPr>
              <a:latin typeface="Arial"/>
              <a:ea typeface="Arial"/>
              <a:cs typeface="Arial"/>
              <a:sym typeface="Arial"/>
            </a:endParaRPr>
          </a:p>
        </p:txBody>
      </p:sp>
      <p:sp>
        <p:nvSpPr>
          <p:cNvPr id="313" name="Google Shape;313;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1" name="Google Shape;32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0" name="Google Shape;33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5" name="Google Shape;34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7" name="Google Shape;35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5" name="Google Shape;36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4" name="Google Shape;37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2" name="Google Shape;38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1" name="Google Shape;39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6" name="Google Shape;406;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6" name="Google Shape;41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3" name="Google Shape;433;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1" name="Google Shape;441;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0" name="Google Shape;45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1" name="Google Shape;461;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9" name="Google Shape;47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95" name="Google Shape;495;p36: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4" name="Google Shape;50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2" name="Google Shape;512;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20" name="Google Shape;52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28" name="Google Shape;528;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36" name="Google Shape;536;p41: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45" name="Google Shape;545;p42: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54" name="Google Shape;554;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5" name="Google Shape;555;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64" name="Google Shape;564;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74" name="Google Shape;574;p45: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83" name="Google Shape;583;p46: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4" name="Google Shape;584;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constant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92" name="Google Shape;592;p47: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linear</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01" name="Google Shape;601;p48: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2" name="Google Shape;602;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N squared == 1 + 2 + … + N</a:t>
            </a:r>
            <a:endParaRPr/>
          </a:p>
          <a:p>
            <a:pPr indent="0" lvl="0" marL="0" rtl="0" algn="l">
              <a:spcBef>
                <a:spcPts val="360"/>
              </a:spcBef>
              <a:spcAft>
                <a:spcPts val="0"/>
              </a:spcAft>
              <a:buNone/>
            </a:pPr>
            <a:r>
              <a:t/>
            </a:r>
            <a:endParaRPr>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10" name="Google Shape;610;p49: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Obviousy n squared</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19" name="Google Shape;619;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27" name="Google Shape;627;p51: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 name="Google Shape;628;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outer loop O(lg N), inner loop (N)  == O (N lg N) by product rule</a:t>
            </a:r>
            <a:endParaRPr/>
          </a:p>
          <a:p>
            <a:pPr indent="0" lvl="0" marL="0" rtl="0" algn="l">
              <a:spcBef>
                <a:spcPts val="360"/>
              </a:spcBef>
              <a:spcAft>
                <a:spcPts val="0"/>
              </a:spcAft>
              <a:buNone/>
            </a:pPr>
            <a:r>
              <a:t/>
            </a:r>
            <a:endParaRPr>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36" name="Google Shape;636;p52: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7" name="Google Shape;637;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outer O (lg N)  inner = sum of powers of 2 which is linear since</a:t>
            </a:r>
            <a:endParaRPr/>
          </a:p>
          <a:p>
            <a:pPr indent="0" lvl="0" marL="0" rtl="0" algn="l">
              <a:spcBef>
                <a:spcPts val="360"/>
              </a:spcBef>
              <a:spcAft>
                <a:spcPts val="0"/>
              </a:spcAft>
              <a:buNone/>
            </a:pPr>
            <a:r>
              <a:rPr lang="en-US">
                <a:latin typeface="Arial"/>
                <a:ea typeface="Arial"/>
                <a:cs typeface="Arial"/>
                <a:sym typeface="Arial"/>
              </a:rPr>
              <a:t>The sum of powers of 2 dividing into N is 2N  so its O (N lg N) by product rule</a:t>
            </a:r>
            <a:endParaRPr/>
          </a:p>
          <a:p>
            <a:pPr indent="0" lvl="0" marL="0" rtl="0" algn="l">
              <a:spcBef>
                <a:spcPts val="360"/>
              </a:spcBef>
              <a:spcAft>
                <a:spcPts val="0"/>
              </a:spcAft>
              <a:buNone/>
            </a:pPr>
            <a:r>
              <a:t/>
            </a:r>
            <a:endParaRPr>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45" name="Google Shape;645;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56" name="Google Shape;656;p54: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7" name="Google Shape;657;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66" name="Google Shape;666;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74" name="Google Shape;674;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7" name="Shape 17"/>
        <p:cNvGrpSpPr/>
        <p:nvPr/>
      </p:nvGrpSpPr>
      <p:grpSpPr>
        <a:xfrm>
          <a:off x="0" y="0"/>
          <a:ext cx="0" cy="0"/>
          <a:chOff x="0" y="0"/>
          <a:chExt cx="0" cy="0"/>
        </a:xfrm>
      </p:grpSpPr>
      <p:sp>
        <p:nvSpPr>
          <p:cNvPr id="18" name="Google Shape;18;p58"/>
          <p:cNvSpPr/>
          <p:nvPr/>
        </p:nvSpPr>
        <p:spPr>
          <a:xfrm>
            <a:off x="436033" y="3671888"/>
            <a:ext cx="10983384" cy="176212"/>
          </a:xfrm>
          <a:prstGeom prst="roundRect">
            <a:avLst>
              <a:gd fmla="val 16667" name="adj"/>
            </a:avLst>
          </a:prstGeom>
          <a:gradFill>
            <a:gsLst>
              <a:gs pos="0">
                <a:schemeClr val="lt1"/>
              </a:gs>
              <a:gs pos="50000">
                <a:schemeClr val="dk2"/>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 name="Google Shape;19;p58"/>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 name="Google Shape;20;p58"/>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spcBef>
                <a:spcPts val="560"/>
              </a:spcBef>
              <a:spcAft>
                <a:spcPts val="0"/>
              </a:spcAft>
              <a:buClr>
                <a:schemeClr val="accent2"/>
              </a:buClr>
              <a:buSzPts val="2800"/>
              <a:buFont typeface="Arial"/>
              <a:buNone/>
              <a:defRPr/>
            </a:lvl1pPr>
            <a:lvl2pPr lvl="1" algn="l">
              <a:spcBef>
                <a:spcPts val="360"/>
              </a:spcBef>
              <a:spcAft>
                <a:spcPts val="0"/>
              </a:spcAft>
              <a:buClr>
                <a:schemeClr val="dk1"/>
              </a:buClr>
              <a:buSzPts val="1800"/>
              <a:buChar char="–"/>
              <a:defRPr/>
            </a:lvl2pPr>
            <a:lvl3pPr lvl="2" algn="l">
              <a:spcBef>
                <a:spcPts val="360"/>
              </a:spcBef>
              <a:spcAft>
                <a:spcPts val="0"/>
              </a:spcAft>
              <a:buClr>
                <a:schemeClr val="accent2"/>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p:txBody>
      </p:sp>
      <p:sp>
        <p:nvSpPr>
          <p:cNvPr id="21" name="Google Shape;21;p58"/>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8"/>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8"/>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pic>
        <p:nvPicPr>
          <p:cNvPr descr="BRAC University Jobs 2020- Jobs in BRAC University- careerz360.com" id="24" name="Google Shape;24;p58"/>
          <p:cNvPicPr preferRelativeResize="0"/>
          <p:nvPr/>
        </p:nvPicPr>
        <p:blipFill rotWithShape="1">
          <a:blip r:embed="rId2">
            <a:alphaModFix/>
          </a:blip>
          <a:srcRect b="0" l="0" r="0" t="0"/>
          <a:stretch/>
        </p:blipFill>
        <p:spPr>
          <a:xfrm>
            <a:off x="10964009" y="0"/>
            <a:ext cx="1227668" cy="11898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25" name="Shape 25"/>
        <p:cNvGrpSpPr/>
        <p:nvPr/>
      </p:nvGrpSpPr>
      <p:grpSpPr>
        <a:xfrm>
          <a:off x="0" y="0"/>
          <a:ext cx="0" cy="0"/>
          <a:chOff x="0" y="0"/>
          <a:chExt cx="0" cy="0"/>
        </a:xfrm>
      </p:grpSpPr>
      <p:sp>
        <p:nvSpPr>
          <p:cNvPr id="26" name="Google Shape;26;p59"/>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59"/>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accent2"/>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59"/>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9"/>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9"/>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31" name="Shape 31"/>
        <p:cNvGrpSpPr/>
        <p:nvPr/>
      </p:nvGrpSpPr>
      <p:grpSpPr>
        <a:xfrm>
          <a:off x="0" y="0"/>
          <a:ext cx="0" cy="0"/>
          <a:chOff x="0" y="0"/>
          <a:chExt cx="0" cy="0"/>
        </a:xfrm>
      </p:grpSpPr>
      <p:sp>
        <p:nvSpPr>
          <p:cNvPr id="32" name="Google Shape;32;p60"/>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60"/>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0"/>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0"/>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showMasterSp="0" type="txAndObj">
  <p:cSld name="TEXT_AND_OBJECT">
    <p:spTree>
      <p:nvGrpSpPr>
        <p:cNvPr id="36" name="Shape 36"/>
        <p:cNvGrpSpPr/>
        <p:nvPr/>
      </p:nvGrpSpPr>
      <p:grpSpPr>
        <a:xfrm>
          <a:off x="0" y="0"/>
          <a:ext cx="0" cy="0"/>
          <a:chOff x="0" y="0"/>
          <a:chExt cx="0" cy="0"/>
        </a:xfrm>
      </p:grpSpPr>
      <p:sp>
        <p:nvSpPr>
          <p:cNvPr id="37" name="Google Shape;37;p61"/>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61"/>
          <p:cNvSpPr txBox="1"/>
          <p:nvPr>
            <p:ph idx="1" type="body"/>
          </p:nvPr>
        </p:nvSpPr>
        <p:spPr>
          <a:xfrm>
            <a:off x="467784" y="1214439"/>
            <a:ext cx="5384800" cy="50768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accent2"/>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61"/>
          <p:cNvSpPr txBox="1"/>
          <p:nvPr>
            <p:ph idx="2" type="body"/>
          </p:nvPr>
        </p:nvSpPr>
        <p:spPr>
          <a:xfrm>
            <a:off x="6055784" y="1214439"/>
            <a:ext cx="5384800" cy="50768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accent2"/>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61"/>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1"/>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1"/>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43" name="Shape 43"/>
        <p:cNvGrpSpPr/>
        <p:nvPr/>
      </p:nvGrpSpPr>
      <p:grpSpPr>
        <a:xfrm>
          <a:off x="0" y="0"/>
          <a:ext cx="0" cy="0"/>
          <a:chOff x="0" y="0"/>
          <a:chExt cx="0" cy="0"/>
        </a:xfrm>
      </p:grpSpPr>
      <p:sp>
        <p:nvSpPr>
          <p:cNvPr id="44" name="Google Shape;44;p62"/>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62"/>
          <p:cNvSpPr txBox="1"/>
          <p:nvPr>
            <p:ph idx="1" type="body"/>
          </p:nvPr>
        </p:nvSpPr>
        <p:spPr>
          <a:xfrm>
            <a:off x="467784" y="1214439"/>
            <a:ext cx="5384800" cy="507682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accent2"/>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accent2"/>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6" name="Google Shape;46;p62"/>
          <p:cNvSpPr txBox="1"/>
          <p:nvPr>
            <p:ph idx="2" type="body"/>
          </p:nvPr>
        </p:nvSpPr>
        <p:spPr>
          <a:xfrm>
            <a:off x="6055784" y="1214439"/>
            <a:ext cx="5384800" cy="507682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accent2"/>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accent2"/>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7" name="Google Shape;47;p62"/>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2"/>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2"/>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0" name="Shape 50"/>
        <p:cNvGrpSpPr/>
        <p:nvPr/>
      </p:nvGrpSpPr>
      <p:grpSpPr>
        <a:xfrm>
          <a:off x="0" y="0"/>
          <a:ext cx="0" cy="0"/>
          <a:chOff x="0" y="0"/>
          <a:chExt cx="0" cy="0"/>
        </a:xfrm>
      </p:grpSpPr>
      <p:sp>
        <p:nvSpPr>
          <p:cNvPr id="51" name="Google Shape;51;p63"/>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63"/>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accent2"/>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accent2"/>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53" name="Google Shape;53;p63"/>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3"/>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3"/>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56" name="Shape 56"/>
        <p:cNvGrpSpPr/>
        <p:nvPr/>
      </p:nvGrpSpPr>
      <p:grpSpPr>
        <a:xfrm>
          <a:off x="0" y="0"/>
          <a:ext cx="0" cy="0"/>
          <a:chOff x="0" y="0"/>
          <a:chExt cx="0" cy="0"/>
        </a:xfrm>
      </p:grpSpPr>
      <p:sp>
        <p:nvSpPr>
          <p:cNvPr id="57" name="Google Shape;57;p6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64"/>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accent2"/>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accent2"/>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9" name="Google Shape;59;p64"/>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accent2"/>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accent2"/>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0" name="Google Shape;60;p64"/>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accent2"/>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accent2"/>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1" name="Google Shape;61;p64"/>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accent2"/>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accent2"/>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2" name="Google Shape;62;p64"/>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4"/>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4"/>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5" name="Shape 65"/>
        <p:cNvGrpSpPr/>
        <p:nvPr/>
      </p:nvGrpSpPr>
      <p:grpSpPr>
        <a:xfrm>
          <a:off x="0" y="0"/>
          <a:ext cx="0" cy="0"/>
          <a:chOff x="0" y="0"/>
          <a:chExt cx="0" cy="0"/>
        </a:xfrm>
      </p:grpSpPr>
      <p:sp>
        <p:nvSpPr>
          <p:cNvPr id="66" name="Google Shape;66;p65"/>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5"/>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5"/>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66"/>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66"/>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accent2"/>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accent2"/>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72" name="Google Shape;72;p66"/>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accent2"/>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accent2"/>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73" name="Google Shape;73;p66"/>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6"/>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6"/>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6" name="Shape 76"/>
        <p:cNvGrpSpPr/>
        <p:nvPr/>
      </p:nvGrpSpPr>
      <p:grpSpPr>
        <a:xfrm>
          <a:off x="0" y="0"/>
          <a:ext cx="0" cy="0"/>
          <a:chOff x="0" y="0"/>
          <a:chExt cx="0" cy="0"/>
        </a:xfrm>
      </p:grpSpPr>
      <p:sp>
        <p:nvSpPr>
          <p:cNvPr id="77" name="Google Shape;77;p67"/>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 name="Google Shape;78;p67"/>
          <p:cNvSpPr/>
          <p:nvPr>
            <p:ph idx="2" type="pic"/>
          </p:nvPr>
        </p:nvSpPr>
        <p:spPr>
          <a:xfrm>
            <a:off x="2389717" y="612775"/>
            <a:ext cx="7315200" cy="4114800"/>
          </a:xfrm>
          <a:prstGeom prst="rect">
            <a:avLst/>
          </a:prstGeom>
          <a:noFill/>
          <a:ln>
            <a:noFill/>
          </a:ln>
        </p:spPr>
      </p:sp>
      <p:sp>
        <p:nvSpPr>
          <p:cNvPr id="79" name="Google Shape;79;p67"/>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accent2"/>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accent2"/>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80" name="Google Shape;80;p67"/>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7"/>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7"/>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83" name="Shape 83"/>
        <p:cNvGrpSpPr/>
        <p:nvPr/>
      </p:nvGrpSpPr>
      <p:grpSpPr>
        <a:xfrm>
          <a:off x="0" y="0"/>
          <a:ext cx="0" cy="0"/>
          <a:chOff x="0" y="0"/>
          <a:chExt cx="0" cy="0"/>
        </a:xfrm>
      </p:grpSpPr>
      <p:sp>
        <p:nvSpPr>
          <p:cNvPr id="84" name="Google Shape;84;p68"/>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5" name="Google Shape;85;p68"/>
          <p:cNvSpPr txBox="1"/>
          <p:nvPr>
            <p:ph idx="1" type="body"/>
          </p:nvPr>
        </p:nvSpPr>
        <p:spPr>
          <a:xfrm rot="5400000">
            <a:off x="3415771" y="-1733548"/>
            <a:ext cx="5076825" cy="10972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accent2"/>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 name="Google Shape;86;p68"/>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8"/>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68"/>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sp>
        <p:nvSpPr>
          <p:cNvPr id="90" name="Google Shape;90;p69"/>
          <p:cNvSpPr txBox="1"/>
          <p:nvPr>
            <p:ph type="title"/>
          </p:nvPr>
        </p:nvSpPr>
        <p:spPr>
          <a:xfrm rot="5400000">
            <a:off x="6972301" y="1822980"/>
            <a:ext cx="6191250" cy="27453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1" name="Google Shape;91;p69"/>
          <p:cNvSpPr txBox="1"/>
          <p:nvPr>
            <p:ph idx="1" type="body"/>
          </p:nvPr>
        </p:nvSpPr>
        <p:spPr>
          <a:xfrm rot="5400000">
            <a:off x="1377952" y="-822853"/>
            <a:ext cx="6191250" cy="803698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accent2"/>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2" name="Google Shape;92;p69"/>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69"/>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69"/>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showMasterSp="0" type="txAndTwoObj">
  <p:cSld name="TEXT_AND_TWO_OBJECTS">
    <p:spTree>
      <p:nvGrpSpPr>
        <p:cNvPr id="95" name="Shape 95"/>
        <p:cNvGrpSpPr/>
        <p:nvPr/>
      </p:nvGrpSpPr>
      <p:grpSpPr>
        <a:xfrm>
          <a:off x="0" y="0"/>
          <a:ext cx="0" cy="0"/>
          <a:chOff x="0" y="0"/>
          <a:chExt cx="0" cy="0"/>
        </a:xfrm>
      </p:grpSpPr>
      <p:sp>
        <p:nvSpPr>
          <p:cNvPr id="96" name="Google Shape;96;p70"/>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7" name="Google Shape;97;p70"/>
          <p:cNvSpPr txBox="1"/>
          <p:nvPr>
            <p:ph idx="1" type="body"/>
          </p:nvPr>
        </p:nvSpPr>
        <p:spPr>
          <a:xfrm>
            <a:off x="467784" y="1214439"/>
            <a:ext cx="5384800" cy="50768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accent2"/>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8" name="Google Shape;98;p70"/>
          <p:cNvSpPr txBox="1"/>
          <p:nvPr>
            <p:ph idx="2" type="body"/>
          </p:nvPr>
        </p:nvSpPr>
        <p:spPr>
          <a:xfrm>
            <a:off x="6055784" y="1214438"/>
            <a:ext cx="5384800" cy="246221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accent2"/>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p70"/>
          <p:cNvSpPr txBox="1"/>
          <p:nvPr>
            <p:ph idx="3" type="body"/>
          </p:nvPr>
        </p:nvSpPr>
        <p:spPr>
          <a:xfrm>
            <a:off x="6055784" y="3829051"/>
            <a:ext cx="5384800" cy="246221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accent2"/>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0" name="Google Shape;100;p70"/>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70"/>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70"/>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Text" showMasterSp="0" type="objAndTx">
  <p:cSld name="OBJECT_AND_TEXT">
    <p:spTree>
      <p:nvGrpSpPr>
        <p:cNvPr id="103" name="Shape 103"/>
        <p:cNvGrpSpPr/>
        <p:nvPr/>
      </p:nvGrpSpPr>
      <p:grpSpPr>
        <a:xfrm>
          <a:off x="0" y="0"/>
          <a:ext cx="0" cy="0"/>
          <a:chOff x="0" y="0"/>
          <a:chExt cx="0" cy="0"/>
        </a:xfrm>
      </p:grpSpPr>
      <p:sp>
        <p:nvSpPr>
          <p:cNvPr id="104" name="Google Shape;104;p71"/>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5" name="Google Shape;105;p71"/>
          <p:cNvSpPr txBox="1"/>
          <p:nvPr>
            <p:ph idx="1" type="body"/>
          </p:nvPr>
        </p:nvSpPr>
        <p:spPr>
          <a:xfrm>
            <a:off x="467784" y="1214439"/>
            <a:ext cx="5384800" cy="50768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accent2"/>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6" name="Google Shape;106;p71"/>
          <p:cNvSpPr txBox="1"/>
          <p:nvPr>
            <p:ph idx="2" type="body"/>
          </p:nvPr>
        </p:nvSpPr>
        <p:spPr>
          <a:xfrm>
            <a:off x="6055784" y="1214439"/>
            <a:ext cx="5384800" cy="50768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accent2"/>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7" name="Google Shape;107;p71"/>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71"/>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71"/>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10" name="Shape 110"/>
        <p:cNvGrpSpPr/>
        <p:nvPr/>
      </p:nvGrpSpPr>
      <p:grpSpPr>
        <a:xfrm>
          <a:off x="0" y="0"/>
          <a:ext cx="0" cy="0"/>
          <a:chOff x="0" y="0"/>
          <a:chExt cx="0" cy="0"/>
        </a:xfrm>
      </p:grpSpPr>
      <p:sp>
        <p:nvSpPr>
          <p:cNvPr id="111" name="Google Shape;111;p72"/>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2" name="Google Shape;112;p72"/>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72"/>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72"/>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theme" Target="../theme/theme1.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BRAC University Jobs 2020- Jobs in BRAC University- careerz360.com" id="10" name="Google Shape;10;p57"/>
          <p:cNvPicPr preferRelativeResize="0"/>
          <p:nvPr/>
        </p:nvPicPr>
        <p:blipFill rotWithShape="1">
          <a:blip r:embed="rId1">
            <a:alphaModFix/>
          </a:blip>
          <a:srcRect b="0" l="0" r="0" t="0"/>
          <a:stretch/>
        </p:blipFill>
        <p:spPr>
          <a:xfrm>
            <a:off x="10964009" y="0"/>
            <a:ext cx="1227668" cy="1189832"/>
          </a:xfrm>
          <a:prstGeom prst="rect">
            <a:avLst/>
          </a:prstGeom>
          <a:noFill/>
          <a:ln>
            <a:noFill/>
          </a:ln>
        </p:spPr>
      </p:pic>
      <p:sp>
        <p:nvSpPr>
          <p:cNvPr id="11" name="Google Shape;11;p57"/>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0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0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0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0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0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0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0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000" u="none" cap="none" strike="noStrike">
                <a:solidFill>
                  <a:schemeClr val="dk2"/>
                </a:solidFill>
                <a:latin typeface="Arial"/>
                <a:ea typeface="Arial"/>
                <a:cs typeface="Arial"/>
                <a:sym typeface="Arial"/>
              </a:defRPr>
            </a:lvl9pPr>
          </a:lstStyle>
          <a:p/>
        </p:txBody>
      </p:sp>
      <p:sp>
        <p:nvSpPr>
          <p:cNvPr id="12" name="Google Shape;12;p57"/>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accent2"/>
              </a:buClr>
              <a:buSzPts val="2800"/>
              <a:buFont typeface="Arial"/>
              <a:buChar char="•"/>
              <a:defRPr b="0" i="0" sz="2800" u="none" cap="none" strike="noStrike">
                <a:solidFill>
                  <a:schemeClr val="accent2"/>
                </a:solidFill>
                <a:latin typeface="Arial"/>
                <a:ea typeface="Arial"/>
                <a:cs typeface="Arial"/>
                <a:sym typeface="Arial"/>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accent2"/>
              </a:buClr>
              <a:buSzPts val="2000"/>
              <a:buFont typeface="Arial"/>
              <a:buChar char="•"/>
              <a:defRPr b="0" i="0" sz="2000" u="none" cap="none" strike="noStrike">
                <a:solidFill>
                  <a:schemeClr val="accent2"/>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3" name="Google Shape;13;p57"/>
          <p:cNvSpPr txBox="1"/>
          <p:nvPr>
            <p:ph idx="10" type="dt"/>
          </p:nvPr>
        </p:nvSpPr>
        <p:spPr>
          <a:xfrm>
            <a:off x="609600" y="6397625"/>
            <a:ext cx="2844800" cy="3238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57"/>
          <p:cNvSpPr txBox="1"/>
          <p:nvPr>
            <p:ph idx="11" type="ftr"/>
          </p:nvPr>
        </p:nvSpPr>
        <p:spPr>
          <a:xfrm>
            <a:off x="4165600" y="6397625"/>
            <a:ext cx="3860800" cy="3238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57"/>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57"/>
          <p:cNvSpPr/>
          <p:nvPr/>
        </p:nvSpPr>
        <p:spPr>
          <a:xfrm>
            <a:off x="436033" y="989013"/>
            <a:ext cx="10983384" cy="176212"/>
          </a:xfrm>
          <a:prstGeom prst="roundRect">
            <a:avLst>
              <a:gd fmla="val 16667" name="adj"/>
            </a:avLst>
          </a:prstGeom>
          <a:gradFill>
            <a:gsLst>
              <a:gs pos="0">
                <a:schemeClr val="lt1"/>
              </a:gs>
              <a:gs pos="50000">
                <a:schemeClr val="dk2"/>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9" name="Shape 119"/>
        <p:cNvGrpSpPr/>
        <p:nvPr/>
      </p:nvGrpSpPr>
      <p:grpSpPr>
        <a:xfrm>
          <a:off x="0" y="0"/>
          <a:ext cx="0" cy="0"/>
          <a:chOff x="0" y="0"/>
          <a:chExt cx="0" cy="0"/>
        </a:xfrm>
      </p:grpSpPr>
      <p:sp>
        <p:nvSpPr>
          <p:cNvPr id="120" name="Google Shape;120;p1"/>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CSE-221</a:t>
            </a:r>
            <a:br>
              <a:rPr lang="en-US"/>
            </a:br>
            <a:r>
              <a:rPr lang="en-US"/>
              <a:t>Algorithms</a:t>
            </a:r>
            <a:endParaRPr/>
          </a:p>
        </p:txBody>
      </p:sp>
      <p:sp>
        <p:nvSpPr>
          <p:cNvPr id="121" name="Google Shape;121;p1"/>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2"/>
              </a:buClr>
              <a:buSzPts val="2800"/>
              <a:buFont typeface="Arial"/>
              <a:buNone/>
            </a:pPr>
            <a:r>
              <a:rPr lang="en-US"/>
              <a:t>Introduction to Algorithms </a:t>
            </a:r>
            <a:endParaRPr/>
          </a:p>
        </p:txBody>
      </p:sp>
      <p:pic>
        <p:nvPicPr>
          <p:cNvPr descr="BRAC University Jobs 2020- Jobs in BRAC University- careerz360.com" id="122" name="Google Shape;122;p1"/>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Algorithm Definition</a:t>
            </a:r>
            <a:endParaRPr/>
          </a:p>
        </p:txBody>
      </p:sp>
      <p:sp>
        <p:nvSpPr>
          <p:cNvPr id="129" name="Google Shape;129;p2"/>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A finite set of </a:t>
            </a:r>
            <a:r>
              <a:rPr lang="en-US" u="sng"/>
              <a:t>statements</a:t>
            </a:r>
            <a:r>
              <a:rPr lang="en-US"/>
              <a:t> that </a:t>
            </a:r>
            <a:r>
              <a:rPr lang="en-US" u="sng"/>
              <a:t>guarantees</a:t>
            </a:r>
            <a:r>
              <a:rPr lang="en-US"/>
              <a:t> an </a:t>
            </a:r>
            <a:r>
              <a:rPr lang="en-US" u="sng"/>
              <a:t>optimal</a:t>
            </a:r>
            <a:r>
              <a:rPr lang="en-US"/>
              <a:t> solution in finite interval of time</a:t>
            </a:r>
            <a:endParaRPr/>
          </a:p>
          <a:p>
            <a:pPr indent="-165100" lvl="0" marL="342900" rtl="0" algn="l">
              <a:spcBef>
                <a:spcPts val="560"/>
              </a:spcBef>
              <a:spcAft>
                <a:spcPts val="0"/>
              </a:spcAft>
              <a:buClr>
                <a:schemeClr val="accent2"/>
              </a:buClr>
              <a:buSzPts val="2800"/>
              <a:buFont typeface="Arial"/>
              <a:buNone/>
            </a:pPr>
            <a:r>
              <a:t/>
            </a:r>
            <a:endParaRPr/>
          </a:p>
          <a:p>
            <a:pPr indent="-342900" lvl="0" marL="342900" rtl="0" algn="l">
              <a:spcBef>
                <a:spcPts val="560"/>
              </a:spcBef>
              <a:spcAft>
                <a:spcPts val="0"/>
              </a:spcAft>
              <a:buClr>
                <a:schemeClr val="accent2"/>
              </a:buClr>
              <a:buSzPts val="2800"/>
              <a:buFont typeface="Arial"/>
              <a:buChar char="•"/>
            </a:pPr>
            <a:r>
              <a:rPr lang="en-US"/>
              <a:t>Algorithmic thinking and problem solving skill are vital in making efficient solutions.</a:t>
            </a:r>
            <a:endParaRPr/>
          </a:p>
          <a:p>
            <a:pPr indent="0" lvl="0" marL="0" rtl="0" algn="l">
              <a:spcBef>
                <a:spcPts val="560"/>
              </a:spcBef>
              <a:spcAft>
                <a:spcPts val="0"/>
              </a:spcAft>
              <a:buClr>
                <a:schemeClr val="accent2"/>
              </a:buClr>
              <a:buSzPts val="2800"/>
              <a:buFont typeface="Arial"/>
              <a:buNone/>
            </a:pPr>
            <a:r>
              <a:t/>
            </a:r>
            <a:endParaRPr/>
          </a:p>
          <a:p>
            <a:pPr indent="-342900" lvl="0" marL="342900" rtl="0" algn="l">
              <a:spcBef>
                <a:spcPts val="560"/>
              </a:spcBef>
              <a:spcAft>
                <a:spcPts val="0"/>
              </a:spcAft>
              <a:buClr>
                <a:schemeClr val="accent2"/>
              </a:buClr>
              <a:buSzPts val="2800"/>
              <a:buFont typeface="Arial"/>
              <a:buChar char="•"/>
            </a:pPr>
            <a:r>
              <a:rPr lang="en-US"/>
              <a:t>The English word "ALGORITHM" derives from the Latin word AL-  AL-KHWARIZMI’S name. He developed the concept of an algorithm in Mathematics, and thus sometimes being called the “Grandfather of Computer Science".</a:t>
            </a:r>
            <a:endParaRPr/>
          </a:p>
        </p:txBody>
      </p:sp>
      <p:sp>
        <p:nvSpPr>
          <p:cNvPr id="130" name="Google Shape;130;p2"/>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BRAC University Jobs 2020- Jobs in BRAC University- careerz360.com" id="131" name="Google Shape;131;p2"/>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Glance of Algorithm</a:t>
            </a:r>
            <a:endParaRPr/>
          </a:p>
        </p:txBody>
      </p:sp>
      <p:sp>
        <p:nvSpPr>
          <p:cNvPr id="138" name="Google Shape;138;p3"/>
          <p:cNvSpPr txBox="1"/>
          <p:nvPr>
            <p:ph idx="1" type="body"/>
          </p:nvPr>
        </p:nvSpPr>
        <p:spPr>
          <a:xfrm>
            <a:off x="467784" y="1138335"/>
            <a:ext cx="10972800" cy="556720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An algorithm is a finite set of instructions or logic, written in order, to accomplish a certain predefined task.</a:t>
            </a:r>
            <a:endParaRPr/>
          </a:p>
          <a:p>
            <a:pPr indent="-342900" lvl="0" marL="342900" rtl="0" algn="l">
              <a:spcBef>
                <a:spcPts val="560"/>
              </a:spcBef>
              <a:spcAft>
                <a:spcPts val="0"/>
              </a:spcAft>
              <a:buClr>
                <a:schemeClr val="accent2"/>
              </a:buClr>
              <a:buSzPts val="2800"/>
              <a:buFont typeface="Arial"/>
              <a:buChar char="•"/>
            </a:pPr>
            <a:r>
              <a:rPr lang="en-US"/>
              <a:t>Algorithm is not the complete code or program</a:t>
            </a:r>
            <a:endParaRPr/>
          </a:p>
          <a:p>
            <a:pPr indent="-342900" lvl="0" marL="342900" rtl="0" algn="l">
              <a:spcBef>
                <a:spcPts val="560"/>
              </a:spcBef>
              <a:spcAft>
                <a:spcPts val="0"/>
              </a:spcAft>
              <a:buClr>
                <a:schemeClr val="accent2"/>
              </a:buClr>
              <a:buSzPts val="2800"/>
              <a:buFont typeface="Arial"/>
              <a:buChar char="•"/>
            </a:pPr>
            <a:r>
              <a:rPr lang="en-US"/>
              <a:t>Can be expressed either as an informal high level description as pseudocode or using a flowchart.</a:t>
            </a:r>
            <a:endParaRPr/>
          </a:p>
          <a:p>
            <a:pPr indent="0" lvl="0" marL="0" rtl="0" algn="l">
              <a:spcBef>
                <a:spcPts val="560"/>
              </a:spcBef>
              <a:spcAft>
                <a:spcPts val="0"/>
              </a:spcAft>
              <a:buClr>
                <a:schemeClr val="accent2"/>
              </a:buClr>
              <a:buSzPts val="2800"/>
              <a:buFont typeface="Arial"/>
              <a:buNone/>
            </a:pPr>
            <a:r>
              <a:t/>
            </a:r>
            <a:endParaRPr/>
          </a:p>
        </p:txBody>
      </p:sp>
      <p:sp>
        <p:nvSpPr>
          <p:cNvPr id="139" name="Google Shape;139;p3"/>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0" name="Google Shape;140;p3"/>
          <p:cNvPicPr preferRelativeResize="0"/>
          <p:nvPr/>
        </p:nvPicPr>
        <p:blipFill rotWithShape="1">
          <a:blip r:embed="rId3">
            <a:alphaModFix/>
          </a:blip>
          <a:srcRect b="0" l="0" r="0" t="0"/>
          <a:stretch/>
        </p:blipFill>
        <p:spPr>
          <a:xfrm>
            <a:off x="2351000" y="3736917"/>
            <a:ext cx="2739044" cy="2968625"/>
          </a:xfrm>
          <a:prstGeom prst="rect">
            <a:avLst/>
          </a:prstGeom>
          <a:noFill/>
          <a:ln>
            <a:noFill/>
          </a:ln>
        </p:spPr>
      </p:pic>
      <p:pic>
        <p:nvPicPr>
          <p:cNvPr id="141" name="Google Shape;141;p3"/>
          <p:cNvPicPr preferRelativeResize="0"/>
          <p:nvPr/>
        </p:nvPicPr>
        <p:blipFill rotWithShape="1">
          <a:blip r:embed="rId4">
            <a:alphaModFix/>
          </a:blip>
          <a:srcRect b="0" l="0" r="0" t="0"/>
          <a:stretch/>
        </p:blipFill>
        <p:spPr>
          <a:xfrm>
            <a:off x="5880158" y="3708924"/>
            <a:ext cx="4327530" cy="2879449"/>
          </a:xfrm>
          <a:prstGeom prst="rect">
            <a:avLst/>
          </a:prstGeom>
          <a:noFill/>
          <a:ln>
            <a:noFill/>
          </a:ln>
        </p:spPr>
      </p:pic>
      <p:pic>
        <p:nvPicPr>
          <p:cNvPr descr="BRAC University Jobs 2020- Jobs in BRAC University- careerz360.com" id="142" name="Google Shape;142;p3"/>
          <p:cNvPicPr preferRelativeResize="0"/>
          <p:nvPr/>
        </p:nvPicPr>
        <p:blipFill rotWithShape="1">
          <a:blip r:embed="rId5">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Algorithm Specifications</a:t>
            </a:r>
            <a:endParaRPr>
              <a:solidFill>
                <a:schemeClr val="dk1"/>
              </a:solidFill>
              <a:latin typeface="Arial"/>
              <a:ea typeface="Arial"/>
              <a:cs typeface="Arial"/>
              <a:sym typeface="Arial"/>
            </a:endParaRPr>
          </a:p>
        </p:txBody>
      </p:sp>
      <p:sp>
        <p:nvSpPr>
          <p:cNvPr id="149" name="Google Shape;149;p4"/>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FF0000"/>
              </a:buClr>
              <a:buSzPts val="2800"/>
              <a:buFont typeface="Corsiva"/>
              <a:buChar char="•"/>
            </a:pPr>
            <a:r>
              <a:rPr lang="en-US">
                <a:solidFill>
                  <a:srgbClr val="FF0000"/>
                </a:solidFill>
                <a:latin typeface="Corsiva"/>
                <a:ea typeface="Corsiva"/>
                <a:cs typeface="Corsiva"/>
                <a:sym typeface="Corsiva"/>
              </a:rPr>
              <a:t>Input</a:t>
            </a:r>
            <a:r>
              <a:rPr b="1" lang="en-US">
                <a:solidFill>
                  <a:srgbClr val="FF0000"/>
                </a:solidFill>
              </a:rPr>
              <a:t> -</a:t>
            </a:r>
            <a:r>
              <a:rPr b="1" lang="en-US"/>
              <a:t> </a:t>
            </a:r>
            <a:r>
              <a:rPr lang="en-US"/>
              <a:t> </a:t>
            </a:r>
            <a:r>
              <a:rPr lang="en-US" sz="2400"/>
              <a:t>Every Algorithm must take zero or more number of input values from external.</a:t>
            </a:r>
            <a:endParaRPr/>
          </a:p>
          <a:p>
            <a:pPr indent="-342900" lvl="0" marL="342900" rtl="0" algn="l">
              <a:spcBef>
                <a:spcPts val="560"/>
              </a:spcBef>
              <a:spcAft>
                <a:spcPts val="0"/>
              </a:spcAft>
              <a:buClr>
                <a:srgbClr val="FF0000"/>
              </a:buClr>
              <a:buSzPts val="2800"/>
              <a:buFont typeface="Corsiva"/>
              <a:buChar char="•"/>
            </a:pPr>
            <a:r>
              <a:rPr lang="en-US">
                <a:solidFill>
                  <a:srgbClr val="FF0000"/>
                </a:solidFill>
                <a:latin typeface="Corsiva"/>
                <a:ea typeface="Corsiva"/>
                <a:cs typeface="Corsiva"/>
                <a:sym typeface="Corsiva"/>
              </a:rPr>
              <a:t>Output</a:t>
            </a:r>
            <a:r>
              <a:rPr b="1" lang="en-US">
                <a:solidFill>
                  <a:srgbClr val="FF0000"/>
                </a:solidFill>
              </a:rPr>
              <a:t> -</a:t>
            </a:r>
            <a:r>
              <a:rPr b="1" lang="en-US"/>
              <a:t> </a:t>
            </a:r>
            <a:r>
              <a:rPr lang="en-US" sz="2400"/>
              <a:t>Every Algorithm must produce an output as result.</a:t>
            </a:r>
            <a:endParaRPr/>
          </a:p>
          <a:p>
            <a:pPr indent="-342900" lvl="0" marL="342900" rtl="0" algn="l">
              <a:spcBef>
                <a:spcPts val="560"/>
              </a:spcBef>
              <a:spcAft>
                <a:spcPts val="0"/>
              </a:spcAft>
              <a:buClr>
                <a:srgbClr val="FF0000"/>
              </a:buClr>
              <a:buSzPts val="2800"/>
              <a:buFont typeface="Corsiva"/>
              <a:buChar char="•"/>
            </a:pPr>
            <a:r>
              <a:rPr lang="en-US">
                <a:solidFill>
                  <a:srgbClr val="FF0000"/>
                </a:solidFill>
                <a:latin typeface="Corsiva"/>
                <a:ea typeface="Corsiva"/>
                <a:cs typeface="Corsiva"/>
                <a:sym typeface="Corsiva"/>
              </a:rPr>
              <a:t>Definiteness</a:t>
            </a:r>
            <a:r>
              <a:rPr lang="en-US">
                <a:solidFill>
                  <a:srgbClr val="FF0000"/>
                </a:solidFill>
              </a:rPr>
              <a:t> -</a:t>
            </a:r>
            <a:r>
              <a:rPr lang="en-US"/>
              <a:t> </a:t>
            </a:r>
            <a:r>
              <a:rPr lang="en-US" sz="2400"/>
              <a:t>Every statement/instruction in an algorithm must be clear and unambiguous (only one interpretation)</a:t>
            </a:r>
            <a:endParaRPr/>
          </a:p>
          <a:p>
            <a:pPr indent="-342900" lvl="0" marL="342900" rtl="0" algn="l">
              <a:spcBef>
                <a:spcPts val="560"/>
              </a:spcBef>
              <a:spcAft>
                <a:spcPts val="0"/>
              </a:spcAft>
              <a:buClr>
                <a:srgbClr val="FF0000"/>
              </a:buClr>
              <a:buSzPts val="2800"/>
              <a:buFont typeface="Corsiva"/>
              <a:buChar char="•"/>
            </a:pPr>
            <a:r>
              <a:rPr lang="en-US">
                <a:solidFill>
                  <a:srgbClr val="FF0000"/>
                </a:solidFill>
                <a:latin typeface="Corsiva"/>
                <a:ea typeface="Corsiva"/>
                <a:cs typeface="Corsiva"/>
                <a:sym typeface="Corsiva"/>
              </a:rPr>
              <a:t>Finiteness </a:t>
            </a:r>
            <a:r>
              <a:rPr b="1" lang="en-US">
                <a:solidFill>
                  <a:srgbClr val="FF0000"/>
                </a:solidFill>
                <a:latin typeface="Corsiva"/>
                <a:ea typeface="Corsiva"/>
                <a:cs typeface="Corsiva"/>
                <a:sym typeface="Corsiva"/>
              </a:rPr>
              <a:t>-</a:t>
            </a:r>
            <a:r>
              <a:rPr b="1" lang="en-US"/>
              <a:t>  </a:t>
            </a:r>
            <a:r>
              <a:rPr lang="en-US" sz="2400"/>
              <a:t>For all different cases, the algorithm must produce result within a finite number of steps.</a:t>
            </a:r>
            <a:endParaRPr/>
          </a:p>
          <a:p>
            <a:pPr indent="-342900" lvl="0" marL="342900" rtl="0" algn="l">
              <a:spcBef>
                <a:spcPts val="560"/>
              </a:spcBef>
              <a:spcAft>
                <a:spcPts val="0"/>
              </a:spcAft>
              <a:buClr>
                <a:srgbClr val="FF0000"/>
              </a:buClr>
              <a:buSzPts val="2800"/>
              <a:buFont typeface="Corsiva"/>
              <a:buChar char="•"/>
            </a:pPr>
            <a:r>
              <a:rPr lang="en-US">
                <a:solidFill>
                  <a:srgbClr val="FF0000"/>
                </a:solidFill>
                <a:latin typeface="Corsiva"/>
                <a:ea typeface="Corsiva"/>
                <a:cs typeface="Corsiva"/>
                <a:sym typeface="Corsiva"/>
              </a:rPr>
              <a:t>Effectiveness</a:t>
            </a:r>
            <a:r>
              <a:rPr lang="en-US" sz="2400">
                <a:solidFill>
                  <a:srgbClr val="FF0000"/>
                </a:solidFill>
              </a:rPr>
              <a:t> </a:t>
            </a:r>
            <a:r>
              <a:rPr b="1" lang="en-US" sz="2400">
                <a:solidFill>
                  <a:srgbClr val="FF0000"/>
                </a:solidFill>
              </a:rPr>
              <a:t>-</a:t>
            </a:r>
            <a:r>
              <a:rPr b="1" lang="en-US" sz="2400"/>
              <a:t> </a:t>
            </a:r>
            <a:r>
              <a:rPr lang="en-US" sz="2400"/>
              <a:t>Every Instruction must be basic enough to be carried out and it also must be feasible.</a:t>
            </a:r>
            <a:endParaRPr/>
          </a:p>
          <a:p>
            <a:pPr indent="-165100" lvl="0" marL="342900" rtl="0" algn="l">
              <a:spcBef>
                <a:spcPts val="560"/>
              </a:spcBef>
              <a:spcAft>
                <a:spcPts val="0"/>
              </a:spcAft>
              <a:buClr>
                <a:schemeClr val="accent2"/>
              </a:buClr>
              <a:buSzPts val="2800"/>
              <a:buFont typeface="Arial"/>
              <a:buNone/>
            </a:pPr>
            <a:r>
              <a:t/>
            </a:r>
            <a:endParaRPr/>
          </a:p>
          <a:p>
            <a:pPr indent="-165100" lvl="0" marL="342900" rtl="0" algn="l">
              <a:spcBef>
                <a:spcPts val="560"/>
              </a:spcBef>
              <a:spcAft>
                <a:spcPts val="0"/>
              </a:spcAft>
              <a:buClr>
                <a:schemeClr val="accent2"/>
              </a:buClr>
              <a:buSzPts val="2800"/>
              <a:buFont typeface="Arial"/>
              <a:buNone/>
            </a:pPr>
            <a:r>
              <a:t/>
            </a:r>
            <a:endParaRPr/>
          </a:p>
        </p:txBody>
      </p:sp>
      <p:sp>
        <p:nvSpPr>
          <p:cNvPr id="150" name="Google Shape;150;p4"/>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BRAC University Jobs 2020- Jobs in BRAC University- careerz360.com" id="151" name="Google Shape;151;p4"/>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5"/>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Good Algorithms</a:t>
            </a:r>
            <a:r>
              <a:rPr b="1" lang="en-US"/>
              <a:t>?</a:t>
            </a:r>
            <a:endParaRPr/>
          </a:p>
        </p:txBody>
      </p:sp>
      <p:sp>
        <p:nvSpPr>
          <p:cNvPr id="158" name="Google Shape;158;p5"/>
          <p:cNvSpPr txBox="1"/>
          <p:nvPr>
            <p:ph idx="1" type="body"/>
          </p:nvPr>
        </p:nvSpPr>
        <p:spPr>
          <a:xfrm>
            <a:off x="467784" y="1214439"/>
            <a:ext cx="10766274"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Run in less time</a:t>
            </a:r>
            <a:endParaRPr/>
          </a:p>
          <a:p>
            <a:pPr indent="-165100" lvl="0" marL="342900" rtl="0" algn="l">
              <a:spcBef>
                <a:spcPts val="560"/>
              </a:spcBef>
              <a:spcAft>
                <a:spcPts val="0"/>
              </a:spcAft>
              <a:buClr>
                <a:schemeClr val="accent2"/>
              </a:buClr>
              <a:buSzPts val="2800"/>
              <a:buFont typeface="Arial"/>
              <a:buNone/>
            </a:pPr>
            <a:r>
              <a:t/>
            </a:r>
            <a:endParaRPr/>
          </a:p>
          <a:p>
            <a:pPr indent="-342900" lvl="0" marL="342900" rtl="0" algn="l">
              <a:spcBef>
                <a:spcPts val="560"/>
              </a:spcBef>
              <a:spcAft>
                <a:spcPts val="0"/>
              </a:spcAft>
              <a:buClr>
                <a:schemeClr val="accent2"/>
              </a:buClr>
              <a:buSzPts val="2800"/>
              <a:buFont typeface="Arial"/>
              <a:buChar char="•"/>
            </a:pPr>
            <a:r>
              <a:rPr lang="en-US"/>
              <a:t>Consume less memory</a:t>
            </a:r>
            <a:endParaRPr/>
          </a:p>
          <a:p>
            <a:pPr indent="-165100" lvl="0" marL="342900" rtl="0" algn="l">
              <a:spcBef>
                <a:spcPts val="560"/>
              </a:spcBef>
              <a:spcAft>
                <a:spcPts val="0"/>
              </a:spcAft>
              <a:buClr>
                <a:schemeClr val="accent2"/>
              </a:buClr>
              <a:buSzPts val="2800"/>
              <a:buFont typeface="Arial"/>
              <a:buNone/>
            </a:pPr>
            <a:r>
              <a:t/>
            </a:r>
            <a:endParaRPr/>
          </a:p>
          <a:p>
            <a:pPr indent="0" lvl="0" marL="0" rtl="0" algn="l">
              <a:spcBef>
                <a:spcPts val="560"/>
              </a:spcBef>
              <a:spcAft>
                <a:spcPts val="0"/>
              </a:spcAft>
              <a:buClr>
                <a:schemeClr val="accent2"/>
              </a:buClr>
              <a:buSzPts val="2800"/>
              <a:buFont typeface="Arial"/>
              <a:buNone/>
            </a:pPr>
            <a:r>
              <a:rPr lang="en-US"/>
              <a:t>    But computational resources (time complexity) usually important</a:t>
            </a:r>
            <a:endParaRPr/>
          </a:p>
        </p:txBody>
      </p:sp>
      <p:sp>
        <p:nvSpPr>
          <p:cNvPr id="159" name="Google Shape;159;p5"/>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BRAC University Jobs 2020- Jobs in BRAC University- careerz360.com" id="160" name="Google Shape;160;p5"/>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5" name="Shape 165"/>
        <p:cNvGrpSpPr/>
        <p:nvPr/>
      </p:nvGrpSpPr>
      <p:grpSpPr>
        <a:xfrm>
          <a:off x="0" y="0"/>
          <a:ext cx="0" cy="0"/>
          <a:chOff x="0" y="0"/>
          <a:chExt cx="0" cy="0"/>
        </a:xfrm>
      </p:grpSpPr>
      <p:sp>
        <p:nvSpPr>
          <p:cNvPr id="166" name="Google Shape;166;p6"/>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67" name="Google Shape;167;p6"/>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Analyzing Algorithms</a:t>
            </a:r>
            <a:endParaRPr/>
          </a:p>
        </p:txBody>
      </p:sp>
      <p:sp>
        <p:nvSpPr>
          <p:cNvPr id="168" name="Google Shape;168;p6"/>
          <p:cNvSpPr txBox="1"/>
          <p:nvPr>
            <p:ph idx="1" type="body"/>
          </p:nvPr>
        </p:nvSpPr>
        <p:spPr>
          <a:xfrm>
            <a:off x="609599" y="1008063"/>
            <a:ext cx="10531152" cy="5619750"/>
          </a:xfrm>
          <a:prstGeom prst="rect">
            <a:avLst/>
          </a:prstGeom>
          <a:noFill/>
          <a:ln>
            <a:noFill/>
          </a:ln>
        </p:spPr>
        <p:txBody>
          <a:bodyPr anchorCtr="0" anchor="t" bIns="45700" lIns="91425" spcFirstLastPara="1" rIns="91425" wrap="square" tIns="45700">
            <a:noAutofit/>
          </a:bodyPr>
          <a:lstStyle/>
          <a:p>
            <a:pPr indent="-533400" lvl="0" marL="533400" rtl="0" algn="l">
              <a:lnSpc>
                <a:spcPct val="150000"/>
              </a:lnSpc>
              <a:spcBef>
                <a:spcPts val="0"/>
              </a:spcBef>
              <a:spcAft>
                <a:spcPts val="0"/>
              </a:spcAft>
              <a:buClr>
                <a:schemeClr val="accent2"/>
              </a:buClr>
              <a:buSzPts val="2000"/>
              <a:buFont typeface="Arial"/>
              <a:buChar char="•"/>
            </a:pPr>
            <a:r>
              <a:rPr lang="en-US" sz="2000"/>
              <a:t>Predict the amount of resources required: </a:t>
            </a:r>
            <a:endParaRPr/>
          </a:p>
          <a:p>
            <a:pPr indent="-457200" lvl="1" marL="914400" rtl="0" algn="l">
              <a:lnSpc>
                <a:spcPct val="150000"/>
              </a:lnSpc>
              <a:spcBef>
                <a:spcPts val="360"/>
              </a:spcBef>
              <a:spcAft>
                <a:spcPts val="0"/>
              </a:spcAft>
              <a:buClr>
                <a:schemeClr val="dk1"/>
              </a:buClr>
              <a:buSzPts val="1800"/>
              <a:buFont typeface="Arial"/>
              <a:buChar char="•"/>
            </a:pPr>
            <a:r>
              <a:rPr lang="en-US" sz="1800"/>
              <a:t> </a:t>
            </a:r>
            <a:r>
              <a:rPr lang="en-US" sz="1800">
                <a:solidFill>
                  <a:srgbClr val="DD0111"/>
                </a:solidFill>
              </a:rPr>
              <a:t>memory</a:t>
            </a:r>
            <a:r>
              <a:rPr lang="en-US" sz="1800"/>
              <a:t>: how much space is needed? </a:t>
            </a:r>
            <a:endParaRPr/>
          </a:p>
          <a:p>
            <a:pPr indent="-457200" lvl="1" marL="914400" rtl="0" algn="l">
              <a:lnSpc>
                <a:spcPct val="150000"/>
              </a:lnSpc>
              <a:spcBef>
                <a:spcPts val="360"/>
              </a:spcBef>
              <a:spcAft>
                <a:spcPts val="0"/>
              </a:spcAft>
              <a:buClr>
                <a:schemeClr val="dk1"/>
              </a:buClr>
              <a:buSzPts val="1800"/>
              <a:buFont typeface="Arial"/>
              <a:buChar char="•"/>
            </a:pPr>
            <a:r>
              <a:rPr lang="en-US" sz="1800"/>
              <a:t> </a:t>
            </a:r>
            <a:r>
              <a:rPr lang="en-US" sz="1800">
                <a:solidFill>
                  <a:srgbClr val="DD0111"/>
                </a:solidFill>
              </a:rPr>
              <a:t>computational time</a:t>
            </a:r>
            <a:r>
              <a:rPr lang="en-US" sz="1800"/>
              <a:t>: how fast the algorithm runs?</a:t>
            </a:r>
            <a:endParaRPr/>
          </a:p>
          <a:p>
            <a:pPr indent="-533400" lvl="0" marL="533400" rtl="0" algn="l">
              <a:lnSpc>
                <a:spcPct val="150000"/>
              </a:lnSpc>
              <a:spcBef>
                <a:spcPts val="400"/>
              </a:spcBef>
              <a:spcAft>
                <a:spcPts val="0"/>
              </a:spcAft>
              <a:buClr>
                <a:schemeClr val="accent2"/>
              </a:buClr>
              <a:buSzPts val="2000"/>
              <a:buFont typeface="Arial"/>
              <a:buChar char="•"/>
            </a:pPr>
            <a:r>
              <a:rPr lang="en-US" sz="2000"/>
              <a:t>FACT: running time grows with the size of the input </a:t>
            </a:r>
            <a:endParaRPr/>
          </a:p>
          <a:p>
            <a:pPr indent="-533400" lvl="0" marL="533400" rtl="0" algn="l">
              <a:lnSpc>
                <a:spcPct val="150000"/>
              </a:lnSpc>
              <a:spcBef>
                <a:spcPts val="400"/>
              </a:spcBef>
              <a:spcAft>
                <a:spcPts val="0"/>
              </a:spcAft>
              <a:buClr>
                <a:schemeClr val="accent2"/>
              </a:buClr>
              <a:buSzPts val="2000"/>
              <a:buFont typeface="Arial"/>
              <a:buChar char="•"/>
            </a:pPr>
            <a:r>
              <a:rPr lang="en-US" sz="2000"/>
              <a:t>Input size (number of elements in the input)</a:t>
            </a:r>
            <a:endParaRPr sz="2000">
              <a:latin typeface="Corsiva"/>
              <a:ea typeface="Corsiva"/>
              <a:cs typeface="Corsiva"/>
              <a:sym typeface="Corsiva"/>
            </a:endParaRPr>
          </a:p>
          <a:p>
            <a:pPr indent="-457200" lvl="1" marL="914400" rtl="0" algn="l">
              <a:lnSpc>
                <a:spcPct val="150000"/>
              </a:lnSpc>
              <a:spcBef>
                <a:spcPts val="360"/>
              </a:spcBef>
              <a:spcAft>
                <a:spcPts val="0"/>
              </a:spcAft>
              <a:buClr>
                <a:schemeClr val="dk1"/>
              </a:buClr>
              <a:buSzPts val="1800"/>
              <a:buFont typeface="Arial"/>
              <a:buChar char="–"/>
            </a:pPr>
            <a:r>
              <a:rPr lang="en-US" sz="1800"/>
              <a:t>Size of an array, polynomial degree, # of elements in a matrix, # of bits in the binary representation of the input, vertices and edges in a graph</a:t>
            </a:r>
            <a:endParaRPr/>
          </a:p>
          <a:p>
            <a:pPr indent="-533400" lvl="0" marL="533400" rtl="0" algn="l">
              <a:lnSpc>
                <a:spcPct val="150000"/>
              </a:lnSpc>
              <a:spcBef>
                <a:spcPts val="480"/>
              </a:spcBef>
              <a:spcAft>
                <a:spcPts val="0"/>
              </a:spcAft>
              <a:buClr>
                <a:srgbClr val="DD0111"/>
              </a:buClr>
              <a:buSzPts val="2400"/>
              <a:buFont typeface="Corsiva"/>
              <a:buNone/>
            </a:pPr>
            <a:r>
              <a:rPr lang="en-US" sz="2400">
                <a:solidFill>
                  <a:srgbClr val="DD0111"/>
                </a:solidFill>
                <a:latin typeface="Corsiva"/>
                <a:ea typeface="Corsiva"/>
                <a:cs typeface="Corsiva"/>
                <a:sym typeface="Corsiva"/>
              </a:rPr>
              <a:t>Def: </a:t>
            </a:r>
            <a:r>
              <a:rPr i="1" lang="en-US" sz="2400">
                <a:latin typeface="Corsiva"/>
                <a:ea typeface="Corsiva"/>
                <a:cs typeface="Corsiva"/>
                <a:sym typeface="Corsiva"/>
              </a:rPr>
              <a:t>Running time = the number of primitive operations (steps) executed before termination</a:t>
            </a:r>
            <a:endParaRPr/>
          </a:p>
          <a:p>
            <a:pPr indent="-457200" lvl="1" marL="914400" rtl="0" algn="l">
              <a:lnSpc>
                <a:spcPct val="150000"/>
              </a:lnSpc>
              <a:spcBef>
                <a:spcPts val="360"/>
              </a:spcBef>
              <a:spcAft>
                <a:spcPts val="0"/>
              </a:spcAft>
              <a:buClr>
                <a:schemeClr val="dk1"/>
              </a:buClr>
              <a:buSzPts val="1800"/>
              <a:buFont typeface="Arial"/>
              <a:buChar char="–"/>
            </a:pPr>
            <a:r>
              <a:rPr lang="en-US" sz="1800"/>
              <a:t>Arithmetic operations (+, -, *), data movement, control, decision making (</a:t>
            </a:r>
            <a:r>
              <a:rPr i="1" lang="en-US" sz="1800"/>
              <a:t>if, while</a:t>
            </a:r>
            <a:r>
              <a:rPr lang="en-US" sz="1800"/>
              <a:t>), comparison</a:t>
            </a:r>
            <a:endParaRPr sz="1800">
              <a:latin typeface="Corsiva"/>
              <a:ea typeface="Corsiva"/>
              <a:cs typeface="Corsiva"/>
              <a:sym typeface="Corsiva"/>
            </a:endParaRPr>
          </a:p>
        </p:txBody>
      </p:sp>
      <p:pic>
        <p:nvPicPr>
          <p:cNvPr descr="BRAC University Jobs 2020- Jobs in BRAC University- careerz360.com" id="169" name="Google Shape;169;p6"/>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4" name="Shape 174"/>
        <p:cNvGrpSpPr/>
        <p:nvPr/>
      </p:nvGrpSpPr>
      <p:grpSpPr>
        <a:xfrm>
          <a:off x="0" y="0"/>
          <a:ext cx="0" cy="0"/>
          <a:chOff x="0" y="0"/>
          <a:chExt cx="0" cy="0"/>
        </a:xfrm>
      </p:grpSpPr>
      <p:sp>
        <p:nvSpPr>
          <p:cNvPr id="175" name="Google Shape;175;p7"/>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76" name="Google Shape;176;p7"/>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Algorithm Analysis: Example</a:t>
            </a:r>
            <a:endParaRPr/>
          </a:p>
        </p:txBody>
      </p:sp>
      <p:sp>
        <p:nvSpPr>
          <p:cNvPr id="177" name="Google Shape;177;p7"/>
          <p:cNvSpPr txBox="1"/>
          <p:nvPr>
            <p:ph idx="1" type="body"/>
          </p:nvPr>
        </p:nvSpPr>
        <p:spPr>
          <a:xfrm>
            <a:off x="690464" y="1079500"/>
            <a:ext cx="10891935" cy="54800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DD0111"/>
              </a:buClr>
              <a:buSzPts val="2400"/>
              <a:buFont typeface="Corsiva"/>
              <a:buChar char="•"/>
            </a:pPr>
            <a:r>
              <a:rPr lang="en-US" sz="2400">
                <a:solidFill>
                  <a:srgbClr val="DD0111"/>
                </a:solidFill>
                <a:latin typeface="Corsiva"/>
                <a:ea typeface="Corsiva"/>
                <a:cs typeface="Corsiva"/>
                <a:sym typeface="Corsiva"/>
              </a:rPr>
              <a:t>Alg.:</a:t>
            </a:r>
            <a:r>
              <a:rPr lang="en-US" sz="2400"/>
              <a:t> </a:t>
            </a:r>
            <a:r>
              <a:rPr lang="en-US" sz="2400">
                <a:latin typeface="Arial"/>
                <a:ea typeface="Arial"/>
                <a:cs typeface="Arial"/>
                <a:sym typeface="Arial"/>
              </a:rPr>
              <a:t>MIN (a[1], …, a[n])</a:t>
            </a:r>
            <a:endParaRPr/>
          </a:p>
          <a:p>
            <a:pPr indent="-285750" lvl="1" marL="742950" rtl="0" algn="l">
              <a:spcBef>
                <a:spcPts val="400"/>
              </a:spcBef>
              <a:spcAft>
                <a:spcPts val="0"/>
              </a:spcAft>
              <a:buClr>
                <a:schemeClr val="dk1"/>
              </a:buClr>
              <a:buSzPts val="2000"/>
              <a:buFont typeface="Arial"/>
              <a:buNone/>
            </a:pPr>
            <a:r>
              <a:rPr lang="en-US" sz="2000">
                <a:latin typeface="Arial"/>
                <a:ea typeface="Arial"/>
                <a:cs typeface="Arial"/>
                <a:sym typeface="Arial"/>
              </a:rPr>
              <a:t>		  m ← a[1];			</a:t>
            </a:r>
            <a:endParaRPr/>
          </a:p>
          <a:p>
            <a:pPr indent="-285750" lvl="1" marL="742950" rtl="0" algn="l">
              <a:spcBef>
                <a:spcPts val="400"/>
              </a:spcBef>
              <a:spcAft>
                <a:spcPts val="0"/>
              </a:spcAft>
              <a:buClr>
                <a:schemeClr val="dk1"/>
              </a:buClr>
              <a:buSzPts val="2000"/>
              <a:buFont typeface="Arial"/>
              <a:buNone/>
            </a:pPr>
            <a:r>
              <a:rPr lang="en-US" sz="2000">
                <a:latin typeface="Arial"/>
                <a:ea typeface="Arial"/>
                <a:cs typeface="Arial"/>
                <a:sym typeface="Arial"/>
              </a:rPr>
              <a:t>	  	  for i ← 2 to n			</a:t>
            </a:r>
            <a:endParaRPr/>
          </a:p>
          <a:p>
            <a:pPr indent="-285750" lvl="1" marL="742950" rtl="0" algn="l">
              <a:spcBef>
                <a:spcPts val="400"/>
              </a:spcBef>
              <a:spcAft>
                <a:spcPts val="0"/>
              </a:spcAft>
              <a:buClr>
                <a:schemeClr val="dk1"/>
              </a:buClr>
              <a:buSzPts val="2000"/>
              <a:buFont typeface="Arial"/>
              <a:buNone/>
            </a:pPr>
            <a:r>
              <a:rPr lang="en-US" sz="2000">
                <a:latin typeface="Arial"/>
                <a:ea typeface="Arial"/>
                <a:cs typeface="Arial"/>
                <a:sym typeface="Arial"/>
              </a:rPr>
              <a:t>		         if a[i] &lt; m 			</a:t>
            </a:r>
            <a:endParaRPr/>
          </a:p>
          <a:p>
            <a:pPr indent="-285750" lvl="1" marL="742950" rtl="0" algn="l">
              <a:spcBef>
                <a:spcPts val="400"/>
              </a:spcBef>
              <a:spcAft>
                <a:spcPts val="0"/>
              </a:spcAft>
              <a:buClr>
                <a:schemeClr val="dk1"/>
              </a:buClr>
              <a:buSzPts val="2000"/>
              <a:buFont typeface="Arial"/>
              <a:buNone/>
            </a:pPr>
            <a:r>
              <a:rPr lang="en-US" sz="2000">
                <a:latin typeface="Arial"/>
                <a:ea typeface="Arial"/>
                <a:cs typeface="Arial"/>
                <a:sym typeface="Arial"/>
              </a:rPr>
              <a:t>			then m ← a[i];</a:t>
            </a:r>
            <a:r>
              <a:rPr lang="en-US" sz="2000">
                <a:latin typeface="Corsiva"/>
                <a:ea typeface="Corsiva"/>
                <a:cs typeface="Corsiva"/>
                <a:sym typeface="Corsiva"/>
              </a:rPr>
              <a:t>		</a:t>
            </a:r>
            <a:endParaRPr/>
          </a:p>
          <a:p>
            <a:pPr indent="-342900" lvl="0" marL="342900" rtl="0" algn="l">
              <a:spcBef>
                <a:spcPts val="480"/>
              </a:spcBef>
              <a:spcAft>
                <a:spcPts val="0"/>
              </a:spcAft>
              <a:buClr>
                <a:schemeClr val="accent2"/>
              </a:buClr>
              <a:buSzPts val="2400"/>
              <a:buFont typeface="Arial"/>
              <a:buChar char="•"/>
            </a:pPr>
            <a:r>
              <a:rPr b="1" lang="en-US" sz="2400"/>
              <a:t>Running time</a:t>
            </a:r>
            <a:r>
              <a:rPr lang="en-US" sz="2400"/>
              <a:t>: </a:t>
            </a:r>
            <a:endParaRPr/>
          </a:p>
          <a:p>
            <a:pPr indent="-285750" lvl="1" marL="742950" rtl="0" algn="l">
              <a:spcBef>
                <a:spcPts val="480"/>
              </a:spcBef>
              <a:spcAft>
                <a:spcPts val="0"/>
              </a:spcAft>
              <a:buClr>
                <a:schemeClr val="dk1"/>
              </a:buClr>
              <a:buSzPts val="2400"/>
              <a:buFont typeface="Arial"/>
              <a:buChar char="–"/>
            </a:pPr>
            <a:r>
              <a:rPr lang="en-US"/>
              <a:t>the number of primitive operations (steps) executed before termination</a:t>
            </a:r>
            <a:endParaRPr/>
          </a:p>
          <a:p>
            <a:pPr indent="-285750" lvl="1" marL="742950" rtl="0" algn="l">
              <a:spcBef>
                <a:spcPts val="400"/>
              </a:spcBef>
              <a:spcAft>
                <a:spcPts val="0"/>
              </a:spcAft>
              <a:buClr>
                <a:schemeClr val="dk1"/>
              </a:buClr>
              <a:buSzPts val="2000"/>
              <a:buFont typeface="Corsiva"/>
              <a:buNone/>
            </a:pPr>
            <a:r>
              <a:rPr lang="en-US" sz="2000">
                <a:latin typeface="Corsiva"/>
                <a:ea typeface="Corsiva"/>
                <a:cs typeface="Corsiva"/>
                <a:sym typeface="Corsiva"/>
              </a:rPr>
              <a:t>T(n)  =1</a:t>
            </a:r>
            <a:r>
              <a:rPr lang="en-US" sz="2000"/>
              <a:t> [first step] + </a:t>
            </a:r>
            <a:r>
              <a:rPr lang="en-US" sz="2000">
                <a:latin typeface="Corsiva"/>
                <a:ea typeface="Corsiva"/>
                <a:cs typeface="Corsiva"/>
                <a:sym typeface="Corsiva"/>
              </a:rPr>
              <a:t>(n) </a:t>
            </a:r>
            <a:r>
              <a:rPr lang="en-US" sz="2000"/>
              <a:t>[for loop] + </a:t>
            </a:r>
            <a:r>
              <a:rPr lang="en-US" sz="2000">
                <a:latin typeface="Corsiva"/>
                <a:ea typeface="Corsiva"/>
                <a:cs typeface="Corsiva"/>
                <a:sym typeface="Corsiva"/>
              </a:rPr>
              <a:t>(n-1)</a:t>
            </a:r>
            <a:r>
              <a:rPr lang="en-US" sz="2000"/>
              <a:t> [if condition] + </a:t>
            </a:r>
            <a:r>
              <a:rPr lang="en-US" sz="2000">
                <a:latin typeface="Corsiva"/>
                <a:ea typeface="Corsiva"/>
                <a:cs typeface="Corsiva"/>
                <a:sym typeface="Corsiva"/>
              </a:rPr>
              <a:t>(n-1)</a:t>
            </a:r>
            <a:r>
              <a:rPr lang="en-US" sz="2000"/>
              <a:t> [the assignment in then] = </a:t>
            </a:r>
            <a:r>
              <a:rPr lang="en-US" sz="2000">
                <a:latin typeface="Corsiva"/>
                <a:ea typeface="Corsiva"/>
                <a:cs typeface="Corsiva"/>
                <a:sym typeface="Corsiva"/>
              </a:rPr>
              <a:t>3n - 1</a:t>
            </a:r>
            <a:endParaRPr/>
          </a:p>
          <a:p>
            <a:pPr indent="-342900" lvl="0" marL="342900" rtl="0" algn="l">
              <a:spcBef>
                <a:spcPts val="480"/>
              </a:spcBef>
              <a:spcAft>
                <a:spcPts val="0"/>
              </a:spcAft>
              <a:buClr>
                <a:schemeClr val="accent2"/>
              </a:buClr>
              <a:buSzPts val="2400"/>
              <a:buFont typeface="Arial"/>
              <a:buChar char="•"/>
            </a:pPr>
            <a:r>
              <a:rPr lang="en-US" sz="2400"/>
              <a:t>Order (rate) of growth: </a:t>
            </a:r>
            <a:endParaRPr/>
          </a:p>
          <a:p>
            <a:pPr indent="-285750" lvl="1" marL="742950" rtl="0" algn="l">
              <a:spcBef>
                <a:spcPts val="400"/>
              </a:spcBef>
              <a:spcAft>
                <a:spcPts val="0"/>
              </a:spcAft>
              <a:buClr>
                <a:schemeClr val="dk1"/>
              </a:buClr>
              <a:buSzPts val="2000"/>
              <a:buFont typeface="Arial"/>
              <a:buChar char="–"/>
            </a:pPr>
            <a:r>
              <a:rPr lang="en-US" sz="2000"/>
              <a:t>The leading term of the formula</a:t>
            </a:r>
            <a:endParaRPr/>
          </a:p>
          <a:p>
            <a:pPr indent="-285750" lvl="1" marL="742950" rtl="0" algn="l">
              <a:spcBef>
                <a:spcPts val="400"/>
              </a:spcBef>
              <a:spcAft>
                <a:spcPts val="0"/>
              </a:spcAft>
              <a:buClr>
                <a:schemeClr val="dk1"/>
              </a:buClr>
              <a:buSzPts val="2000"/>
              <a:buFont typeface="Arial"/>
              <a:buChar char="–"/>
            </a:pPr>
            <a:r>
              <a:rPr lang="en-US" sz="2000"/>
              <a:t>Expresses the asymptotic behavior of the algorithm</a:t>
            </a:r>
            <a:endParaRPr/>
          </a:p>
        </p:txBody>
      </p:sp>
      <p:pic>
        <p:nvPicPr>
          <p:cNvPr descr="BRAC University Jobs 2020- Jobs in BRAC University- careerz360.com" id="178" name="Google Shape;178;p7"/>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2" name="Shape 182"/>
        <p:cNvGrpSpPr/>
        <p:nvPr/>
      </p:nvGrpSpPr>
      <p:grpSpPr>
        <a:xfrm>
          <a:off x="0" y="0"/>
          <a:ext cx="0" cy="0"/>
          <a:chOff x="0" y="0"/>
          <a:chExt cx="0" cy="0"/>
        </a:xfrm>
      </p:grpSpPr>
      <p:sp>
        <p:nvSpPr>
          <p:cNvPr id="183" name="Google Shape;183;p8"/>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84" name="Google Shape;184;p8"/>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Typical Running Time Functions</a:t>
            </a:r>
            <a:endParaRPr/>
          </a:p>
        </p:txBody>
      </p:sp>
      <p:sp>
        <p:nvSpPr>
          <p:cNvPr id="185" name="Google Shape;185;p8"/>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lnSpc>
                <a:spcPct val="130000"/>
              </a:lnSpc>
              <a:spcBef>
                <a:spcPts val="0"/>
              </a:spcBef>
              <a:spcAft>
                <a:spcPts val="0"/>
              </a:spcAft>
              <a:buClr>
                <a:schemeClr val="accent2"/>
              </a:buClr>
              <a:buSzPts val="2400"/>
              <a:buFont typeface="Arial"/>
              <a:buChar char="•"/>
            </a:pPr>
            <a:r>
              <a:rPr lang="en-US" sz="2400">
                <a:latin typeface="Arial"/>
                <a:ea typeface="Arial"/>
                <a:cs typeface="Arial"/>
                <a:sym typeface="Arial"/>
              </a:rPr>
              <a:t>1 (constant running time): </a:t>
            </a:r>
            <a:endParaRPr/>
          </a:p>
          <a:p>
            <a:pPr indent="-285750" lvl="1" marL="742950" rtl="0" algn="l">
              <a:lnSpc>
                <a:spcPct val="130000"/>
              </a:lnSpc>
              <a:spcBef>
                <a:spcPts val="400"/>
              </a:spcBef>
              <a:spcAft>
                <a:spcPts val="0"/>
              </a:spcAft>
              <a:buClr>
                <a:schemeClr val="dk1"/>
              </a:buClr>
              <a:buSzPts val="2000"/>
              <a:buFont typeface="Arial"/>
              <a:buChar char="–"/>
            </a:pPr>
            <a:r>
              <a:rPr lang="en-US" sz="2000">
                <a:latin typeface="Arial"/>
                <a:ea typeface="Arial"/>
                <a:cs typeface="Arial"/>
                <a:sym typeface="Arial"/>
              </a:rPr>
              <a:t>Instructions are executed once or a few times</a:t>
            </a:r>
            <a:endParaRPr/>
          </a:p>
          <a:p>
            <a:pPr indent="-342900" lvl="0" marL="342900" rtl="0" algn="l">
              <a:lnSpc>
                <a:spcPct val="130000"/>
              </a:lnSpc>
              <a:spcBef>
                <a:spcPts val="480"/>
              </a:spcBef>
              <a:spcAft>
                <a:spcPts val="0"/>
              </a:spcAft>
              <a:buClr>
                <a:schemeClr val="accent2"/>
              </a:buClr>
              <a:buSzPts val="2400"/>
              <a:buFont typeface="Arial"/>
              <a:buChar char="•"/>
            </a:pPr>
            <a:r>
              <a:rPr lang="en-US" sz="2400">
                <a:latin typeface="Arial"/>
                <a:ea typeface="Arial"/>
                <a:cs typeface="Arial"/>
                <a:sym typeface="Arial"/>
              </a:rPr>
              <a:t>logN (logarithmic)</a:t>
            </a:r>
            <a:endParaRPr/>
          </a:p>
          <a:p>
            <a:pPr indent="-285750" lvl="1" marL="742950" rtl="0" algn="l">
              <a:lnSpc>
                <a:spcPct val="130000"/>
              </a:lnSpc>
              <a:spcBef>
                <a:spcPts val="400"/>
              </a:spcBef>
              <a:spcAft>
                <a:spcPts val="0"/>
              </a:spcAft>
              <a:buClr>
                <a:schemeClr val="dk1"/>
              </a:buClr>
              <a:buSzPts val="2000"/>
              <a:buFont typeface="Arial"/>
              <a:buChar char="–"/>
            </a:pPr>
            <a:r>
              <a:rPr lang="en-US" sz="2000">
                <a:latin typeface="Arial"/>
                <a:ea typeface="Arial"/>
                <a:cs typeface="Arial"/>
                <a:sym typeface="Arial"/>
              </a:rPr>
              <a:t>A big problem is solved by cutting the original problem in smaller sizes, by a constant fraction at each step</a:t>
            </a:r>
            <a:endParaRPr/>
          </a:p>
          <a:p>
            <a:pPr indent="-342900" lvl="0" marL="342900" rtl="0" algn="l">
              <a:lnSpc>
                <a:spcPct val="130000"/>
              </a:lnSpc>
              <a:spcBef>
                <a:spcPts val="480"/>
              </a:spcBef>
              <a:spcAft>
                <a:spcPts val="0"/>
              </a:spcAft>
              <a:buClr>
                <a:schemeClr val="accent2"/>
              </a:buClr>
              <a:buSzPts val="2400"/>
              <a:buFont typeface="Arial"/>
              <a:buChar char="•"/>
            </a:pPr>
            <a:r>
              <a:rPr lang="en-US" sz="2400">
                <a:latin typeface="Arial"/>
                <a:ea typeface="Arial"/>
                <a:cs typeface="Arial"/>
                <a:sym typeface="Arial"/>
              </a:rPr>
              <a:t>N (linear)</a:t>
            </a:r>
            <a:endParaRPr/>
          </a:p>
          <a:p>
            <a:pPr indent="-285750" lvl="1" marL="742950" rtl="0" algn="l">
              <a:lnSpc>
                <a:spcPct val="130000"/>
              </a:lnSpc>
              <a:spcBef>
                <a:spcPts val="400"/>
              </a:spcBef>
              <a:spcAft>
                <a:spcPts val="0"/>
              </a:spcAft>
              <a:buClr>
                <a:schemeClr val="dk1"/>
              </a:buClr>
              <a:buSzPts val="2000"/>
              <a:buFont typeface="Arial"/>
              <a:buChar char="–"/>
            </a:pPr>
            <a:r>
              <a:rPr lang="en-US" sz="2000">
                <a:latin typeface="Arial"/>
                <a:ea typeface="Arial"/>
                <a:cs typeface="Arial"/>
                <a:sym typeface="Arial"/>
              </a:rPr>
              <a:t>A small amount of processing is done on each input element</a:t>
            </a:r>
            <a:endParaRPr/>
          </a:p>
          <a:p>
            <a:pPr indent="-342900" lvl="0" marL="342900" rtl="0" algn="l">
              <a:lnSpc>
                <a:spcPct val="130000"/>
              </a:lnSpc>
              <a:spcBef>
                <a:spcPts val="480"/>
              </a:spcBef>
              <a:spcAft>
                <a:spcPts val="0"/>
              </a:spcAft>
              <a:buClr>
                <a:schemeClr val="accent2"/>
              </a:buClr>
              <a:buSzPts val="2400"/>
              <a:buFont typeface="Arial"/>
              <a:buChar char="•"/>
            </a:pPr>
            <a:r>
              <a:rPr lang="en-US" sz="2400">
                <a:latin typeface="Arial"/>
                <a:ea typeface="Arial"/>
                <a:cs typeface="Arial"/>
                <a:sym typeface="Arial"/>
              </a:rPr>
              <a:t>N logN</a:t>
            </a:r>
            <a:endParaRPr sz="2400">
              <a:latin typeface="Arial"/>
              <a:ea typeface="Arial"/>
              <a:cs typeface="Arial"/>
              <a:sym typeface="Arial"/>
            </a:endParaRPr>
          </a:p>
          <a:p>
            <a:pPr indent="-285750" lvl="1" marL="742950" rtl="0" algn="l">
              <a:lnSpc>
                <a:spcPct val="130000"/>
              </a:lnSpc>
              <a:spcBef>
                <a:spcPts val="400"/>
              </a:spcBef>
              <a:spcAft>
                <a:spcPts val="0"/>
              </a:spcAft>
              <a:buClr>
                <a:schemeClr val="dk1"/>
              </a:buClr>
              <a:buSzPts val="2000"/>
              <a:buFont typeface="Arial"/>
              <a:buChar char="–"/>
            </a:pPr>
            <a:r>
              <a:rPr lang="en-US" sz="2000">
                <a:latin typeface="Arial"/>
                <a:ea typeface="Arial"/>
                <a:cs typeface="Arial"/>
                <a:sym typeface="Arial"/>
              </a:rPr>
              <a:t>A problem is solved by dividing it into smaller problems, solving them independently and combining the solution</a:t>
            </a:r>
            <a:endParaRPr/>
          </a:p>
        </p:txBody>
      </p:sp>
      <p:pic>
        <p:nvPicPr>
          <p:cNvPr descr="BRAC University Jobs 2020- Jobs in BRAC University- careerz360.com" id="186" name="Google Shape;186;p8"/>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0" name="Shape 190"/>
        <p:cNvGrpSpPr/>
        <p:nvPr/>
      </p:nvGrpSpPr>
      <p:grpSpPr>
        <a:xfrm>
          <a:off x="0" y="0"/>
          <a:ext cx="0" cy="0"/>
          <a:chOff x="0" y="0"/>
          <a:chExt cx="0" cy="0"/>
        </a:xfrm>
      </p:grpSpPr>
      <p:sp>
        <p:nvSpPr>
          <p:cNvPr id="191" name="Google Shape;191;p9"/>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92" name="Google Shape;192;p9"/>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Typical Running Time Functions</a:t>
            </a:r>
            <a:endParaRPr/>
          </a:p>
        </p:txBody>
      </p:sp>
      <p:sp>
        <p:nvSpPr>
          <p:cNvPr id="193" name="Google Shape;193;p9"/>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accent2"/>
              </a:buClr>
              <a:buSzPts val="2400"/>
              <a:buFont typeface="Arial"/>
              <a:buChar char="•"/>
            </a:pPr>
            <a:r>
              <a:rPr lang="en-US" sz="2400">
                <a:latin typeface="Arial"/>
                <a:ea typeface="Arial"/>
                <a:cs typeface="Arial"/>
                <a:sym typeface="Arial"/>
              </a:rPr>
              <a:t>N</a:t>
            </a:r>
            <a:r>
              <a:rPr baseline="30000" lang="en-US" sz="2400">
                <a:latin typeface="Arial"/>
                <a:ea typeface="Arial"/>
                <a:cs typeface="Arial"/>
                <a:sym typeface="Arial"/>
              </a:rPr>
              <a:t>2</a:t>
            </a:r>
            <a:r>
              <a:rPr lang="en-US" sz="2400">
                <a:latin typeface="Arial"/>
                <a:ea typeface="Arial"/>
                <a:cs typeface="Arial"/>
                <a:sym typeface="Arial"/>
              </a:rPr>
              <a:t> (quadratic)</a:t>
            </a:r>
            <a:endParaRPr/>
          </a:p>
          <a:p>
            <a:pPr indent="-285750" lvl="1" marL="742950" rtl="0" algn="l">
              <a:lnSpc>
                <a:spcPct val="150000"/>
              </a:lnSpc>
              <a:spcBef>
                <a:spcPts val="400"/>
              </a:spcBef>
              <a:spcAft>
                <a:spcPts val="0"/>
              </a:spcAft>
              <a:buClr>
                <a:schemeClr val="dk1"/>
              </a:buClr>
              <a:buSzPts val="2000"/>
              <a:buFont typeface="Arial"/>
              <a:buChar char="–"/>
            </a:pPr>
            <a:r>
              <a:rPr lang="en-US" sz="2000"/>
              <a:t>Typical for algorithms that process all pairs of data items (double nested loops)</a:t>
            </a:r>
            <a:endParaRPr/>
          </a:p>
          <a:p>
            <a:pPr indent="-342900" lvl="0" marL="342900" rtl="0" algn="l">
              <a:lnSpc>
                <a:spcPct val="150000"/>
              </a:lnSpc>
              <a:spcBef>
                <a:spcPts val="480"/>
              </a:spcBef>
              <a:spcAft>
                <a:spcPts val="0"/>
              </a:spcAft>
              <a:buClr>
                <a:schemeClr val="accent2"/>
              </a:buClr>
              <a:buSzPts val="2400"/>
              <a:buFont typeface="Arial"/>
              <a:buChar char="•"/>
            </a:pPr>
            <a:r>
              <a:rPr lang="en-US" sz="2400">
                <a:latin typeface="Arial"/>
                <a:ea typeface="Arial"/>
                <a:cs typeface="Arial"/>
                <a:sym typeface="Arial"/>
              </a:rPr>
              <a:t>N</a:t>
            </a:r>
            <a:r>
              <a:rPr baseline="30000" lang="en-US" sz="2400">
                <a:latin typeface="Arial"/>
                <a:ea typeface="Arial"/>
                <a:cs typeface="Arial"/>
                <a:sym typeface="Arial"/>
              </a:rPr>
              <a:t>3</a:t>
            </a:r>
            <a:r>
              <a:rPr lang="en-US" sz="2400">
                <a:latin typeface="Arial"/>
                <a:ea typeface="Arial"/>
                <a:cs typeface="Arial"/>
                <a:sym typeface="Arial"/>
              </a:rPr>
              <a:t> (cubic)</a:t>
            </a:r>
            <a:endParaRPr/>
          </a:p>
          <a:p>
            <a:pPr indent="-285750" lvl="1" marL="742950" rtl="0" algn="l">
              <a:lnSpc>
                <a:spcPct val="150000"/>
              </a:lnSpc>
              <a:spcBef>
                <a:spcPts val="400"/>
              </a:spcBef>
              <a:spcAft>
                <a:spcPts val="0"/>
              </a:spcAft>
              <a:buClr>
                <a:schemeClr val="dk1"/>
              </a:buClr>
              <a:buSzPts val="2000"/>
              <a:buFont typeface="Arial"/>
              <a:buChar char="–"/>
            </a:pPr>
            <a:r>
              <a:rPr lang="en-US" sz="2000"/>
              <a:t>Processing of triples of data (triple nested loops)</a:t>
            </a:r>
            <a:endParaRPr/>
          </a:p>
          <a:p>
            <a:pPr indent="-342900" lvl="0" marL="342900" rtl="0" algn="l">
              <a:lnSpc>
                <a:spcPct val="150000"/>
              </a:lnSpc>
              <a:spcBef>
                <a:spcPts val="480"/>
              </a:spcBef>
              <a:spcAft>
                <a:spcPts val="0"/>
              </a:spcAft>
              <a:buClr>
                <a:schemeClr val="accent2"/>
              </a:buClr>
              <a:buSzPts val="2400"/>
              <a:buFont typeface="Arial"/>
              <a:buChar char="•"/>
            </a:pPr>
            <a:r>
              <a:rPr lang="en-US" sz="2400">
                <a:latin typeface="Arial"/>
                <a:ea typeface="Arial"/>
                <a:cs typeface="Arial"/>
                <a:sym typeface="Arial"/>
              </a:rPr>
              <a:t>N</a:t>
            </a:r>
            <a:r>
              <a:rPr baseline="30000" lang="en-US" sz="2400">
                <a:latin typeface="Arial"/>
                <a:ea typeface="Arial"/>
                <a:cs typeface="Arial"/>
                <a:sym typeface="Arial"/>
              </a:rPr>
              <a:t>K</a:t>
            </a:r>
            <a:r>
              <a:rPr lang="en-US" sz="2400">
                <a:latin typeface="Arial"/>
                <a:ea typeface="Arial"/>
                <a:cs typeface="Arial"/>
                <a:sym typeface="Arial"/>
              </a:rPr>
              <a:t> (polynomial)</a:t>
            </a:r>
            <a:endParaRPr/>
          </a:p>
          <a:p>
            <a:pPr indent="-342900" lvl="0" marL="342900" rtl="0" algn="l">
              <a:lnSpc>
                <a:spcPct val="150000"/>
              </a:lnSpc>
              <a:spcBef>
                <a:spcPts val="480"/>
              </a:spcBef>
              <a:spcAft>
                <a:spcPts val="0"/>
              </a:spcAft>
              <a:buClr>
                <a:schemeClr val="accent2"/>
              </a:buClr>
              <a:buSzPts val="2400"/>
              <a:buFont typeface="Arial"/>
              <a:buChar char="•"/>
            </a:pPr>
            <a:r>
              <a:rPr lang="en-US" sz="2400">
                <a:latin typeface="Arial"/>
                <a:ea typeface="Arial"/>
                <a:cs typeface="Arial"/>
                <a:sym typeface="Arial"/>
              </a:rPr>
              <a:t>2</a:t>
            </a:r>
            <a:r>
              <a:rPr baseline="30000" lang="en-US" sz="2400">
                <a:latin typeface="Arial"/>
                <a:ea typeface="Arial"/>
                <a:cs typeface="Arial"/>
                <a:sym typeface="Arial"/>
              </a:rPr>
              <a:t>N</a:t>
            </a:r>
            <a:r>
              <a:rPr lang="en-US" sz="2400">
                <a:latin typeface="Arial"/>
                <a:ea typeface="Arial"/>
                <a:cs typeface="Arial"/>
                <a:sym typeface="Arial"/>
              </a:rPr>
              <a:t> (exponential)</a:t>
            </a:r>
            <a:endParaRPr/>
          </a:p>
          <a:p>
            <a:pPr indent="-285750" lvl="1" marL="742950" rtl="0" algn="l">
              <a:lnSpc>
                <a:spcPct val="150000"/>
              </a:lnSpc>
              <a:spcBef>
                <a:spcPts val="400"/>
              </a:spcBef>
              <a:spcAft>
                <a:spcPts val="0"/>
              </a:spcAft>
              <a:buClr>
                <a:schemeClr val="dk1"/>
              </a:buClr>
              <a:buSzPts val="2000"/>
              <a:buFont typeface="Arial"/>
              <a:buChar char="–"/>
            </a:pPr>
            <a:r>
              <a:rPr lang="en-US" sz="2000"/>
              <a:t>Few exponential algorithms are appropriate for practical use</a:t>
            </a:r>
            <a:endParaRPr/>
          </a:p>
        </p:txBody>
      </p:sp>
      <p:pic>
        <p:nvPicPr>
          <p:cNvPr descr="BRAC University Jobs 2020- Jobs in BRAC University- careerz360.com" id="194" name="Google Shape;194;p9"/>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8" name="Shape 198"/>
        <p:cNvGrpSpPr/>
        <p:nvPr/>
      </p:nvGrpSpPr>
      <p:grpSpPr>
        <a:xfrm>
          <a:off x="0" y="0"/>
          <a:ext cx="0" cy="0"/>
          <a:chOff x="0" y="0"/>
          <a:chExt cx="0" cy="0"/>
        </a:xfrm>
      </p:grpSpPr>
      <p:sp>
        <p:nvSpPr>
          <p:cNvPr id="199" name="Google Shape;199;p10"/>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00" name="Google Shape;200;p10"/>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Growth of Functions</a:t>
            </a:r>
            <a:endParaRPr/>
          </a:p>
        </p:txBody>
      </p:sp>
      <p:pic>
        <p:nvPicPr>
          <p:cNvPr descr="relative growth rate table" id="201" name="Google Shape;201;p10"/>
          <p:cNvPicPr preferRelativeResize="0"/>
          <p:nvPr/>
        </p:nvPicPr>
        <p:blipFill rotWithShape="1">
          <a:blip r:embed="rId3">
            <a:alphaModFix/>
          </a:blip>
          <a:srcRect b="0" l="0" r="0" t="0"/>
          <a:stretch/>
        </p:blipFill>
        <p:spPr>
          <a:xfrm>
            <a:off x="1905000" y="1727200"/>
            <a:ext cx="8382000" cy="3073400"/>
          </a:xfrm>
          <a:prstGeom prst="rect">
            <a:avLst/>
          </a:prstGeom>
          <a:noFill/>
          <a:ln>
            <a:noFill/>
          </a:ln>
        </p:spPr>
      </p:pic>
      <p:pic>
        <p:nvPicPr>
          <p:cNvPr descr="BRAC University Jobs 2020- Jobs in BRAC University- careerz360.com" id="202" name="Google Shape;202;p10"/>
          <p:cNvPicPr preferRelativeResize="0"/>
          <p:nvPr/>
        </p:nvPicPr>
        <p:blipFill rotWithShape="1">
          <a:blip r:embed="rId4">
            <a:alphaModFix/>
          </a:blip>
          <a:srcRect b="0" l="0" r="0" t="0"/>
          <a:stretch/>
        </p:blipFill>
        <p:spPr>
          <a:xfrm>
            <a:off x="10964009" y="0"/>
            <a:ext cx="1227668" cy="118983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7" name="Shape 207"/>
        <p:cNvGrpSpPr/>
        <p:nvPr/>
      </p:nvGrpSpPr>
      <p:grpSpPr>
        <a:xfrm>
          <a:off x="0" y="0"/>
          <a:ext cx="0" cy="0"/>
          <a:chOff x="0" y="0"/>
          <a:chExt cx="0" cy="0"/>
        </a:xfrm>
      </p:grpSpPr>
      <p:sp>
        <p:nvSpPr>
          <p:cNvPr id="208" name="Google Shape;208;p11"/>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Complexity Graphs</a:t>
            </a:r>
            <a:endParaRPr/>
          </a:p>
        </p:txBody>
      </p:sp>
      <p:pic>
        <p:nvPicPr>
          <p:cNvPr descr="E:\CSE830\MATLAB\Lec3\COMPLEX1.GIF" id="209" name="Google Shape;209;p11"/>
          <p:cNvPicPr preferRelativeResize="0"/>
          <p:nvPr/>
        </p:nvPicPr>
        <p:blipFill rotWithShape="1">
          <a:blip r:embed="rId3">
            <a:alphaModFix/>
          </a:blip>
          <a:srcRect b="0" l="0" r="0" t="0"/>
          <a:stretch/>
        </p:blipFill>
        <p:spPr>
          <a:xfrm>
            <a:off x="2133600" y="1524000"/>
            <a:ext cx="7715250" cy="5143500"/>
          </a:xfrm>
          <a:prstGeom prst="rect">
            <a:avLst/>
          </a:prstGeom>
          <a:noFill/>
          <a:ln>
            <a:noFill/>
          </a:ln>
        </p:spPr>
      </p:pic>
      <p:sp>
        <p:nvSpPr>
          <p:cNvPr id="210" name="Google Shape;210;p11"/>
          <p:cNvSpPr txBox="1"/>
          <p:nvPr/>
        </p:nvSpPr>
        <p:spPr>
          <a:xfrm>
            <a:off x="7848601" y="4267200"/>
            <a:ext cx="110639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chemeClr val="dk1"/>
                </a:solidFill>
                <a:latin typeface="Arial"/>
                <a:ea typeface="Arial"/>
                <a:cs typeface="Arial"/>
                <a:sym typeface="Arial"/>
              </a:rPr>
              <a:t>log(n)</a:t>
            </a:r>
            <a:endParaRPr sz="1800">
              <a:solidFill>
                <a:schemeClr val="dk1"/>
              </a:solidFill>
              <a:latin typeface="Arial"/>
              <a:ea typeface="Arial"/>
              <a:cs typeface="Arial"/>
              <a:sym typeface="Arial"/>
            </a:endParaRPr>
          </a:p>
        </p:txBody>
      </p:sp>
      <p:sp>
        <p:nvSpPr>
          <p:cNvPr id="211" name="Google Shape;211;p11"/>
          <p:cNvSpPr txBox="1"/>
          <p:nvPr/>
        </p:nvSpPr>
        <p:spPr>
          <a:xfrm>
            <a:off x="7543800" y="2438401"/>
            <a:ext cx="577850" cy="550863"/>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pic>
        <p:nvPicPr>
          <p:cNvPr descr="BRAC University Jobs 2020- Jobs in BRAC University- careerz360.com" id="212" name="Google Shape;212;p11"/>
          <p:cNvPicPr preferRelativeResize="0"/>
          <p:nvPr/>
        </p:nvPicPr>
        <p:blipFill rotWithShape="1">
          <a:blip r:embed="rId5">
            <a:alphaModFix/>
          </a:blip>
          <a:srcRect b="0" l="0" r="0" t="0"/>
          <a:stretch/>
        </p:blipFill>
        <p:spPr>
          <a:xfrm>
            <a:off x="10964009" y="0"/>
            <a:ext cx="1227668" cy="1189832"/>
          </a:xfrm>
          <a:prstGeom prst="rect">
            <a:avLst/>
          </a:prstGeom>
          <a:noFill/>
          <a:ln>
            <a:noFill/>
          </a:ln>
        </p:spPr>
      </p:pic>
      <p:sp>
        <p:nvSpPr>
          <p:cNvPr id="213" name="Google Shape;213;p11"/>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8" name="Shape 218"/>
        <p:cNvGrpSpPr/>
        <p:nvPr/>
      </p:nvGrpSpPr>
      <p:grpSpPr>
        <a:xfrm>
          <a:off x="0" y="0"/>
          <a:ext cx="0" cy="0"/>
          <a:chOff x="0" y="0"/>
          <a:chExt cx="0" cy="0"/>
        </a:xfrm>
      </p:grpSpPr>
      <p:sp>
        <p:nvSpPr>
          <p:cNvPr id="219" name="Google Shape;219;p12"/>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Complexity Graphs</a:t>
            </a:r>
            <a:endParaRPr/>
          </a:p>
        </p:txBody>
      </p:sp>
      <p:pic>
        <p:nvPicPr>
          <p:cNvPr descr="E:\CSE830\MATLAB\Lec3\COMPLEX2.GIF" id="220" name="Google Shape;220;p12"/>
          <p:cNvPicPr preferRelativeResize="0"/>
          <p:nvPr/>
        </p:nvPicPr>
        <p:blipFill rotWithShape="1">
          <a:blip r:embed="rId3">
            <a:alphaModFix/>
          </a:blip>
          <a:srcRect b="0" l="0" r="0" t="0"/>
          <a:stretch/>
        </p:blipFill>
        <p:spPr>
          <a:xfrm>
            <a:off x="2438400" y="1676400"/>
            <a:ext cx="7543800" cy="5029200"/>
          </a:xfrm>
          <a:prstGeom prst="rect">
            <a:avLst/>
          </a:prstGeom>
          <a:noFill/>
          <a:ln>
            <a:noFill/>
          </a:ln>
        </p:spPr>
      </p:pic>
      <p:sp>
        <p:nvSpPr>
          <p:cNvPr id="221" name="Google Shape;221;p12"/>
          <p:cNvSpPr txBox="1"/>
          <p:nvPr/>
        </p:nvSpPr>
        <p:spPr>
          <a:xfrm>
            <a:off x="9220201" y="5611813"/>
            <a:ext cx="84029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log(n)</a:t>
            </a:r>
            <a:endParaRPr sz="1800">
              <a:solidFill>
                <a:schemeClr val="dk1"/>
              </a:solidFill>
              <a:latin typeface="Arial"/>
              <a:ea typeface="Arial"/>
              <a:cs typeface="Arial"/>
              <a:sym typeface="Arial"/>
            </a:endParaRPr>
          </a:p>
        </p:txBody>
      </p:sp>
      <p:sp>
        <p:nvSpPr>
          <p:cNvPr id="222" name="Google Shape;222;p12"/>
          <p:cNvSpPr txBox="1"/>
          <p:nvPr/>
        </p:nvSpPr>
        <p:spPr>
          <a:xfrm>
            <a:off x="9220200" y="5105400"/>
            <a:ext cx="381000" cy="361950"/>
          </a:xfrm>
          <a:prstGeom prst="rect">
            <a:avLst/>
          </a:prstGeom>
          <a:blipFill rotWithShape="1">
            <a:blip r:embed="rId4">
              <a:alphaModFix/>
            </a:blip>
            <a:stretch>
              <a:fillRect b="0" l="0" r="-64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sp>
        <p:nvSpPr>
          <p:cNvPr id="223" name="Google Shape;223;p12"/>
          <p:cNvSpPr txBox="1"/>
          <p:nvPr/>
        </p:nvSpPr>
        <p:spPr>
          <a:xfrm>
            <a:off x="8763000" y="3733800"/>
            <a:ext cx="38504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n</a:t>
            </a:r>
            <a:endParaRPr sz="1800">
              <a:solidFill>
                <a:schemeClr val="dk1"/>
              </a:solidFill>
              <a:latin typeface="Arial"/>
              <a:ea typeface="Arial"/>
              <a:cs typeface="Arial"/>
              <a:sym typeface="Arial"/>
            </a:endParaRPr>
          </a:p>
        </p:txBody>
      </p:sp>
      <p:sp>
        <p:nvSpPr>
          <p:cNvPr id="224" name="Google Shape;224;p12"/>
          <p:cNvSpPr txBox="1"/>
          <p:nvPr/>
        </p:nvSpPr>
        <p:spPr>
          <a:xfrm>
            <a:off x="7315200" y="2514600"/>
            <a:ext cx="14061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n log(n)</a:t>
            </a:r>
            <a:endParaRPr sz="1800">
              <a:solidFill>
                <a:schemeClr val="dk1"/>
              </a:solidFill>
              <a:latin typeface="Arial"/>
              <a:ea typeface="Arial"/>
              <a:cs typeface="Arial"/>
              <a:sym typeface="Arial"/>
            </a:endParaRPr>
          </a:p>
        </p:txBody>
      </p:sp>
      <p:pic>
        <p:nvPicPr>
          <p:cNvPr descr="BRAC University Jobs 2020- Jobs in BRAC University- careerz360.com" id="225" name="Google Shape;225;p12"/>
          <p:cNvPicPr preferRelativeResize="0"/>
          <p:nvPr/>
        </p:nvPicPr>
        <p:blipFill rotWithShape="1">
          <a:blip r:embed="rId5">
            <a:alphaModFix/>
          </a:blip>
          <a:srcRect b="0" l="0" r="0" t="0"/>
          <a:stretch/>
        </p:blipFill>
        <p:spPr>
          <a:xfrm>
            <a:off x="10964009" y="0"/>
            <a:ext cx="1227668" cy="1189832"/>
          </a:xfrm>
          <a:prstGeom prst="rect">
            <a:avLst/>
          </a:prstGeom>
          <a:noFill/>
          <a:ln>
            <a:noFill/>
          </a:ln>
        </p:spPr>
      </p:pic>
      <p:sp>
        <p:nvSpPr>
          <p:cNvPr id="226" name="Google Shape;226;p12"/>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1" name="Shape 231"/>
        <p:cNvGrpSpPr/>
        <p:nvPr/>
      </p:nvGrpSpPr>
      <p:grpSpPr>
        <a:xfrm>
          <a:off x="0" y="0"/>
          <a:ext cx="0" cy="0"/>
          <a:chOff x="0" y="0"/>
          <a:chExt cx="0" cy="0"/>
        </a:xfrm>
      </p:grpSpPr>
      <p:pic>
        <p:nvPicPr>
          <p:cNvPr descr="E:\CSE830\MATLAB\Lec3\COMPLEX3.GIF" id="232" name="Google Shape;232;p13"/>
          <p:cNvPicPr preferRelativeResize="0"/>
          <p:nvPr/>
        </p:nvPicPr>
        <p:blipFill rotWithShape="1">
          <a:blip r:embed="rId3">
            <a:alphaModFix/>
          </a:blip>
          <a:srcRect b="0" l="0" r="0" t="0"/>
          <a:stretch/>
        </p:blipFill>
        <p:spPr>
          <a:xfrm>
            <a:off x="2209800" y="1524000"/>
            <a:ext cx="7734300" cy="5156200"/>
          </a:xfrm>
          <a:prstGeom prst="rect">
            <a:avLst/>
          </a:prstGeom>
          <a:noFill/>
          <a:ln>
            <a:noFill/>
          </a:ln>
        </p:spPr>
      </p:pic>
      <p:sp>
        <p:nvSpPr>
          <p:cNvPr id="233" name="Google Shape;233;p13"/>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Complexity Graphs</a:t>
            </a:r>
            <a:endParaRPr/>
          </a:p>
        </p:txBody>
      </p:sp>
      <p:sp>
        <p:nvSpPr>
          <p:cNvPr id="234" name="Google Shape;234;p13"/>
          <p:cNvSpPr txBox="1"/>
          <p:nvPr/>
        </p:nvSpPr>
        <p:spPr>
          <a:xfrm>
            <a:off x="3810000" y="1981200"/>
            <a:ext cx="65114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n</a:t>
            </a:r>
            <a:r>
              <a:rPr baseline="30000" lang="en-US" sz="2800">
                <a:solidFill>
                  <a:schemeClr val="dk1"/>
                </a:solidFill>
                <a:latin typeface="Arial"/>
                <a:ea typeface="Arial"/>
                <a:cs typeface="Arial"/>
                <a:sym typeface="Arial"/>
              </a:rPr>
              <a:t>10</a:t>
            </a:r>
            <a:endParaRPr sz="1800">
              <a:solidFill>
                <a:schemeClr val="dk1"/>
              </a:solidFill>
              <a:latin typeface="Arial"/>
              <a:ea typeface="Arial"/>
              <a:cs typeface="Arial"/>
              <a:sym typeface="Arial"/>
            </a:endParaRPr>
          </a:p>
        </p:txBody>
      </p:sp>
      <p:sp>
        <p:nvSpPr>
          <p:cNvPr id="235" name="Google Shape;235;p13"/>
          <p:cNvSpPr txBox="1"/>
          <p:nvPr/>
        </p:nvSpPr>
        <p:spPr>
          <a:xfrm>
            <a:off x="9296400" y="5791200"/>
            <a:ext cx="105349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n log(n)</a:t>
            </a:r>
            <a:endParaRPr sz="1800">
              <a:solidFill>
                <a:schemeClr val="dk1"/>
              </a:solidFill>
              <a:latin typeface="Arial"/>
              <a:ea typeface="Arial"/>
              <a:cs typeface="Arial"/>
              <a:sym typeface="Arial"/>
            </a:endParaRPr>
          </a:p>
        </p:txBody>
      </p:sp>
      <p:sp>
        <p:nvSpPr>
          <p:cNvPr id="236" name="Google Shape;236;p13"/>
          <p:cNvSpPr txBox="1"/>
          <p:nvPr/>
        </p:nvSpPr>
        <p:spPr>
          <a:xfrm>
            <a:off x="8382001" y="2057400"/>
            <a:ext cx="51809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n</a:t>
            </a:r>
            <a:r>
              <a:rPr baseline="30000" lang="en-US" sz="2800">
                <a:solidFill>
                  <a:schemeClr val="dk1"/>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237" name="Google Shape;237;p13"/>
          <p:cNvSpPr txBox="1"/>
          <p:nvPr/>
        </p:nvSpPr>
        <p:spPr>
          <a:xfrm>
            <a:off x="8686801" y="5181600"/>
            <a:ext cx="51809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n</a:t>
            </a:r>
            <a:r>
              <a:rPr baseline="30000" lang="en-US" sz="2800">
                <a:solidFill>
                  <a:schemeClr val="dk1"/>
                </a:solidFill>
                <a:latin typeface="Arial"/>
                <a:ea typeface="Arial"/>
                <a:cs typeface="Arial"/>
                <a:sym typeface="Arial"/>
              </a:rPr>
              <a:t>2</a:t>
            </a:r>
            <a:endParaRPr sz="1800">
              <a:solidFill>
                <a:schemeClr val="dk1"/>
              </a:solidFill>
              <a:latin typeface="Arial"/>
              <a:ea typeface="Arial"/>
              <a:cs typeface="Arial"/>
              <a:sym typeface="Arial"/>
            </a:endParaRPr>
          </a:p>
        </p:txBody>
      </p:sp>
      <p:pic>
        <p:nvPicPr>
          <p:cNvPr descr="BRAC University Jobs 2020- Jobs in BRAC University- careerz360.com" id="238" name="Google Shape;238;p13"/>
          <p:cNvPicPr preferRelativeResize="0"/>
          <p:nvPr/>
        </p:nvPicPr>
        <p:blipFill rotWithShape="1">
          <a:blip r:embed="rId4">
            <a:alphaModFix/>
          </a:blip>
          <a:srcRect b="0" l="0" r="0" t="0"/>
          <a:stretch/>
        </p:blipFill>
        <p:spPr>
          <a:xfrm>
            <a:off x="10964009" y="0"/>
            <a:ext cx="1227668" cy="1189832"/>
          </a:xfrm>
          <a:prstGeom prst="rect">
            <a:avLst/>
          </a:prstGeom>
          <a:noFill/>
          <a:ln>
            <a:noFill/>
          </a:ln>
        </p:spPr>
      </p:pic>
      <p:sp>
        <p:nvSpPr>
          <p:cNvPr id="239" name="Google Shape;239;p13"/>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4" name="Shape 244"/>
        <p:cNvGrpSpPr/>
        <p:nvPr/>
      </p:nvGrpSpPr>
      <p:grpSpPr>
        <a:xfrm>
          <a:off x="0" y="0"/>
          <a:ext cx="0" cy="0"/>
          <a:chOff x="0" y="0"/>
          <a:chExt cx="0" cy="0"/>
        </a:xfrm>
      </p:grpSpPr>
      <p:pic>
        <p:nvPicPr>
          <p:cNvPr descr="E:\CSE830\MATLAB\Lec3\COMPLEX4.GIF" id="245" name="Google Shape;245;p14"/>
          <p:cNvPicPr preferRelativeResize="0"/>
          <p:nvPr/>
        </p:nvPicPr>
        <p:blipFill rotWithShape="1">
          <a:blip r:embed="rId3">
            <a:alphaModFix/>
          </a:blip>
          <a:srcRect b="0" l="0" r="0" t="0"/>
          <a:stretch/>
        </p:blipFill>
        <p:spPr>
          <a:xfrm>
            <a:off x="2057400" y="1524000"/>
            <a:ext cx="7791450" cy="5194300"/>
          </a:xfrm>
          <a:prstGeom prst="rect">
            <a:avLst/>
          </a:prstGeom>
          <a:noFill/>
          <a:ln>
            <a:noFill/>
          </a:ln>
        </p:spPr>
      </p:pic>
      <p:sp>
        <p:nvSpPr>
          <p:cNvPr id="246" name="Google Shape;246;p14"/>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Complexity Graphs </a:t>
            </a:r>
            <a:r>
              <a:rPr lang="en-US" sz="3600"/>
              <a:t>(log scale)</a:t>
            </a:r>
            <a:endParaRPr/>
          </a:p>
        </p:txBody>
      </p:sp>
      <p:sp>
        <p:nvSpPr>
          <p:cNvPr id="247" name="Google Shape;247;p14"/>
          <p:cNvSpPr txBox="1"/>
          <p:nvPr/>
        </p:nvSpPr>
        <p:spPr>
          <a:xfrm>
            <a:off x="9067800" y="4191000"/>
            <a:ext cx="65114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n</a:t>
            </a:r>
            <a:r>
              <a:rPr baseline="30000" lang="en-US" sz="2800">
                <a:solidFill>
                  <a:schemeClr val="dk1"/>
                </a:solidFill>
                <a:latin typeface="Arial"/>
                <a:ea typeface="Arial"/>
                <a:cs typeface="Arial"/>
                <a:sym typeface="Arial"/>
              </a:rPr>
              <a:t>10</a:t>
            </a:r>
            <a:endParaRPr sz="1800">
              <a:solidFill>
                <a:schemeClr val="dk1"/>
              </a:solidFill>
              <a:latin typeface="Arial"/>
              <a:ea typeface="Arial"/>
              <a:cs typeface="Arial"/>
              <a:sym typeface="Arial"/>
            </a:endParaRPr>
          </a:p>
        </p:txBody>
      </p:sp>
      <p:sp>
        <p:nvSpPr>
          <p:cNvPr id="248" name="Google Shape;248;p14"/>
          <p:cNvSpPr txBox="1"/>
          <p:nvPr/>
        </p:nvSpPr>
        <p:spPr>
          <a:xfrm>
            <a:off x="9067800" y="2438400"/>
            <a:ext cx="65114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n</a:t>
            </a:r>
            <a:r>
              <a:rPr baseline="30000" lang="en-US" sz="2800">
                <a:solidFill>
                  <a:schemeClr val="dk1"/>
                </a:solidFill>
                <a:latin typeface="Arial"/>
                <a:ea typeface="Arial"/>
                <a:cs typeface="Arial"/>
                <a:sym typeface="Arial"/>
              </a:rPr>
              <a:t>20</a:t>
            </a:r>
            <a:endParaRPr sz="1800">
              <a:solidFill>
                <a:schemeClr val="dk1"/>
              </a:solidFill>
              <a:latin typeface="Arial"/>
              <a:ea typeface="Arial"/>
              <a:cs typeface="Arial"/>
              <a:sym typeface="Arial"/>
            </a:endParaRPr>
          </a:p>
        </p:txBody>
      </p:sp>
      <p:sp>
        <p:nvSpPr>
          <p:cNvPr id="249" name="Google Shape;249;p14"/>
          <p:cNvSpPr txBox="1"/>
          <p:nvPr/>
        </p:nvSpPr>
        <p:spPr>
          <a:xfrm>
            <a:off x="4953001" y="2057400"/>
            <a:ext cx="51809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n</a:t>
            </a:r>
            <a:r>
              <a:rPr baseline="30000" lang="en-US" sz="2800">
                <a:solidFill>
                  <a:schemeClr val="dk1"/>
                </a:solidFill>
                <a:latin typeface="Arial"/>
                <a:ea typeface="Arial"/>
                <a:cs typeface="Arial"/>
                <a:sym typeface="Arial"/>
              </a:rPr>
              <a:t>n</a:t>
            </a:r>
            <a:endParaRPr sz="1800">
              <a:solidFill>
                <a:schemeClr val="dk1"/>
              </a:solidFill>
              <a:latin typeface="Arial"/>
              <a:ea typeface="Arial"/>
              <a:cs typeface="Arial"/>
              <a:sym typeface="Arial"/>
            </a:endParaRPr>
          </a:p>
        </p:txBody>
      </p:sp>
      <p:sp>
        <p:nvSpPr>
          <p:cNvPr id="250" name="Google Shape;250;p14"/>
          <p:cNvSpPr txBox="1"/>
          <p:nvPr/>
        </p:nvSpPr>
        <p:spPr>
          <a:xfrm>
            <a:off x="9220201" y="5486400"/>
            <a:ext cx="81785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1.1</a:t>
            </a:r>
            <a:r>
              <a:rPr baseline="30000" lang="en-US" sz="2800">
                <a:solidFill>
                  <a:schemeClr val="dk1"/>
                </a:solidFill>
                <a:latin typeface="Arial"/>
                <a:ea typeface="Arial"/>
                <a:cs typeface="Arial"/>
                <a:sym typeface="Arial"/>
              </a:rPr>
              <a:t>n</a:t>
            </a:r>
            <a:endParaRPr sz="1800">
              <a:solidFill>
                <a:schemeClr val="dk1"/>
              </a:solidFill>
              <a:latin typeface="Arial"/>
              <a:ea typeface="Arial"/>
              <a:cs typeface="Arial"/>
              <a:sym typeface="Arial"/>
            </a:endParaRPr>
          </a:p>
        </p:txBody>
      </p:sp>
      <p:sp>
        <p:nvSpPr>
          <p:cNvPr id="251" name="Google Shape;251;p14"/>
          <p:cNvSpPr txBox="1"/>
          <p:nvPr/>
        </p:nvSpPr>
        <p:spPr>
          <a:xfrm>
            <a:off x="9296401" y="3276600"/>
            <a:ext cx="51809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2</a:t>
            </a:r>
            <a:r>
              <a:rPr baseline="30000" lang="en-US" sz="2800">
                <a:solidFill>
                  <a:schemeClr val="dk1"/>
                </a:solidFill>
                <a:latin typeface="Arial"/>
                <a:ea typeface="Arial"/>
                <a:cs typeface="Arial"/>
                <a:sym typeface="Arial"/>
              </a:rPr>
              <a:t>n</a:t>
            </a:r>
            <a:endParaRPr sz="1800">
              <a:solidFill>
                <a:schemeClr val="dk1"/>
              </a:solidFill>
              <a:latin typeface="Arial"/>
              <a:ea typeface="Arial"/>
              <a:cs typeface="Arial"/>
              <a:sym typeface="Arial"/>
            </a:endParaRPr>
          </a:p>
        </p:txBody>
      </p:sp>
      <p:sp>
        <p:nvSpPr>
          <p:cNvPr id="252" name="Google Shape;252;p14"/>
          <p:cNvSpPr txBox="1"/>
          <p:nvPr/>
        </p:nvSpPr>
        <p:spPr>
          <a:xfrm>
            <a:off x="9296401" y="1752600"/>
            <a:ext cx="51809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3</a:t>
            </a:r>
            <a:r>
              <a:rPr baseline="30000" lang="en-US" sz="2800">
                <a:solidFill>
                  <a:schemeClr val="dk1"/>
                </a:solidFill>
                <a:latin typeface="Arial"/>
                <a:ea typeface="Arial"/>
                <a:cs typeface="Arial"/>
                <a:sym typeface="Arial"/>
              </a:rPr>
              <a:t>n</a:t>
            </a:r>
            <a:endParaRPr sz="1800">
              <a:solidFill>
                <a:schemeClr val="dk1"/>
              </a:solidFill>
              <a:latin typeface="Arial"/>
              <a:ea typeface="Arial"/>
              <a:cs typeface="Arial"/>
              <a:sym typeface="Arial"/>
            </a:endParaRPr>
          </a:p>
        </p:txBody>
      </p:sp>
      <p:pic>
        <p:nvPicPr>
          <p:cNvPr descr="BRAC University Jobs 2020- Jobs in BRAC University- careerz360.com" id="253" name="Google Shape;253;p14"/>
          <p:cNvPicPr preferRelativeResize="0"/>
          <p:nvPr/>
        </p:nvPicPr>
        <p:blipFill rotWithShape="1">
          <a:blip r:embed="rId4">
            <a:alphaModFix/>
          </a:blip>
          <a:srcRect b="0" l="0" r="0" t="0"/>
          <a:stretch/>
        </p:blipFill>
        <p:spPr>
          <a:xfrm>
            <a:off x="10964009" y="0"/>
            <a:ext cx="1227668" cy="1189832"/>
          </a:xfrm>
          <a:prstGeom prst="rect">
            <a:avLst/>
          </a:prstGeom>
          <a:noFill/>
          <a:ln>
            <a:noFill/>
          </a:ln>
        </p:spPr>
      </p:pic>
      <p:sp>
        <p:nvSpPr>
          <p:cNvPr id="254" name="Google Shape;254;p14"/>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9" name="Shape 259"/>
        <p:cNvGrpSpPr/>
        <p:nvPr/>
      </p:nvGrpSpPr>
      <p:grpSpPr>
        <a:xfrm>
          <a:off x="0" y="0"/>
          <a:ext cx="0" cy="0"/>
          <a:chOff x="0" y="0"/>
          <a:chExt cx="0" cy="0"/>
        </a:xfrm>
      </p:grpSpPr>
      <p:sp>
        <p:nvSpPr>
          <p:cNvPr id="260" name="Google Shape;260;p15"/>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Algorithm Complexity</a:t>
            </a:r>
            <a:endParaRPr/>
          </a:p>
        </p:txBody>
      </p:sp>
      <p:sp>
        <p:nvSpPr>
          <p:cNvPr id="261" name="Google Shape;261;p15"/>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FF0000"/>
              </a:buClr>
              <a:buSzPts val="2800"/>
              <a:buFont typeface="Arial"/>
              <a:buChar char="•"/>
            </a:pPr>
            <a:r>
              <a:rPr lang="en-US">
                <a:solidFill>
                  <a:srgbClr val="FF0000"/>
                </a:solidFill>
              </a:rPr>
              <a:t>Worst Case Complexity:</a:t>
            </a:r>
            <a:endParaRPr/>
          </a:p>
          <a:p>
            <a:pPr indent="-285750" lvl="1" marL="742950" rtl="0" algn="l">
              <a:spcBef>
                <a:spcPts val="480"/>
              </a:spcBef>
              <a:spcAft>
                <a:spcPts val="0"/>
              </a:spcAft>
              <a:buClr>
                <a:schemeClr val="dk1"/>
              </a:buClr>
              <a:buSzPts val="2400"/>
              <a:buFont typeface="Arial"/>
              <a:buChar char="–"/>
            </a:pPr>
            <a:r>
              <a:rPr lang="en-US"/>
              <a:t>the function defined by the </a:t>
            </a:r>
            <a:r>
              <a:rPr i="1" lang="en-US"/>
              <a:t>maximum</a:t>
            </a:r>
            <a:r>
              <a:rPr lang="en-US"/>
              <a:t> number of steps taken on any instance of size </a:t>
            </a:r>
            <a:r>
              <a:rPr i="1" lang="en-US"/>
              <a:t>n</a:t>
            </a:r>
            <a:endParaRPr/>
          </a:p>
          <a:p>
            <a:pPr indent="-342900" lvl="0" marL="342900" rtl="0" algn="l">
              <a:spcBef>
                <a:spcPts val="560"/>
              </a:spcBef>
              <a:spcAft>
                <a:spcPts val="0"/>
              </a:spcAft>
              <a:buClr>
                <a:srgbClr val="009900"/>
              </a:buClr>
              <a:buSzPts val="2800"/>
              <a:buFont typeface="Arial"/>
              <a:buChar char="•"/>
            </a:pPr>
            <a:r>
              <a:rPr lang="en-US">
                <a:solidFill>
                  <a:srgbClr val="009900"/>
                </a:solidFill>
              </a:rPr>
              <a:t>Best Case Complexity:</a:t>
            </a:r>
            <a:endParaRPr/>
          </a:p>
          <a:p>
            <a:pPr indent="-285750" lvl="1" marL="742950" rtl="0" algn="l">
              <a:spcBef>
                <a:spcPts val="480"/>
              </a:spcBef>
              <a:spcAft>
                <a:spcPts val="0"/>
              </a:spcAft>
              <a:buClr>
                <a:schemeClr val="dk1"/>
              </a:buClr>
              <a:buSzPts val="2400"/>
              <a:buFont typeface="Arial"/>
              <a:buChar char="–"/>
            </a:pPr>
            <a:r>
              <a:rPr lang="en-US"/>
              <a:t>the function defined by the </a:t>
            </a:r>
            <a:r>
              <a:rPr i="1" lang="en-US"/>
              <a:t>minimum</a:t>
            </a:r>
            <a:r>
              <a:rPr lang="en-US"/>
              <a:t> number of steps taken on any instance of size </a:t>
            </a:r>
            <a:r>
              <a:rPr i="1" lang="en-US"/>
              <a:t>n</a:t>
            </a:r>
            <a:endParaRPr/>
          </a:p>
          <a:p>
            <a:pPr indent="-342900" lvl="0" marL="342900" rtl="0" algn="l">
              <a:spcBef>
                <a:spcPts val="560"/>
              </a:spcBef>
              <a:spcAft>
                <a:spcPts val="0"/>
              </a:spcAft>
              <a:buClr>
                <a:srgbClr val="3333FF"/>
              </a:buClr>
              <a:buSzPts val="2800"/>
              <a:buFont typeface="Arial"/>
              <a:buChar char="•"/>
            </a:pPr>
            <a:r>
              <a:rPr lang="en-US">
                <a:solidFill>
                  <a:srgbClr val="3333FF"/>
                </a:solidFill>
              </a:rPr>
              <a:t>Average Case Complexity:</a:t>
            </a:r>
            <a:endParaRPr/>
          </a:p>
          <a:p>
            <a:pPr indent="-285750" lvl="1" marL="742950" rtl="0" algn="l">
              <a:spcBef>
                <a:spcPts val="480"/>
              </a:spcBef>
              <a:spcAft>
                <a:spcPts val="0"/>
              </a:spcAft>
              <a:buClr>
                <a:schemeClr val="dk1"/>
              </a:buClr>
              <a:buSzPts val="2400"/>
              <a:buFont typeface="Arial"/>
              <a:buChar char="–"/>
            </a:pPr>
            <a:r>
              <a:rPr lang="en-US"/>
              <a:t>the function defined by the </a:t>
            </a:r>
            <a:r>
              <a:rPr i="1" lang="en-US"/>
              <a:t>average</a:t>
            </a:r>
            <a:r>
              <a:rPr lang="en-US"/>
              <a:t> number of steps taken on any instance of size </a:t>
            </a:r>
            <a:r>
              <a:rPr i="1" lang="en-US"/>
              <a:t>n</a:t>
            </a:r>
            <a:endParaRPr/>
          </a:p>
          <a:p>
            <a:pPr indent="-285750" lvl="1" marL="742950" rtl="0" algn="l">
              <a:spcBef>
                <a:spcPts val="480"/>
              </a:spcBef>
              <a:spcAft>
                <a:spcPts val="0"/>
              </a:spcAft>
              <a:buClr>
                <a:schemeClr val="dk1"/>
              </a:buClr>
              <a:buSzPts val="2400"/>
              <a:buFont typeface="Arial"/>
              <a:buNone/>
            </a:pPr>
            <a:r>
              <a:t/>
            </a:r>
            <a:endParaRPr/>
          </a:p>
          <a:p>
            <a:pPr indent="-133350" lvl="1" marL="742950" rtl="0" algn="l">
              <a:spcBef>
                <a:spcPts val="480"/>
              </a:spcBef>
              <a:spcAft>
                <a:spcPts val="0"/>
              </a:spcAft>
              <a:buClr>
                <a:schemeClr val="dk1"/>
              </a:buClr>
              <a:buSzPts val="2400"/>
              <a:buFont typeface="Arial"/>
              <a:buNone/>
            </a:pPr>
            <a:r>
              <a:t/>
            </a:r>
            <a:endParaRPr/>
          </a:p>
          <a:p>
            <a:pPr indent="-285750" lvl="1" marL="742950" rtl="0" algn="l">
              <a:spcBef>
                <a:spcPts val="480"/>
              </a:spcBef>
              <a:spcAft>
                <a:spcPts val="0"/>
              </a:spcAft>
              <a:buClr>
                <a:schemeClr val="dk1"/>
              </a:buClr>
              <a:buSzPts val="2400"/>
              <a:buFont typeface="Arial"/>
              <a:buNone/>
            </a:pPr>
            <a:r>
              <a:t/>
            </a:r>
            <a:endParaRPr/>
          </a:p>
          <a:p>
            <a:pPr indent="-133350" lvl="1" marL="742950" rtl="0" algn="l">
              <a:spcBef>
                <a:spcPts val="480"/>
              </a:spcBef>
              <a:spcAft>
                <a:spcPts val="0"/>
              </a:spcAft>
              <a:buClr>
                <a:schemeClr val="dk1"/>
              </a:buClr>
              <a:buSzPts val="2400"/>
              <a:buFont typeface="Arial"/>
              <a:buNone/>
            </a:pPr>
            <a:r>
              <a:t/>
            </a:r>
            <a:endParaRPr/>
          </a:p>
        </p:txBody>
      </p:sp>
      <p:pic>
        <p:nvPicPr>
          <p:cNvPr descr="BRAC University Jobs 2020- Jobs in BRAC University- careerz360.com" id="262" name="Google Shape;262;p15"/>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263" name="Google Shape;263;p15"/>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8" name="Shape 268"/>
        <p:cNvGrpSpPr/>
        <p:nvPr/>
      </p:nvGrpSpPr>
      <p:grpSpPr>
        <a:xfrm>
          <a:off x="0" y="0"/>
          <a:ext cx="0" cy="0"/>
          <a:chOff x="0" y="0"/>
          <a:chExt cx="0" cy="0"/>
        </a:xfrm>
      </p:grpSpPr>
      <p:sp>
        <p:nvSpPr>
          <p:cNvPr id="269" name="Google Shape;269;p16"/>
          <p:cNvSpPr txBox="1"/>
          <p:nvPr>
            <p:ph type="title"/>
          </p:nvPr>
        </p:nvSpPr>
        <p:spPr>
          <a:xfrm>
            <a:off x="1928813" y="0"/>
            <a:ext cx="84582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Best, Worst, and Average Case Complexity</a:t>
            </a:r>
            <a:endParaRPr/>
          </a:p>
        </p:txBody>
      </p:sp>
      <p:sp>
        <p:nvSpPr>
          <p:cNvPr id="270" name="Google Shape;270;p16"/>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accent2"/>
              </a:buClr>
              <a:buSzPts val="2800"/>
              <a:buFont typeface="Arial"/>
              <a:buNone/>
            </a:pPr>
            <a:r>
              <a:t/>
            </a:r>
            <a:endParaRPr/>
          </a:p>
          <a:p>
            <a:pPr indent="-165100" lvl="0" marL="342900" rtl="0" algn="l">
              <a:spcBef>
                <a:spcPts val="560"/>
              </a:spcBef>
              <a:spcAft>
                <a:spcPts val="0"/>
              </a:spcAft>
              <a:buClr>
                <a:schemeClr val="accent2"/>
              </a:buClr>
              <a:buSzPts val="2800"/>
              <a:buFont typeface="Arial"/>
              <a:buNone/>
            </a:pPr>
            <a:r>
              <a:t/>
            </a:r>
            <a:endParaRPr/>
          </a:p>
          <a:p>
            <a:pPr indent="-165100" lvl="0" marL="342900" rtl="0" algn="l">
              <a:spcBef>
                <a:spcPts val="560"/>
              </a:spcBef>
              <a:spcAft>
                <a:spcPts val="0"/>
              </a:spcAft>
              <a:buClr>
                <a:schemeClr val="accent2"/>
              </a:buClr>
              <a:buSzPts val="2800"/>
              <a:buFont typeface="Arial"/>
              <a:buNone/>
            </a:pPr>
            <a:r>
              <a:t/>
            </a:r>
            <a:endParaRPr/>
          </a:p>
        </p:txBody>
      </p:sp>
      <p:pic>
        <p:nvPicPr>
          <p:cNvPr descr="img30" id="271" name="Google Shape;271;p16"/>
          <p:cNvPicPr preferRelativeResize="0"/>
          <p:nvPr/>
        </p:nvPicPr>
        <p:blipFill rotWithShape="1">
          <a:blip r:embed="rId3">
            <a:alphaModFix/>
          </a:blip>
          <a:srcRect b="0" l="0" r="0" t="0"/>
          <a:stretch/>
        </p:blipFill>
        <p:spPr>
          <a:xfrm>
            <a:off x="3090863" y="1908176"/>
            <a:ext cx="5245100" cy="3559175"/>
          </a:xfrm>
          <a:prstGeom prst="rect">
            <a:avLst/>
          </a:prstGeom>
          <a:noFill/>
          <a:ln>
            <a:noFill/>
          </a:ln>
        </p:spPr>
      </p:pic>
      <p:sp>
        <p:nvSpPr>
          <p:cNvPr id="272" name="Google Shape;272;p16"/>
          <p:cNvSpPr/>
          <p:nvPr/>
        </p:nvSpPr>
        <p:spPr>
          <a:xfrm>
            <a:off x="7272339" y="1866901"/>
            <a:ext cx="1749425"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Worst Case Complexity</a:t>
            </a:r>
            <a:endParaRPr/>
          </a:p>
        </p:txBody>
      </p:sp>
      <p:sp>
        <p:nvSpPr>
          <p:cNvPr id="273" name="Google Shape;273;p16"/>
          <p:cNvSpPr/>
          <p:nvPr/>
        </p:nvSpPr>
        <p:spPr>
          <a:xfrm>
            <a:off x="7278689" y="2967039"/>
            <a:ext cx="1952625"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333FF"/>
                </a:solidFill>
                <a:latin typeface="Verdana"/>
                <a:ea typeface="Verdana"/>
                <a:cs typeface="Verdana"/>
                <a:sym typeface="Verdana"/>
              </a:rPr>
              <a:t>Average Case Complexity</a:t>
            </a:r>
            <a:endParaRPr/>
          </a:p>
        </p:txBody>
      </p:sp>
      <p:sp>
        <p:nvSpPr>
          <p:cNvPr id="274" name="Google Shape;274;p16"/>
          <p:cNvSpPr/>
          <p:nvPr/>
        </p:nvSpPr>
        <p:spPr>
          <a:xfrm>
            <a:off x="7329489" y="4022726"/>
            <a:ext cx="1952625"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9900"/>
                </a:solidFill>
                <a:latin typeface="Verdana"/>
                <a:ea typeface="Verdana"/>
                <a:cs typeface="Verdana"/>
                <a:sym typeface="Verdana"/>
              </a:rPr>
              <a:t>Best Case Complexity</a:t>
            </a:r>
            <a:endParaRPr/>
          </a:p>
        </p:txBody>
      </p:sp>
      <p:sp>
        <p:nvSpPr>
          <p:cNvPr id="275" name="Google Shape;275;p16"/>
          <p:cNvSpPr/>
          <p:nvPr/>
        </p:nvSpPr>
        <p:spPr>
          <a:xfrm>
            <a:off x="2665413" y="1833563"/>
            <a:ext cx="1071562"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accent2"/>
                </a:solidFill>
                <a:latin typeface="Verdana"/>
                <a:ea typeface="Verdana"/>
                <a:cs typeface="Verdana"/>
                <a:sym typeface="Verdana"/>
              </a:rPr>
              <a:t>Number of steps</a:t>
            </a:r>
            <a:endParaRPr/>
          </a:p>
        </p:txBody>
      </p:sp>
      <p:sp>
        <p:nvSpPr>
          <p:cNvPr id="276" name="Google Shape;276;p16"/>
          <p:cNvSpPr/>
          <p:nvPr/>
        </p:nvSpPr>
        <p:spPr>
          <a:xfrm>
            <a:off x="7570788" y="5294313"/>
            <a:ext cx="1422400"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accent2"/>
                </a:solidFill>
                <a:latin typeface="Verdana"/>
                <a:ea typeface="Verdana"/>
                <a:cs typeface="Verdana"/>
                <a:sym typeface="Verdana"/>
              </a:rPr>
              <a:t>N </a:t>
            </a:r>
            <a:endParaRPr/>
          </a:p>
          <a:p>
            <a:pPr indent="0" lvl="0" marL="0" marR="0" rtl="0" algn="l">
              <a:spcBef>
                <a:spcPts val="0"/>
              </a:spcBef>
              <a:spcAft>
                <a:spcPts val="0"/>
              </a:spcAft>
              <a:buNone/>
            </a:pPr>
            <a:r>
              <a:rPr lang="en-US" sz="1400">
                <a:solidFill>
                  <a:schemeClr val="accent2"/>
                </a:solidFill>
                <a:latin typeface="Verdana"/>
                <a:ea typeface="Verdana"/>
                <a:cs typeface="Verdana"/>
                <a:sym typeface="Verdana"/>
              </a:rPr>
              <a:t>(input size)</a:t>
            </a:r>
            <a:endParaRPr/>
          </a:p>
        </p:txBody>
      </p:sp>
      <p:pic>
        <p:nvPicPr>
          <p:cNvPr descr="BRAC University Jobs 2020- Jobs in BRAC University- careerz360.com" id="277" name="Google Shape;277;p16"/>
          <p:cNvPicPr preferRelativeResize="0"/>
          <p:nvPr/>
        </p:nvPicPr>
        <p:blipFill rotWithShape="1">
          <a:blip r:embed="rId4">
            <a:alphaModFix/>
          </a:blip>
          <a:srcRect b="0" l="0" r="0" t="0"/>
          <a:stretch/>
        </p:blipFill>
        <p:spPr>
          <a:xfrm>
            <a:off x="10964009" y="0"/>
            <a:ext cx="1227668" cy="1189832"/>
          </a:xfrm>
          <a:prstGeom prst="rect">
            <a:avLst/>
          </a:prstGeom>
          <a:noFill/>
          <a:ln>
            <a:noFill/>
          </a:ln>
        </p:spPr>
      </p:pic>
      <p:sp>
        <p:nvSpPr>
          <p:cNvPr id="278" name="Google Shape;278;p16"/>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3" name="Shape 283"/>
        <p:cNvGrpSpPr/>
        <p:nvPr/>
      </p:nvGrpSpPr>
      <p:grpSpPr>
        <a:xfrm>
          <a:off x="0" y="0"/>
          <a:ext cx="0" cy="0"/>
          <a:chOff x="0" y="0"/>
          <a:chExt cx="0" cy="0"/>
        </a:xfrm>
      </p:grpSpPr>
      <p:sp>
        <p:nvSpPr>
          <p:cNvPr id="284" name="Google Shape;284;p17"/>
          <p:cNvSpPr txBox="1"/>
          <p:nvPr>
            <p:ph type="title"/>
          </p:nvPr>
        </p:nvSpPr>
        <p:spPr>
          <a:xfrm>
            <a:off x="2184400" y="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Doing the Analysis</a:t>
            </a:r>
            <a:endParaRPr/>
          </a:p>
        </p:txBody>
      </p:sp>
      <p:sp>
        <p:nvSpPr>
          <p:cNvPr id="285" name="Google Shape;285;p17"/>
          <p:cNvSpPr txBox="1"/>
          <p:nvPr>
            <p:ph idx="1" type="body"/>
          </p:nvPr>
        </p:nvSpPr>
        <p:spPr>
          <a:xfrm>
            <a:off x="849086" y="1247775"/>
            <a:ext cx="9818915"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000"/>
              <a:buFont typeface="Arial"/>
              <a:buChar char="•"/>
            </a:pPr>
            <a:r>
              <a:rPr lang="en-US" sz="2000"/>
              <a:t>It’s hard to estimate the running time exactly</a:t>
            </a:r>
            <a:endParaRPr/>
          </a:p>
          <a:p>
            <a:pPr indent="-285750" lvl="1" marL="742950" rtl="0" algn="l">
              <a:spcBef>
                <a:spcPts val="360"/>
              </a:spcBef>
              <a:spcAft>
                <a:spcPts val="0"/>
              </a:spcAft>
              <a:buClr>
                <a:schemeClr val="dk1"/>
              </a:buClr>
              <a:buSzPts val="1800"/>
              <a:buFont typeface="Arial"/>
              <a:buChar char="–"/>
            </a:pPr>
            <a:r>
              <a:rPr lang="en-US" sz="1800"/>
              <a:t>Best case depends on the input</a:t>
            </a:r>
            <a:endParaRPr/>
          </a:p>
          <a:p>
            <a:pPr indent="-285750" lvl="1" marL="742950" rtl="0" algn="l">
              <a:spcBef>
                <a:spcPts val="360"/>
              </a:spcBef>
              <a:spcAft>
                <a:spcPts val="0"/>
              </a:spcAft>
              <a:buClr>
                <a:schemeClr val="dk1"/>
              </a:buClr>
              <a:buSzPts val="1800"/>
              <a:buFont typeface="Arial"/>
              <a:buChar char="–"/>
            </a:pPr>
            <a:r>
              <a:rPr lang="en-US" sz="1800"/>
              <a:t>Average case is difficult to compute</a:t>
            </a:r>
            <a:endParaRPr/>
          </a:p>
          <a:p>
            <a:pPr indent="-285750" lvl="1" marL="742950" rtl="0" algn="l">
              <a:spcBef>
                <a:spcPts val="360"/>
              </a:spcBef>
              <a:spcAft>
                <a:spcPts val="0"/>
              </a:spcAft>
              <a:buClr>
                <a:schemeClr val="dk1"/>
              </a:buClr>
              <a:buSzPts val="1800"/>
              <a:buFont typeface="Arial"/>
              <a:buChar char="–"/>
            </a:pPr>
            <a:r>
              <a:rPr lang="en-US" sz="1800"/>
              <a:t>So we usually focus on worst case analysis</a:t>
            </a:r>
            <a:endParaRPr/>
          </a:p>
          <a:p>
            <a:pPr indent="-228600" lvl="2" marL="1143000" rtl="0" algn="l">
              <a:spcBef>
                <a:spcPts val="360"/>
              </a:spcBef>
              <a:spcAft>
                <a:spcPts val="0"/>
              </a:spcAft>
              <a:buClr>
                <a:schemeClr val="accent2"/>
              </a:buClr>
              <a:buSzPts val="1800"/>
              <a:buFont typeface="Arial"/>
              <a:buChar char="•"/>
            </a:pPr>
            <a:r>
              <a:rPr lang="en-US" sz="1800"/>
              <a:t>Easier to compute</a:t>
            </a:r>
            <a:endParaRPr/>
          </a:p>
          <a:p>
            <a:pPr indent="-228600" lvl="2" marL="1143000" rtl="0" algn="l">
              <a:spcBef>
                <a:spcPts val="360"/>
              </a:spcBef>
              <a:spcAft>
                <a:spcPts val="0"/>
              </a:spcAft>
              <a:buClr>
                <a:schemeClr val="accent2"/>
              </a:buClr>
              <a:buSzPts val="1800"/>
              <a:buFont typeface="Arial"/>
              <a:buChar char="•"/>
            </a:pPr>
            <a:r>
              <a:rPr lang="en-US" sz="1800"/>
              <a:t>Usually close to the actual running time</a:t>
            </a:r>
            <a:endParaRPr/>
          </a:p>
          <a:p>
            <a:pPr indent="-342900" lvl="0" marL="342900" rtl="0" algn="l">
              <a:spcBef>
                <a:spcPts val="400"/>
              </a:spcBef>
              <a:spcAft>
                <a:spcPts val="0"/>
              </a:spcAft>
              <a:buClr>
                <a:schemeClr val="accent2"/>
              </a:buClr>
              <a:buSzPts val="2000"/>
              <a:buFont typeface="Arial"/>
              <a:buChar char="•"/>
            </a:pPr>
            <a:r>
              <a:rPr lang="en-US" sz="2000"/>
              <a:t>Strategy: find a function (an equation) that, for large n, is an upper bound to the actual function (actual number of steps, memory usage, etc.)</a:t>
            </a:r>
            <a:endParaRPr/>
          </a:p>
          <a:p>
            <a:pPr indent="-165100" lvl="0" marL="342900" rtl="0" algn="l">
              <a:spcBef>
                <a:spcPts val="560"/>
              </a:spcBef>
              <a:spcAft>
                <a:spcPts val="0"/>
              </a:spcAft>
              <a:buClr>
                <a:schemeClr val="accent2"/>
              </a:buClr>
              <a:buSzPts val="2800"/>
              <a:buFont typeface="Arial"/>
              <a:buNone/>
            </a:pPr>
            <a:r>
              <a:t/>
            </a:r>
            <a:endParaRPr/>
          </a:p>
        </p:txBody>
      </p:sp>
      <p:grpSp>
        <p:nvGrpSpPr>
          <p:cNvPr id="286" name="Google Shape;286;p17"/>
          <p:cNvGrpSpPr/>
          <p:nvPr/>
        </p:nvGrpSpPr>
        <p:grpSpPr>
          <a:xfrm>
            <a:off x="3396697" y="4161452"/>
            <a:ext cx="5087937" cy="2524619"/>
            <a:chOff x="1220" y="2404"/>
            <a:chExt cx="3205" cy="1649"/>
          </a:xfrm>
        </p:grpSpPr>
        <p:pic>
          <p:nvPicPr>
            <p:cNvPr descr="img46" id="287" name="Google Shape;287;p17"/>
            <p:cNvPicPr preferRelativeResize="0"/>
            <p:nvPr/>
          </p:nvPicPr>
          <p:blipFill rotWithShape="1">
            <a:blip r:embed="rId3">
              <a:alphaModFix/>
            </a:blip>
            <a:srcRect b="0" l="0" r="0" t="0"/>
            <a:stretch/>
          </p:blipFill>
          <p:spPr>
            <a:xfrm>
              <a:off x="1220" y="2404"/>
              <a:ext cx="2117" cy="1649"/>
            </a:xfrm>
            <a:prstGeom prst="rect">
              <a:avLst/>
            </a:prstGeom>
            <a:noFill/>
            <a:ln>
              <a:noFill/>
            </a:ln>
          </p:spPr>
        </p:pic>
        <p:sp>
          <p:nvSpPr>
            <p:cNvPr id="288" name="Google Shape;288;p17"/>
            <p:cNvSpPr/>
            <p:nvPr/>
          </p:nvSpPr>
          <p:spPr>
            <a:xfrm>
              <a:off x="3070" y="2597"/>
              <a:ext cx="1173" cy="2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2"/>
                  </a:solidFill>
                  <a:latin typeface="Verdana"/>
                  <a:ea typeface="Verdana"/>
                  <a:cs typeface="Verdana"/>
                  <a:sym typeface="Verdana"/>
                </a:rPr>
                <a:t>Upper bound</a:t>
              </a:r>
              <a:endParaRPr/>
            </a:p>
          </p:txBody>
        </p:sp>
        <p:sp>
          <p:nvSpPr>
            <p:cNvPr id="289" name="Google Shape;289;p17"/>
            <p:cNvSpPr/>
            <p:nvPr/>
          </p:nvSpPr>
          <p:spPr>
            <a:xfrm>
              <a:off x="3133" y="3040"/>
              <a:ext cx="1173" cy="2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2"/>
                  </a:solidFill>
                  <a:latin typeface="Verdana"/>
                  <a:ea typeface="Verdana"/>
                  <a:cs typeface="Verdana"/>
                  <a:sym typeface="Verdana"/>
                </a:rPr>
                <a:t>Lower bound</a:t>
              </a:r>
              <a:endParaRPr/>
            </a:p>
          </p:txBody>
        </p:sp>
        <p:sp>
          <p:nvSpPr>
            <p:cNvPr id="290" name="Google Shape;290;p17"/>
            <p:cNvSpPr/>
            <p:nvPr/>
          </p:nvSpPr>
          <p:spPr>
            <a:xfrm>
              <a:off x="3154" y="2813"/>
              <a:ext cx="1271" cy="2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2"/>
                  </a:solidFill>
                  <a:latin typeface="Verdana"/>
                  <a:ea typeface="Verdana"/>
                  <a:cs typeface="Verdana"/>
                  <a:sym typeface="Verdana"/>
                </a:rPr>
                <a:t>Actual function</a:t>
              </a:r>
              <a:endParaRPr/>
            </a:p>
          </p:txBody>
        </p:sp>
      </p:grpSp>
      <p:pic>
        <p:nvPicPr>
          <p:cNvPr descr="BRAC University Jobs 2020- Jobs in BRAC University- careerz360.com" id="291" name="Google Shape;291;p17"/>
          <p:cNvPicPr preferRelativeResize="0"/>
          <p:nvPr/>
        </p:nvPicPr>
        <p:blipFill rotWithShape="1">
          <a:blip r:embed="rId4">
            <a:alphaModFix/>
          </a:blip>
          <a:srcRect b="0" l="0" r="0" t="0"/>
          <a:stretch/>
        </p:blipFill>
        <p:spPr>
          <a:xfrm>
            <a:off x="10964009" y="0"/>
            <a:ext cx="1227668" cy="1189832"/>
          </a:xfrm>
          <a:prstGeom prst="rect">
            <a:avLst/>
          </a:prstGeom>
          <a:noFill/>
          <a:ln>
            <a:noFill/>
          </a:ln>
        </p:spPr>
      </p:pic>
      <p:sp>
        <p:nvSpPr>
          <p:cNvPr id="292" name="Google Shape;292;p17"/>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7" name="Shape 297"/>
        <p:cNvGrpSpPr/>
        <p:nvPr/>
      </p:nvGrpSpPr>
      <p:grpSpPr>
        <a:xfrm>
          <a:off x="0" y="0"/>
          <a:ext cx="0" cy="0"/>
          <a:chOff x="0" y="0"/>
          <a:chExt cx="0" cy="0"/>
        </a:xfrm>
      </p:grpSpPr>
      <p:sp>
        <p:nvSpPr>
          <p:cNvPr id="298" name="Google Shape;298;p18"/>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Motivation for Asymptotic Analysis</a:t>
            </a:r>
            <a:endParaRPr/>
          </a:p>
        </p:txBody>
      </p:sp>
      <p:sp>
        <p:nvSpPr>
          <p:cNvPr id="299" name="Google Shape;299;p18"/>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An </a:t>
            </a:r>
            <a:r>
              <a:rPr i="1" lang="en-US"/>
              <a:t>exact computation</a:t>
            </a:r>
            <a:r>
              <a:rPr lang="en-US"/>
              <a:t> of worst-case running time can be difficult </a:t>
            </a:r>
            <a:endParaRPr/>
          </a:p>
          <a:p>
            <a:pPr indent="-285750" lvl="1" marL="742950" rtl="0" algn="l">
              <a:spcBef>
                <a:spcPts val="480"/>
              </a:spcBef>
              <a:spcAft>
                <a:spcPts val="0"/>
              </a:spcAft>
              <a:buClr>
                <a:schemeClr val="dk1"/>
              </a:buClr>
              <a:buSzPts val="2400"/>
              <a:buFont typeface="Arial"/>
              <a:buChar char="–"/>
            </a:pPr>
            <a:r>
              <a:rPr lang="en-US"/>
              <a:t>Function may have many terms: </a:t>
            </a:r>
            <a:endParaRPr/>
          </a:p>
          <a:p>
            <a:pPr indent="-228600" lvl="2" marL="1143000" rtl="0" algn="l">
              <a:spcBef>
                <a:spcPts val="400"/>
              </a:spcBef>
              <a:spcAft>
                <a:spcPts val="0"/>
              </a:spcAft>
              <a:buClr>
                <a:schemeClr val="accent2"/>
              </a:buClr>
              <a:buSzPts val="2000"/>
              <a:buFont typeface="Arial"/>
              <a:buChar char="•"/>
            </a:pPr>
            <a:r>
              <a:rPr lang="en-US"/>
              <a:t>4n</a:t>
            </a:r>
            <a:r>
              <a:rPr baseline="30000" lang="en-US"/>
              <a:t>2</a:t>
            </a:r>
            <a:r>
              <a:rPr lang="en-US"/>
              <a:t> - 3n log n + 17.5 n - 43 n</a:t>
            </a:r>
            <a:r>
              <a:rPr baseline="30000" lang="en-US"/>
              <a:t>⅔ </a:t>
            </a:r>
            <a:r>
              <a:rPr lang="en-US"/>
              <a:t>+ 75 </a:t>
            </a:r>
            <a:endParaRPr/>
          </a:p>
          <a:p>
            <a:pPr indent="-342900" lvl="0" marL="342900" rtl="0" algn="l">
              <a:spcBef>
                <a:spcPts val="560"/>
              </a:spcBef>
              <a:spcAft>
                <a:spcPts val="0"/>
              </a:spcAft>
              <a:buClr>
                <a:schemeClr val="accent2"/>
              </a:buClr>
              <a:buSzPts val="2800"/>
              <a:buFont typeface="Arial"/>
              <a:buChar char="•"/>
            </a:pPr>
            <a:r>
              <a:rPr lang="en-US"/>
              <a:t>An </a:t>
            </a:r>
            <a:r>
              <a:rPr i="1" lang="en-US"/>
              <a:t>exact computation</a:t>
            </a:r>
            <a:r>
              <a:rPr lang="en-US"/>
              <a:t> of worst-case running time is unnecessary</a:t>
            </a:r>
            <a:endParaRPr/>
          </a:p>
        </p:txBody>
      </p:sp>
      <p:pic>
        <p:nvPicPr>
          <p:cNvPr descr="BRAC University Jobs 2020- Jobs in BRAC University- careerz360.com" id="300" name="Google Shape;300;p18"/>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301" name="Google Shape;301;p18"/>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5" name="Shape 305"/>
        <p:cNvGrpSpPr/>
        <p:nvPr/>
      </p:nvGrpSpPr>
      <p:grpSpPr>
        <a:xfrm>
          <a:off x="0" y="0"/>
          <a:ext cx="0" cy="0"/>
          <a:chOff x="0" y="0"/>
          <a:chExt cx="0" cy="0"/>
        </a:xfrm>
      </p:grpSpPr>
      <p:sp>
        <p:nvSpPr>
          <p:cNvPr id="306" name="Google Shape;306;p19"/>
          <p:cNvSpPr txBox="1"/>
          <p:nvPr>
            <p:ph type="title"/>
          </p:nvPr>
        </p:nvSpPr>
        <p:spPr>
          <a:xfrm>
            <a:off x="455084" y="285749"/>
            <a:ext cx="10972800" cy="90408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Classifying functions by their</a:t>
            </a:r>
            <a:br>
              <a:rPr lang="en-US"/>
            </a:br>
            <a:r>
              <a:rPr lang="en-US"/>
              <a:t>Asymptotic Growth Rates </a:t>
            </a:r>
            <a:endParaRPr/>
          </a:p>
        </p:txBody>
      </p:sp>
      <p:sp>
        <p:nvSpPr>
          <p:cNvPr id="307" name="Google Shape;307;p19"/>
          <p:cNvSpPr txBox="1"/>
          <p:nvPr>
            <p:ph idx="1" type="body"/>
          </p:nvPr>
        </p:nvSpPr>
        <p:spPr>
          <a:xfrm>
            <a:off x="467784" y="1543050"/>
            <a:ext cx="10972800" cy="474821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asymptotic growth rate, asymptotic order, or </a:t>
            </a:r>
            <a:br>
              <a:rPr lang="en-US"/>
            </a:br>
            <a:r>
              <a:rPr lang="en-US"/>
              <a:t>order of functions </a:t>
            </a:r>
            <a:endParaRPr/>
          </a:p>
          <a:p>
            <a:pPr indent="-285750" lvl="1" marL="742950" rtl="0" algn="l">
              <a:spcBef>
                <a:spcPts val="480"/>
              </a:spcBef>
              <a:spcAft>
                <a:spcPts val="0"/>
              </a:spcAft>
              <a:buClr>
                <a:schemeClr val="dk1"/>
              </a:buClr>
              <a:buSzPts val="2400"/>
              <a:buFont typeface="Arial"/>
              <a:buChar char="–"/>
            </a:pPr>
            <a:r>
              <a:rPr lang="en-US"/>
              <a:t>Comparing and classifying functions that ignores </a:t>
            </a:r>
            <a:endParaRPr/>
          </a:p>
          <a:p>
            <a:pPr indent="-228600" lvl="2" marL="1143000" rtl="0" algn="l">
              <a:spcBef>
                <a:spcPts val="400"/>
              </a:spcBef>
              <a:spcAft>
                <a:spcPts val="0"/>
              </a:spcAft>
              <a:buClr>
                <a:schemeClr val="accent2"/>
              </a:buClr>
              <a:buSzPts val="2000"/>
              <a:buFont typeface="Arial"/>
              <a:buChar char="•"/>
            </a:pPr>
            <a:r>
              <a:rPr i="1" lang="en-US"/>
              <a:t>constant factors</a:t>
            </a:r>
            <a:r>
              <a:rPr lang="en-US"/>
              <a:t> and </a:t>
            </a:r>
            <a:endParaRPr/>
          </a:p>
          <a:p>
            <a:pPr indent="-228600" lvl="2" marL="1143000" rtl="0" algn="l">
              <a:spcBef>
                <a:spcPts val="400"/>
              </a:spcBef>
              <a:spcAft>
                <a:spcPts val="0"/>
              </a:spcAft>
              <a:buClr>
                <a:schemeClr val="accent2"/>
              </a:buClr>
              <a:buSzPts val="2000"/>
              <a:buFont typeface="Arial"/>
              <a:buChar char="•"/>
            </a:pPr>
            <a:r>
              <a:rPr i="1" lang="en-US"/>
              <a:t>small inputs</a:t>
            </a:r>
            <a:r>
              <a:rPr lang="en-US"/>
              <a:t>. </a:t>
            </a:r>
            <a:endParaRPr/>
          </a:p>
          <a:p>
            <a:pPr indent="-342900" lvl="0" marL="342900" rtl="0" algn="l">
              <a:spcBef>
                <a:spcPts val="560"/>
              </a:spcBef>
              <a:spcAft>
                <a:spcPts val="0"/>
              </a:spcAft>
              <a:buClr>
                <a:schemeClr val="accent2"/>
              </a:buClr>
              <a:buSzPts val="2800"/>
              <a:buFont typeface="Arial"/>
              <a:buChar char="•"/>
            </a:pPr>
            <a:r>
              <a:rPr lang="en-US"/>
              <a:t>The Sets big oh O(g), big theta Θ(g), big omega Ω(g)</a:t>
            </a:r>
            <a:endParaRPr/>
          </a:p>
        </p:txBody>
      </p:sp>
      <p:pic>
        <p:nvPicPr>
          <p:cNvPr descr="BRAC University Jobs 2020- Jobs in BRAC University- careerz360.com" id="308" name="Google Shape;308;p19"/>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309" name="Google Shape;309;p19"/>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4" name="Shape 314"/>
        <p:cNvGrpSpPr/>
        <p:nvPr/>
      </p:nvGrpSpPr>
      <p:grpSpPr>
        <a:xfrm>
          <a:off x="0" y="0"/>
          <a:ext cx="0" cy="0"/>
          <a:chOff x="0" y="0"/>
          <a:chExt cx="0" cy="0"/>
        </a:xfrm>
      </p:grpSpPr>
      <p:sp>
        <p:nvSpPr>
          <p:cNvPr id="315" name="Google Shape;315;p20"/>
          <p:cNvSpPr txBox="1"/>
          <p:nvPr>
            <p:ph type="title"/>
          </p:nvPr>
        </p:nvSpPr>
        <p:spPr>
          <a:xfrm>
            <a:off x="455084" y="320039"/>
            <a:ext cx="10972800" cy="11898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Classifying functions by their</a:t>
            </a:r>
            <a:br>
              <a:rPr lang="en-US"/>
            </a:br>
            <a:r>
              <a:rPr lang="en-US"/>
              <a:t>Asymptotic Growth Rates </a:t>
            </a:r>
            <a:endParaRPr/>
          </a:p>
        </p:txBody>
      </p:sp>
      <p:sp>
        <p:nvSpPr>
          <p:cNvPr id="316" name="Google Shape;316;p20"/>
          <p:cNvSpPr txBox="1"/>
          <p:nvPr>
            <p:ph idx="1" type="body"/>
          </p:nvPr>
        </p:nvSpPr>
        <p:spPr>
          <a:xfrm>
            <a:off x="467784" y="1931670"/>
            <a:ext cx="10972800" cy="4359594"/>
          </a:xfrm>
          <a:prstGeom prst="rect">
            <a:avLst/>
          </a:prstGeom>
          <a:noFill/>
          <a:ln>
            <a:noFill/>
          </a:ln>
        </p:spPr>
        <p:txBody>
          <a:bodyPr anchorCtr="0" anchor="t" bIns="45700" lIns="91425" spcFirstLastPara="1" rIns="91425" wrap="square" tIns="45700">
            <a:noAutofit/>
          </a:bodyPr>
          <a:lstStyle/>
          <a:p>
            <a:pPr indent="-514350" lvl="0" marL="514350" rtl="0" algn="l">
              <a:spcBef>
                <a:spcPts val="0"/>
              </a:spcBef>
              <a:spcAft>
                <a:spcPts val="0"/>
              </a:spcAft>
              <a:buClr>
                <a:schemeClr val="accent2"/>
              </a:buClr>
              <a:buSzPts val="2800"/>
              <a:buFont typeface="Arial"/>
              <a:buAutoNum type="arabicPeriod"/>
            </a:pPr>
            <a:r>
              <a:rPr lang="en-US"/>
              <a:t>O(g(n)), Big-Oh of g of n, the Asymptotic Upper Bound</a:t>
            </a:r>
            <a:endParaRPr/>
          </a:p>
          <a:p>
            <a:pPr indent="-514350" lvl="0" marL="514350" rtl="0" algn="l">
              <a:spcBef>
                <a:spcPts val="560"/>
              </a:spcBef>
              <a:spcAft>
                <a:spcPts val="0"/>
              </a:spcAft>
              <a:buClr>
                <a:schemeClr val="accent2"/>
              </a:buClr>
              <a:buSzPts val="2800"/>
              <a:buFont typeface="Arial"/>
              <a:buAutoNum type="arabicPeriod"/>
            </a:pPr>
            <a:r>
              <a:rPr lang="en-US">
                <a:latin typeface="Noto Sans Symbols"/>
                <a:ea typeface="Noto Sans Symbols"/>
                <a:cs typeface="Noto Sans Symbols"/>
                <a:sym typeface="Noto Sans Symbols"/>
              </a:rPr>
              <a:t>Θ</a:t>
            </a:r>
            <a:r>
              <a:rPr lang="en-US"/>
              <a:t>(g(n)), Theta of g of n, the Asymptotic Tight Bound </a:t>
            </a:r>
            <a:endParaRPr/>
          </a:p>
          <a:p>
            <a:pPr indent="-514350" lvl="0" marL="514350" rtl="0" algn="l">
              <a:spcBef>
                <a:spcPts val="560"/>
              </a:spcBef>
              <a:spcAft>
                <a:spcPts val="0"/>
              </a:spcAft>
              <a:buClr>
                <a:schemeClr val="accent2"/>
              </a:buClr>
              <a:buSzPts val="2800"/>
              <a:buFont typeface="Arial"/>
              <a:buAutoNum type="arabicPeriod"/>
            </a:pPr>
            <a:r>
              <a:rPr lang="en-US">
                <a:latin typeface="Noto Sans Symbols"/>
                <a:ea typeface="Noto Sans Symbols"/>
                <a:cs typeface="Noto Sans Symbols"/>
                <a:sym typeface="Noto Sans Symbols"/>
              </a:rPr>
              <a:t>Ω</a:t>
            </a:r>
            <a:r>
              <a:rPr lang="en-US"/>
              <a:t>(g(n)), Omega of g of n, the Asymptotic Lower Bound</a:t>
            </a:r>
            <a:endParaRPr/>
          </a:p>
        </p:txBody>
      </p:sp>
      <p:pic>
        <p:nvPicPr>
          <p:cNvPr descr="BRAC University Jobs 2020- Jobs in BRAC University- careerz360.com" id="317" name="Google Shape;317;p20"/>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318" name="Google Shape;318;p20"/>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2" name="Shape 322"/>
        <p:cNvGrpSpPr/>
        <p:nvPr/>
      </p:nvGrpSpPr>
      <p:grpSpPr>
        <a:xfrm>
          <a:off x="0" y="0"/>
          <a:ext cx="0" cy="0"/>
          <a:chOff x="0" y="0"/>
          <a:chExt cx="0" cy="0"/>
        </a:xfrm>
      </p:grpSpPr>
      <p:sp>
        <p:nvSpPr>
          <p:cNvPr id="323" name="Google Shape;323;p21"/>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Big-O</a:t>
            </a:r>
            <a:endParaRPr/>
          </a:p>
        </p:txBody>
      </p:sp>
      <p:sp>
        <p:nvSpPr>
          <p:cNvPr id="324" name="Google Shape;324;p21"/>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accent2"/>
              </a:buClr>
              <a:buSzPts val="2800"/>
              <a:buFont typeface="Arial"/>
              <a:buNone/>
            </a:pPr>
            <a:r>
              <a:t/>
            </a:r>
            <a:endParaRPr/>
          </a:p>
          <a:p>
            <a:pPr indent="-165100" lvl="0" marL="342900" rtl="0" algn="l">
              <a:spcBef>
                <a:spcPts val="560"/>
              </a:spcBef>
              <a:spcAft>
                <a:spcPts val="0"/>
              </a:spcAft>
              <a:buClr>
                <a:schemeClr val="accent2"/>
              </a:buClr>
              <a:buSzPts val="2800"/>
              <a:buFont typeface="Arial"/>
              <a:buNone/>
            </a:pPr>
            <a:r>
              <a:t/>
            </a:r>
            <a:endParaRPr/>
          </a:p>
          <a:p>
            <a:pPr indent="-342900" lvl="0" marL="342900" rtl="0" algn="l">
              <a:spcBef>
                <a:spcPts val="560"/>
              </a:spcBef>
              <a:spcAft>
                <a:spcPts val="0"/>
              </a:spcAft>
              <a:buClr>
                <a:schemeClr val="accent2"/>
              </a:buClr>
              <a:buSzPts val="2800"/>
              <a:buFont typeface="Arial"/>
              <a:buChar char="•"/>
            </a:pPr>
            <a:r>
              <a:rPr lang="en-US"/>
              <a:t>What does it mean?</a:t>
            </a:r>
            <a:endParaRPr/>
          </a:p>
          <a:p>
            <a:pPr indent="-285750" lvl="1" marL="742950" rtl="0" algn="l">
              <a:spcBef>
                <a:spcPts val="480"/>
              </a:spcBef>
              <a:spcAft>
                <a:spcPts val="0"/>
              </a:spcAft>
              <a:buClr>
                <a:schemeClr val="dk1"/>
              </a:buClr>
              <a:buSzPts val="2400"/>
              <a:buFont typeface="Arial"/>
              <a:buChar char="–"/>
            </a:pPr>
            <a:r>
              <a:rPr lang="en-US"/>
              <a:t>If </a:t>
            </a:r>
            <a:r>
              <a:rPr i="1" lang="en-US"/>
              <a:t>f</a:t>
            </a:r>
            <a:r>
              <a:rPr lang="en-US"/>
              <a:t>(</a:t>
            </a:r>
            <a:r>
              <a:rPr i="1" lang="en-US"/>
              <a:t>n</a:t>
            </a:r>
            <a:r>
              <a:rPr lang="en-US"/>
              <a:t>) = O(</a:t>
            </a:r>
            <a:r>
              <a:rPr i="1" lang="en-US"/>
              <a:t>n</a:t>
            </a:r>
            <a:r>
              <a:rPr baseline="30000" lang="en-US"/>
              <a:t>2</a:t>
            </a:r>
            <a:r>
              <a:rPr lang="en-US"/>
              <a:t>), then:</a:t>
            </a:r>
            <a:endParaRPr/>
          </a:p>
          <a:p>
            <a:pPr indent="-228600" lvl="2" marL="1143000" rtl="0" algn="l">
              <a:spcBef>
                <a:spcPts val="400"/>
              </a:spcBef>
              <a:spcAft>
                <a:spcPts val="0"/>
              </a:spcAft>
              <a:buClr>
                <a:schemeClr val="accent2"/>
              </a:buClr>
              <a:buSzPts val="2000"/>
              <a:buFont typeface="Arial"/>
              <a:buChar char="•"/>
            </a:pPr>
            <a:r>
              <a:rPr i="1" lang="en-US"/>
              <a:t>f</a:t>
            </a:r>
            <a:r>
              <a:rPr lang="en-US"/>
              <a:t>(</a:t>
            </a:r>
            <a:r>
              <a:rPr i="1" lang="en-US"/>
              <a:t>n</a:t>
            </a:r>
            <a:r>
              <a:rPr lang="en-US"/>
              <a:t>) can be larger than </a:t>
            </a:r>
            <a:r>
              <a:rPr i="1" lang="en-US"/>
              <a:t>n</a:t>
            </a:r>
            <a:r>
              <a:rPr baseline="30000" lang="en-US"/>
              <a:t>2</a:t>
            </a:r>
            <a:r>
              <a:rPr lang="en-US"/>
              <a:t> sometimes, </a:t>
            </a:r>
            <a:r>
              <a:rPr b="1" lang="en-US"/>
              <a:t>but…</a:t>
            </a:r>
            <a:endParaRPr/>
          </a:p>
          <a:p>
            <a:pPr indent="-228600" lvl="2" marL="1143000" rtl="0" algn="l">
              <a:spcBef>
                <a:spcPts val="400"/>
              </a:spcBef>
              <a:spcAft>
                <a:spcPts val="0"/>
              </a:spcAft>
              <a:buClr>
                <a:schemeClr val="accent2"/>
              </a:buClr>
              <a:buSzPts val="2000"/>
              <a:buFont typeface="Arial"/>
              <a:buChar char="•"/>
            </a:pPr>
            <a:r>
              <a:rPr lang="en-US"/>
              <a:t>We can choose some constant </a:t>
            </a:r>
            <a:r>
              <a:rPr b="1" i="1" lang="en-US">
                <a:solidFill>
                  <a:srgbClr val="FF0000"/>
                </a:solidFill>
              </a:rPr>
              <a:t>c</a:t>
            </a:r>
            <a:r>
              <a:rPr lang="en-US"/>
              <a:t> and some value </a:t>
            </a:r>
            <a:r>
              <a:rPr i="1" lang="en-US">
                <a:solidFill>
                  <a:srgbClr val="FF0000"/>
                </a:solidFill>
              </a:rPr>
              <a:t>n</a:t>
            </a:r>
            <a:r>
              <a:rPr baseline="-25000" i="1" lang="en-US">
                <a:solidFill>
                  <a:srgbClr val="FF0000"/>
                </a:solidFill>
              </a:rPr>
              <a:t>0</a:t>
            </a:r>
            <a:r>
              <a:rPr lang="en-US"/>
              <a:t> such that for </a:t>
            </a:r>
            <a:r>
              <a:rPr b="1" lang="en-US"/>
              <a:t>every</a:t>
            </a:r>
            <a:r>
              <a:rPr lang="en-US"/>
              <a:t> value of </a:t>
            </a:r>
            <a:r>
              <a:rPr b="1" i="1" lang="en-US">
                <a:solidFill>
                  <a:srgbClr val="FF0000"/>
                </a:solidFill>
              </a:rPr>
              <a:t>n</a:t>
            </a:r>
            <a:r>
              <a:rPr lang="en-US"/>
              <a:t> larger than </a:t>
            </a:r>
            <a:r>
              <a:rPr b="1" i="1" lang="en-US">
                <a:solidFill>
                  <a:srgbClr val="FF0000"/>
                </a:solidFill>
              </a:rPr>
              <a:t>n</a:t>
            </a:r>
            <a:r>
              <a:rPr b="1" baseline="-25000" i="1" lang="en-US">
                <a:solidFill>
                  <a:srgbClr val="FF0000"/>
                </a:solidFill>
              </a:rPr>
              <a:t>0</a:t>
            </a:r>
            <a:r>
              <a:rPr i="1" lang="en-US">
                <a:solidFill>
                  <a:srgbClr val="FF0000"/>
                </a:solidFill>
              </a:rPr>
              <a:t> :</a:t>
            </a:r>
            <a:r>
              <a:rPr lang="en-US">
                <a:solidFill>
                  <a:srgbClr val="FF0000"/>
                </a:solidFill>
              </a:rPr>
              <a:t> </a:t>
            </a:r>
            <a:r>
              <a:rPr i="1" lang="en-US">
                <a:solidFill>
                  <a:srgbClr val="FF0000"/>
                </a:solidFill>
              </a:rPr>
              <a:t>f</a:t>
            </a:r>
            <a:r>
              <a:rPr lang="en-US">
                <a:solidFill>
                  <a:srgbClr val="FF0000"/>
                </a:solidFill>
              </a:rPr>
              <a:t>(</a:t>
            </a:r>
            <a:r>
              <a:rPr i="1" lang="en-US">
                <a:solidFill>
                  <a:srgbClr val="FF0000"/>
                </a:solidFill>
              </a:rPr>
              <a:t>n</a:t>
            </a:r>
            <a:r>
              <a:rPr lang="en-US">
                <a:solidFill>
                  <a:srgbClr val="FF0000"/>
                </a:solidFill>
              </a:rPr>
              <a:t>) &lt; </a:t>
            </a:r>
            <a:r>
              <a:rPr i="1" lang="en-US">
                <a:solidFill>
                  <a:srgbClr val="FF0000"/>
                </a:solidFill>
              </a:rPr>
              <a:t>cn</a:t>
            </a:r>
            <a:r>
              <a:rPr baseline="30000" lang="en-US">
                <a:solidFill>
                  <a:srgbClr val="FF0000"/>
                </a:solidFill>
              </a:rPr>
              <a:t>2</a:t>
            </a:r>
            <a:endParaRPr/>
          </a:p>
          <a:p>
            <a:pPr indent="-228600" lvl="2" marL="1143000" rtl="0" algn="l">
              <a:spcBef>
                <a:spcPts val="400"/>
              </a:spcBef>
              <a:spcAft>
                <a:spcPts val="0"/>
              </a:spcAft>
              <a:buClr>
                <a:schemeClr val="accent2"/>
              </a:buClr>
              <a:buSzPts val="2000"/>
              <a:buFont typeface="Arial"/>
              <a:buChar char="•"/>
            </a:pPr>
            <a:r>
              <a:rPr lang="en-US"/>
              <a:t>That is, for values larger than </a:t>
            </a:r>
            <a:r>
              <a:rPr i="1" lang="en-US"/>
              <a:t>n</a:t>
            </a:r>
            <a:r>
              <a:rPr baseline="-25000" i="1" lang="en-US"/>
              <a:t>0</a:t>
            </a:r>
            <a:r>
              <a:rPr lang="en-US"/>
              <a:t>, </a:t>
            </a:r>
            <a:r>
              <a:rPr i="1" lang="en-US"/>
              <a:t>f</a:t>
            </a:r>
            <a:r>
              <a:rPr lang="en-US"/>
              <a:t>(</a:t>
            </a:r>
            <a:r>
              <a:rPr i="1" lang="en-US"/>
              <a:t>n</a:t>
            </a:r>
            <a:r>
              <a:rPr lang="en-US"/>
              <a:t>) is never more than a constant multiplier greater than </a:t>
            </a:r>
            <a:r>
              <a:rPr i="1" lang="en-US"/>
              <a:t>n</a:t>
            </a:r>
            <a:r>
              <a:rPr baseline="30000" lang="en-US"/>
              <a:t>2</a:t>
            </a:r>
            <a:endParaRPr/>
          </a:p>
          <a:p>
            <a:pPr indent="-228600" lvl="2" marL="1143000" rtl="0" algn="l">
              <a:spcBef>
                <a:spcPts val="400"/>
              </a:spcBef>
              <a:spcAft>
                <a:spcPts val="0"/>
              </a:spcAft>
              <a:buClr>
                <a:schemeClr val="accent2"/>
              </a:buClr>
              <a:buSzPts val="2000"/>
              <a:buFont typeface="Arial"/>
              <a:buChar char="•"/>
            </a:pPr>
            <a:r>
              <a:rPr lang="en-US"/>
              <a:t>Or, in other words, </a:t>
            </a:r>
            <a:r>
              <a:rPr i="1" lang="en-US"/>
              <a:t>f</a:t>
            </a:r>
            <a:r>
              <a:rPr lang="en-US"/>
              <a:t>(</a:t>
            </a:r>
            <a:r>
              <a:rPr i="1" lang="en-US"/>
              <a:t>n</a:t>
            </a:r>
            <a:r>
              <a:rPr lang="en-US"/>
              <a:t>) does not grow more than a constant factor faster than </a:t>
            </a:r>
            <a:r>
              <a:rPr i="1" lang="en-US"/>
              <a:t>n</a:t>
            </a:r>
            <a:r>
              <a:rPr baseline="30000" lang="en-US"/>
              <a:t>2</a:t>
            </a:r>
            <a:r>
              <a:rPr lang="en-US"/>
              <a:t>.</a:t>
            </a:r>
            <a:endParaRPr/>
          </a:p>
        </p:txBody>
      </p:sp>
      <p:sp>
        <p:nvSpPr>
          <p:cNvPr id="325" name="Google Shape;325;p21"/>
          <p:cNvSpPr txBox="1"/>
          <p:nvPr/>
        </p:nvSpPr>
        <p:spPr>
          <a:xfrm>
            <a:off x="1905000" y="1235075"/>
            <a:ext cx="8382000" cy="973138"/>
          </a:xfrm>
          <a:prstGeom prst="rect">
            <a:avLst/>
          </a:prstGeom>
          <a:blipFill rotWithShape="1">
            <a:blip r:embed="rId3">
              <a:alphaModFix/>
            </a:blip>
            <a:stretch>
              <a:fillRect b="0" l="-217"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pic>
        <p:nvPicPr>
          <p:cNvPr descr="BRAC University Jobs 2020- Jobs in BRAC University- careerz360.com" id="326" name="Google Shape;326;p21"/>
          <p:cNvPicPr preferRelativeResize="0"/>
          <p:nvPr/>
        </p:nvPicPr>
        <p:blipFill rotWithShape="1">
          <a:blip r:embed="rId4">
            <a:alphaModFix/>
          </a:blip>
          <a:srcRect b="0" l="0" r="0" t="0"/>
          <a:stretch/>
        </p:blipFill>
        <p:spPr>
          <a:xfrm>
            <a:off x="10964009" y="0"/>
            <a:ext cx="1227668" cy="1189832"/>
          </a:xfrm>
          <a:prstGeom prst="rect">
            <a:avLst/>
          </a:prstGeom>
          <a:noFill/>
          <a:ln>
            <a:noFill/>
          </a:ln>
        </p:spPr>
      </p:pic>
      <p:sp>
        <p:nvSpPr>
          <p:cNvPr id="327" name="Google Shape;327;p21"/>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1" name="Shape 331"/>
        <p:cNvGrpSpPr/>
        <p:nvPr/>
      </p:nvGrpSpPr>
      <p:grpSpPr>
        <a:xfrm>
          <a:off x="0" y="0"/>
          <a:ext cx="0" cy="0"/>
          <a:chOff x="0" y="0"/>
          <a:chExt cx="0" cy="0"/>
        </a:xfrm>
      </p:grpSpPr>
      <p:sp>
        <p:nvSpPr>
          <p:cNvPr id="332" name="Google Shape;332;p22"/>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Visualization of </a:t>
            </a:r>
            <a:r>
              <a:rPr i="1" lang="en-US" sz="3600"/>
              <a:t>O</a:t>
            </a:r>
            <a:r>
              <a:rPr lang="en-US" sz="3600"/>
              <a:t>(</a:t>
            </a:r>
            <a:r>
              <a:rPr i="1" lang="en-US" sz="3600"/>
              <a:t>g</a:t>
            </a:r>
            <a:r>
              <a:rPr lang="en-US" sz="3600"/>
              <a:t>(</a:t>
            </a:r>
            <a:r>
              <a:rPr i="1" lang="en-US" sz="3600"/>
              <a:t>n</a:t>
            </a:r>
            <a:r>
              <a:rPr lang="en-US" sz="3600"/>
              <a:t>))</a:t>
            </a:r>
            <a:endParaRPr/>
          </a:p>
        </p:txBody>
      </p:sp>
      <p:cxnSp>
        <p:nvCxnSpPr>
          <p:cNvPr id="333" name="Google Shape;333;p22"/>
          <p:cNvCxnSpPr/>
          <p:nvPr/>
        </p:nvCxnSpPr>
        <p:spPr>
          <a:xfrm>
            <a:off x="2590800" y="1193800"/>
            <a:ext cx="0" cy="4648200"/>
          </a:xfrm>
          <a:prstGeom prst="straightConnector1">
            <a:avLst/>
          </a:prstGeom>
          <a:noFill/>
          <a:ln cap="flat" cmpd="sng" w="9525">
            <a:solidFill>
              <a:schemeClr val="dk1"/>
            </a:solidFill>
            <a:prstDash val="solid"/>
            <a:round/>
            <a:headEnd len="med" w="med" type="none"/>
            <a:tailEnd len="med" w="med" type="none"/>
          </a:ln>
        </p:spPr>
      </p:cxnSp>
      <p:cxnSp>
        <p:nvCxnSpPr>
          <p:cNvPr id="334" name="Google Shape;334;p22"/>
          <p:cNvCxnSpPr/>
          <p:nvPr/>
        </p:nvCxnSpPr>
        <p:spPr>
          <a:xfrm>
            <a:off x="2590800" y="5842000"/>
            <a:ext cx="7315200" cy="0"/>
          </a:xfrm>
          <a:prstGeom prst="straightConnector1">
            <a:avLst/>
          </a:prstGeom>
          <a:noFill/>
          <a:ln cap="flat" cmpd="sng" w="9525">
            <a:solidFill>
              <a:schemeClr val="dk1"/>
            </a:solidFill>
            <a:prstDash val="solid"/>
            <a:round/>
            <a:headEnd len="med" w="med" type="none"/>
            <a:tailEnd len="med" w="med" type="none"/>
          </a:ln>
        </p:spPr>
      </p:cxnSp>
      <p:sp>
        <p:nvSpPr>
          <p:cNvPr id="335" name="Google Shape;335;p22"/>
          <p:cNvSpPr/>
          <p:nvPr/>
        </p:nvSpPr>
        <p:spPr>
          <a:xfrm>
            <a:off x="2590800" y="1651000"/>
            <a:ext cx="5715000" cy="3429000"/>
          </a:xfrm>
          <a:custGeom>
            <a:rect b="b" l="l" r="r" t="t"/>
            <a:pathLst>
              <a:path extrusionOk="0" h="2160" w="3600">
                <a:moveTo>
                  <a:pt x="0" y="2160"/>
                </a:moveTo>
                <a:cubicBezTo>
                  <a:pt x="160" y="2152"/>
                  <a:pt x="320" y="2144"/>
                  <a:pt x="432" y="2112"/>
                </a:cubicBezTo>
                <a:cubicBezTo>
                  <a:pt x="544" y="2080"/>
                  <a:pt x="592" y="2040"/>
                  <a:pt x="672" y="1968"/>
                </a:cubicBezTo>
                <a:cubicBezTo>
                  <a:pt x="752" y="1896"/>
                  <a:pt x="800" y="1744"/>
                  <a:pt x="912" y="1680"/>
                </a:cubicBezTo>
                <a:cubicBezTo>
                  <a:pt x="1024" y="1616"/>
                  <a:pt x="1184" y="1680"/>
                  <a:pt x="1344" y="1584"/>
                </a:cubicBezTo>
                <a:cubicBezTo>
                  <a:pt x="1504" y="1488"/>
                  <a:pt x="1664" y="1208"/>
                  <a:pt x="1872" y="1104"/>
                </a:cubicBezTo>
                <a:cubicBezTo>
                  <a:pt x="2080" y="1000"/>
                  <a:pt x="2344" y="1096"/>
                  <a:pt x="2592" y="960"/>
                </a:cubicBezTo>
                <a:cubicBezTo>
                  <a:pt x="2840" y="824"/>
                  <a:pt x="3192" y="448"/>
                  <a:pt x="3360" y="288"/>
                </a:cubicBezTo>
                <a:cubicBezTo>
                  <a:pt x="3528" y="128"/>
                  <a:pt x="3564" y="64"/>
                  <a:pt x="360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 name="Google Shape;336;p22"/>
          <p:cNvSpPr/>
          <p:nvPr/>
        </p:nvSpPr>
        <p:spPr>
          <a:xfrm>
            <a:off x="2590800" y="3403600"/>
            <a:ext cx="5715000" cy="1817688"/>
          </a:xfrm>
          <a:custGeom>
            <a:rect b="b" l="l" r="r" t="t"/>
            <a:pathLst>
              <a:path extrusionOk="0" h="1145" w="3600">
                <a:moveTo>
                  <a:pt x="0" y="720"/>
                </a:moveTo>
                <a:cubicBezTo>
                  <a:pt x="32" y="676"/>
                  <a:pt x="64" y="632"/>
                  <a:pt x="96" y="624"/>
                </a:cubicBezTo>
                <a:cubicBezTo>
                  <a:pt x="128" y="616"/>
                  <a:pt x="160" y="632"/>
                  <a:pt x="192" y="672"/>
                </a:cubicBezTo>
                <a:cubicBezTo>
                  <a:pt x="224" y="712"/>
                  <a:pt x="240" y="792"/>
                  <a:pt x="288" y="864"/>
                </a:cubicBezTo>
                <a:cubicBezTo>
                  <a:pt x="336" y="936"/>
                  <a:pt x="424" y="1063"/>
                  <a:pt x="480" y="1104"/>
                </a:cubicBezTo>
                <a:cubicBezTo>
                  <a:pt x="536" y="1145"/>
                  <a:pt x="590" y="1129"/>
                  <a:pt x="622" y="1113"/>
                </a:cubicBezTo>
                <a:cubicBezTo>
                  <a:pt x="654" y="1097"/>
                  <a:pt x="648" y="1105"/>
                  <a:pt x="672" y="1008"/>
                </a:cubicBezTo>
                <a:cubicBezTo>
                  <a:pt x="696" y="911"/>
                  <a:pt x="736" y="664"/>
                  <a:pt x="768" y="528"/>
                </a:cubicBezTo>
                <a:cubicBezTo>
                  <a:pt x="800" y="392"/>
                  <a:pt x="832" y="216"/>
                  <a:pt x="864" y="192"/>
                </a:cubicBezTo>
                <a:cubicBezTo>
                  <a:pt x="896" y="168"/>
                  <a:pt x="920" y="312"/>
                  <a:pt x="960" y="384"/>
                </a:cubicBezTo>
                <a:cubicBezTo>
                  <a:pt x="1000" y="456"/>
                  <a:pt x="1022" y="574"/>
                  <a:pt x="1104" y="624"/>
                </a:cubicBezTo>
                <a:cubicBezTo>
                  <a:pt x="1186" y="674"/>
                  <a:pt x="1366" y="695"/>
                  <a:pt x="1451" y="687"/>
                </a:cubicBezTo>
                <a:cubicBezTo>
                  <a:pt x="1536" y="679"/>
                  <a:pt x="1530" y="628"/>
                  <a:pt x="1616" y="577"/>
                </a:cubicBezTo>
                <a:cubicBezTo>
                  <a:pt x="1702" y="526"/>
                  <a:pt x="1829" y="440"/>
                  <a:pt x="1968" y="384"/>
                </a:cubicBezTo>
                <a:cubicBezTo>
                  <a:pt x="2107" y="328"/>
                  <a:pt x="2280" y="288"/>
                  <a:pt x="2448" y="240"/>
                </a:cubicBezTo>
                <a:cubicBezTo>
                  <a:pt x="2616" y="192"/>
                  <a:pt x="2784" y="136"/>
                  <a:pt x="2976" y="96"/>
                </a:cubicBezTo>
                <a:cubicBezTo>
                  <a:pt x="3168" y="56"/>
                  <a:pt x="3384" y="28"/>
                  <a:pt x="360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37" name="Google Shape;337;p22"/>
          <p:cNvCxnSpPr/>
          <p:nvPr/>
        </p:nvCxnSpPr>
        <p:spPr>
          <a:xfrm>
            <a:off x="4241800" y="3556000"/>
            <a:ext cx="0" cy="2286000"/>
          </a:xfrm>
          <a:prstGeom prst="straightConnector1">
            <a:avLst/>
          </a:prstGeom>
          <a:noFill/>
          <a:ln cap="flat" cmpd="sng" w="12700">
            <a:solidFill>
              <a:schemeClr val="dk1"/>
            </a:solidFill>
            <a:prstDash val="dash"/>
            <a:round/>
            <a:headEnd len="med" w="med" type="none"/>
            <a:tailEnd len="med" w="med" type="none"/>
          </a:ln>
        </p:spPr>
      </p:cxnSp>
      <p:sp>
        <p:nvSpPr>
          <p:cNvPr id="338" name="Google Shape;338;p22"/>
          <p:cNvSpPr txBox="1"/>
          <p:nvPr/>
        </p:nvSpPr>
        <p:spPr>
          <a:xfrm>
            <a:off x="4022725" y="5807075"/>
            <a:ext cx="3978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n</a:t>
            </a:r>
            <a:r>
              <a:rPr baseline="-25000" i="1" lang="en-US" sz="1800">
                <a:solidFill>
                  <a:schemeClr val="dk1"/>
                </a:solidFill>
                <a:latin typeface="Arial"/>
                <a:ea typeface="Arial"/>
                <a:cs typeface="Arial"/>
                <a:sym typeface="Arial"/>
              </a:rPr>
              <a:t>0</a:t>
            </a:r>
            <a:endParaRPr i="1" sz="1800">
              <a:solidFill>
                <a:schemeClr val="dk1"/>
              </a:solidFill>
              <a:latin typeface="Arial"/>
              <a:ea typeface="Arial"/>
              <a:cs typeface="Arial"/>
              <a:sym typeface="Arial"/>
            </a:endParaRPr>
          </a:p>
        </p:txBody>
      </p:sp>
      <p:sp>
        <p:nvSpPr>
          <p:cNvPr id="339" name="Google Shape;339;p22"/>
          <p:cNvSpPr txBox="1"/>
          <p:nvPr/>
        </p:nvSpPr>
        <p:spPr>
          <a:xfrm>
            <a:off x="8289925" y="1336675"/>
            <a:ext cx="7104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cg</a:t>
            </a:r>
            <a:r>
              <a:rPr lang="en-US" sz="1800">
                <a:solidFill>
                  <a:schemeClr val="dk1"/>
                </a:solidFill>
                <a:latin typeface="Arial"/>
                <a:ea typeface="Arial"/>
                <a:cs typeface="Arial"/>
                <a:sym typeface="Arial"/>
              </a:rPr>
              <a:t>(</a:t>
            </a:r>
            <a:r>
              <a:rPr i="1" lang="en-US" sz="1800">
                <a:solidFill>
                  <a:schemeClr val="dk1"/>
                </a:solidFill>
                <a:latin typeface="Arial"/>
                <a:ea typeface="Arial"/>
                <a:cs typeface="Arial"/>
                <a:sym typeface="Arial"/>
              </a:rPr>
              <a:t>n</a:t>
            </a:r>
            <a:r>
              <a:rPr lang="en-US" sz="1800">
                <a:solidFill>
                  <a:schemeClr val="dk1"/>
                </a:solidFill>
                <a:latin typeface="Arial"/>
                <a:ea typeface="Arial"/>
                <a:cs typeface="Arial"/>
                <a:sym typeface="Arial"/>
              </a:rPr>
              <a:t>)</a:t>
            </a:r>
            <a:endParaRPr/>
          </a:p>
        </p:txBody>
      </p:sp>
      <p:sp>
        <p:nvSpPr>
          <p:cNvPr id="340" name="Google Shape;340;p22"/>
          <p:cNvSpPr txBox="1"/>
          <p:nvPr/>
        </p:nvSpPr>
        <p:spPr>
          <a:xfrm>
            <a:off x="8366125" y="3089275"/>
            <a:ext cx="5309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f</a:t>
            </a:r>
            <a:r>
              <a:rPr lang="en-US" sz="1800">
                <a:solidFill>
                  <a:schemeClr val="dk1"/>
                </a:solidFill>
                <a:latin typeface="Arial"/>
                <a:ea typeface="Arial"/>
                <a:cs typeface="Arial"/>
                <a:sym typeface="Arial"/>
              </a:rPr>
              <a:t>(</a:t>
            </a:r>
            <a:r>
              <a:rPr i="1" lang="en-US" sz="1800">
                <a:solidFill>
                  <a:schemeClr val="dk1"/>
                </a:solidFill>
                <a:latin typeface="Arial"/>
                <a:ea typeface="Arial"/>
                <a:cs typeface="Arial"/>
                <a:sym typeface="Arial"/>
              </a:rPr>
              <a:t>n</a:t>
            </a:r>
            <a:r>
              <a:rPr lang="en-US" sz="1800">
                <a:solidFill>
                  <a:schemeClr val="dk1"/>
                </a:solidFill>
                <a:latin typeface="Arial"/>
                <a:ea typeface="Arial"/>
                <a:cs typeface="Arial"/>
                <a:sym typeface="Arial"/>
              </a:rPr>
              <a:t>)</a:t>
            </a:r>
            <a:endParaRPr i="1" sz="1800">
              <a:solidFill>
                <a:schemeClr val="dk1"/>
              </a:solidFill>
              <a:latin typeface="Arial"/>
              <a:ea typeface="Arial"/>
              <a:cs typeface="Arial"/>
              <a:sym typeface="Arial"/>
            </a:endParaRPr>
          </a:p>
        </p:txBody>
      </p:sp>
      <p:pic>
        <p:nvPicPr>
          <p:cNvPr descr="BRAC University Jobs 2020- Jobs in BRAC University- careerz360.com" id="341" name="Google Shape;341;p22"/>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342" name="Google Shape;342;p22"/>
          <p:cNvSpPr txBox="1"/>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400">
                <a:solidFill>
                  <a:schemeClr val="dk1"/>
                </a:solidFill>
                <a:latin typeface="Arial"/>
                <a:ea typeface="Arial"/>
                <a:cs typeface="Arial"/>
                <a:sym typeface="Arial"/>
              </a:rPr>
              <a:t>‹#›</a:t>
            </a:fld>
            <a:endParaRPr sz="1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6" name="Shape 346"/>
        <p:cNvGrpSpPr/>
        <p:nvPr/>
      </p:nvGrpSpPr>
      <p:grpSpPr>
        <a:xfrm>
          <a:off x="0" y="0"/>
          <a:ext cx="0" cy="0"/>
          <a:chOff x="0" y="0"/>
          <a:chExt cx="0" cy="0"/>
        </a:xfrm>
      </p:grpSpPr>
      <p:sp>
        <p:nvSpPr>
          <p:cNvPr id="347" name="Google Shape;347;p23"/>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48" name="Google Shape;348;p23"/>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Examples</a:t>
            </a:r>
            <a:endParaRPr/>
          </a:p>
        </p:txBody>
      </p:sp>
      <p:sp>
        <p:nvSpPr>
          <p:cNvPr id="349" name="Google Shape;349;p23"/>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285750" lvl="1" marL="742950" rtl="0" algn="l">
              <a:lnSpc>
                <a:spcPct val="200000"/>
              </a:lnSpc>
              <a:spcBef>
                <a:spcPts val="0"/>
              </a:spcBef>
              <a:spcAft>
                <a:spcPts val="0"/>
              </a:spcAft>
              <a:buClr>
                <a:schemeClr val="dk1"/>
              </a:buClr>
              <a:buSzPts val="2400"/>
              <a:buFont typeface="Comic Sans MS"/>
              <a:buChar char="–"/>
            </a:pPr>
            <a:r>
              <a:rPr lang="en-US">
                <a:latin typeface="Comic Sans MS"/>
                <a:ea typeface="Comic Sans MS"/>
                <a:cs typeface="Comic Sans MS"/>
                <a:sym typeface="Comic Sans MS"/>
              </a:rPr>
              <a:t>2n</a:t>
            </a:r>
            <a:r>
              <a:rPr baseline="30000" lang="en-US">
                <a:latin typeface="Comic Sans MS"/>
                <a:ea typeface="Comic Sans MS"/>
                <a:cs typeface="Comic Sans MS"/>
                <a:sym typeface="Comic Sans MS"/>
              </a:rPr>
              <a:t>2</a:t>
            </a:r>
            <a:r>
              <a:rPr lang="en-US">
                <a:latin typeface="Comic Sans MS"/>
                <a:ea typeface="Comic Sans MS"/>
                <a:cs typeface="Comic Sans MS"/>
                <a:sym typeface="Comic Sans MS"/>
              </a:rPr>
              <a:t> = O(n</a:t>
            </a:r>
            <a:r>
              <a:rPr baseline="30000" lang="en-US">
                <a:latin typeface="Comic Sans MS"/>
                <a:ea typeface="Comic Sans MS"/>
                <a:cs typeface="Comic Sans MS"/>
                <a:sym typeface="Comic Sans MS"/>
              </a:rPr>
              <a:t>3</a:t>
            </a:r>
            <a:r>
              <a:rPr lang="en-US">
                <a:latin typeface="Comic Sans MS"/>
                <a:ea typeface="Comic Sans MS"/>
                <a:cs typeface="Comic Sans MS"/>
                <a:sym typeface="Comic Sans MS"/>
              </a:rPr>
              <a:t>):</a:t>
            </a:r>
            <a:endParaRPr/>
          </a:p>
          <a:p>
            <a:pPr indent="-285750" lvl="1" marL="742950" rtl="0" algn="l">
              <a:lnSpc>
                <a:spcPct val="20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 n</a:t>
            </a:r>
            <a:r>
              <a:rPr baseline="30000" lang="en-US">
                <a:latin typeface="Comic Sans MS"/>
                <a:ea typeface="Comic Sans MS"/>
                <a:cs typeface="Comic Sans MS"/>
                <a:sym typeface="Comic Sans MS"/>
              </a:rPr>
              <a:t>2</a:t>
            </a:r>
            <a:r>
              <a:rPr lang="en-US">
                <a:latin typeface="Comic Sans MS"/>
                <a:ea typeface="Comic Sans MS"/>
                <a:cs typeface="Comic Sans MS"/>
                <a:sym typeface="Comic Sans MS"/>
              </a:rPr>
              <a:t> = O(n</a:t>
            </a:r>
            <a:r>
              <a:rPr baseline="30000" lang="en-US">
                <a:latin typeface="Comic Sans MS"/>
                <a:ea typeface="Comic Sans MS"/>
                <a:cs typeface="Comic Sans MS"/>
                <a:sym typeface="Comic Sans MS"/>
              </a:rPr>
              <a:t>2</a:t>
            </a:r>
            <a:r>
              <a:rPr lang="en-US">
                <a:latin typeface="Comic Sans MS"/>
                <a:ea typeface="Comic Sans MS"/>
                <a:cs typeface="Comic Sans MS"/>
                <a:sym typeface="Comic Sans MS"/>
              </a:rPr>
              <a:t>):</a:t>
            </a:r>
            <a:endParaRPr/>
          </a:p>
          <a:p>
            <a:pPr indent="-285750" lvl="1" marL="742950" rtl="0" algn="l">
              <a:lnSpc>
                <a:spcPct val="20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 1000n</a:t>
            </a:r>
            <a:r>
              <a:rPr baseline="30000" lang="en-US">
                <a:latin typeface="Comic Sans MS"/>
                <a:ea typeface="Comic Sans MS"/>
                <a:cs typeface="Comic Sans MS"/>
                <a:sym typeface="Comic Sans MS"/>
              </a:rPr>
              <a:t>2</a:t>
            </a:r>
            <a:r>
              <a:rPr lang="en-US">
                <a:latin typeface="Comic Sans MS"/>
                <a:ea typeface="Comic Sans MS"/>
                <a:cs typeface="Comic Sans MS"/>
                <a:sym typeface="Comic Sans MS"/>
              </a:rPr>
              <a:t>+1000n = O(n</a:t>
            </a:r>
            <a:r>
              <a:rPr baseline="30000" lang="en-US">
                <a:latin typeface="Comic Sans MS"/>
                <a:ea typeface="Comic Sans MS"/>
                <a:cs typeface="Comic Sans MS"/>
                <a:sym typeface="Comic Sans MS"/>
              </a:rPr>
              <a:t>2</a:t>
            </a:r>
            <a:r>
              <a:rPr lang="en-US">
                <a:latin typeface="Comic Sans MS"/>
                <a:ea typeface="Comic Sans MS"/>
                <a:cs typeface="Comic Sans MS"/>
                <a:sym typeface="Comic Sans MS"/>
              </a:rPr>
              <a:t>): </a:t>
            </a:r>
            <a:endParaRPr/>
          </a:p>
          <a:p>
            <a:pPr indent="-285750" lvl="1" marL="742950" rtl="0" algn="l">
              <a:lnSpc>
                <a:spcPct val="200000"/>
              </a:lnSpc>
              <a:spcBef>
                <a:spcPts val="480"/>
              </a:spcBef>
              <a:spcAft>
                <a:spcPts val="0"/>
              </a:spcAft>
              <a:buClr>
                <a:schemeClr val="dk1"/>
              </a:buClr>
              <a:buSzPts val="2400"/>
              <a:buFont typeface="Comic Sans MS"/>
              <a:buNone/>
            </a:pPr>
            <a:r>
              <a:rPr lang="en-US">
                <a:latin typeface="Comic Sans MS"/>
                <a:ea typeface="Comic Sans MS"/>
                <a:cs typeface="Comic Sans MS"/>
                <a:sym typeface="Comic Sans MS"/>
              </a:rPr>
              <a:t>	</a:t>
            </a:r>
            <a:endParaRPr/>
          </a:p>
          <a:p>
            <a:pPr indent="-285750" lvl="1" marL="742950" rtl="0" algn="l">
              <a:lnSpc>
                <a:spcPct val="20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 n = O(n</a:t>
            </a:r>
            <a:r>
              <a:rPr baseline="30000" lang="en-US">
                <a:latin typeface="Comic Sans MS"/>
                <a:ea typeface="Comic Sans MS"/>
                <a:cs typeface="Comic Sans MS"/>
                <a:sym typeface="Comic Sans MS"/>
              </a:rPr>
              <a:t>2</a:t>
            </a:r>
            <a:r>
              <a:rPr lang="en-US">
                <a:latin typeface="Comic Sans MS"/>
                <a:ea typeface="Comic Sans MS"/>
                <a:cs typeface="Comic Sans MS"/>
                <a:sym typeface="Comic Sans MS"/>
              </a:rPr>
              <a:t>):</a:t>
            </a:r>
            <a:endParaRPr/>
          </a:p>
        </p:txBody>
      </p:sp>
      <p:sp>
        <p:nvSpPr>
          <p:cNvPr id="350" name="Google Shape;350;p23"/>
          <p:cNvSpPr/>
          <p:nvPr/>
        </p:nvSpPr>
        <p:spPr>
          <a:xfrm>
            <a:off x="4341814" y="1506538"/>
            <a:ext cx="51466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Comic Sans MS"/>
                <a:ea typeface="Comic Sans MS"/>
                <a:cs typeface="Comic Sans MS"/>
                <a:sym typeface="Comic Sans MS"/>
              </a:rPr>
              <a:t>2n</a:t>
            </a:r>
            <a:r>
              <a:rPr baseline="30000" lang="en-US" sz="2400">
                <a:solidFill>
                  <a:schemeClr val="accent2"/>
                </a:solidFill>
                <a:latin typeface="Comic Sans MS"/>
                <a:ea typeface="Comic Sans MS"/>
                <a:cs typeface="Comic Sans MS"/>
                <a:sym typeface="Comic Sans MS"/>
              </a:rPr>
              <a:t>2</a:t>
            </a:r>
            <a:r>
              <a:rPr lang="en-US" sz="2400">
                <a:solidFill>
                  <a:schemeClr val="accent2"/>
                </a:solidFill>
                <a:latin typeface="Comic Sans MS"/>
                <a:ea typeface="Comic Sans MS"/>
                <a:cs typeface="Comic Sans MS"/>
                <a:sym typeface="Comic Sans MS"/>
              </a:rPr>
              <a:t> ≤ cn</a:t>
            </a:r>
            <a:r>
              <a:rPr baseline="30000" lang="en-US" sz="2400">
                <a:solidFill>
                  <a:schemeClr val="accent2"/>
                </a:solidFill>
                <a:latin typeface="Comic Sans MS"/>
                <a:ea typeface="Comic Sans MS"/>
                <a:cs typeface="Comic Sans MS"/>
                <a:sym typeface="Comic Sans MS"/>
              </a:rPr>
              <a:t>3 </a:t>
            </a:r>
            <a:r>
              <a:rPr lang="en-US" sz="2400">
                <a:solidFill>
                  <a:schemeClr val="accent2"/>
                </a:solidFill>
                <a:latin typeface="Comic Sans MS"/>
                <a:ea typeface="Comic Sans MS"/>
                <a:cs typeface="Comic Sans MS"/>
                <a:sym typeface="Comic Sans MS"/>
              </a:rPr>
              <a:t>⇒ 2 ≤ cn </a:t>
            </a:r>
            <a:r>
              <a:rPr lang="en-US" sz="2400">
                <a:solidFill>
                  <a:srgbClr val="002060"/>
                </a:solidFill>
                <a:latin typeface="Comic Sans MS"/>
                <a:ea typeface="Comic Sans MS"/>
                <a:cs typeface="Comic Sans MS"/>
                <a:sym typeface="Comic Sans MS"/>
              </a:rPr>
              <a:t>⇒</a:t>
            </a:r>
            <a:r>
              <a:rPr lang="en-US" sz="2400">
                <a:solidFill>
                  <a:srgbClr val="FF0000"/>
                </a:solidFill>
                <a:latin typeface="Comic Sans MS"/>
                <a:ea typeface="Comic Sans MS"/>
                <a:cs typeface="Comic Sans MS"/>
                <a:sym typeface="Comic Sans MS"/>
              </a:rPr>
              <a:t> c = 1 and n</a:t>
            </a:r>
            <a:r>
              <a:rPr baseline="-25000" lang="en-US" sz="2400">
                <a:solidFill>
                  <a:srgbClr val="FF0000"/>
                </a:solidFill>
                <a:latin typeface="Comic Sans MS"/>
                <a:ea typeface="Comic Sans MS"/>
                <a:cs typeface="Comic Sans MS"/>
                <a:sym typeface="Comic Sans MS"/>
              </a:rPr>
              <a:t>0</a:t>
            </a:r>
            <a:r>
              <a:rPr lang="en-US" sz="2400">
                <a:solidFill>
                  <a:srgbClr val="FF0000"/>
                </a:solidFill>
                <a:latin typeface="Comic Sans MS"/>
                <a:ea typeface="Comic Sans MS"/>
                <a:cs typeface="Comic Sans MS"/>
                <a:sym typeface="Comic Sans MS"/>
              </a:rPr>
              <a:t>= 2</a:t>
            </a:r>
            <a:endParaRPr/>
          </a:p>
        </p:txBody>
      </p:sp>
      <p:sp>
        <p:nvSpPr>
          <p:cNvPr id="351" name="Google Shape;351;p23"/>
          <p:cNvSpPr/>
          <p:nvPr/>
        </p:nvSpPr>
        <p:spPr>
          <a:xfrm>
            <a:off x="4262438" y="2320925"/>
            <a:ext cx="4883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Comic Sans MS"/>
                <a:ea typeface="Comic Sans MS"/>
                <a:cs typeface="Comic Sans MS"/>
                <a:sym typeface="Comic Sans MS"/>
              </a:rPr>
              <a:t>n</a:t>
            </a:r>
            <a:r>
              <a:rPr baseline="30000" lang="en-US" sz="2400">
                <a:solidFill>
                  <a:schemeClr val="accent2"/>
                </a:solidFill>
                <a:latin typeface="Comic Sans MS"/>
                <a:ea typeface="Comic Sans MS"/>
                <a:cs typeface="Comic Sans MS"/>
                <a:sym typeface="Comic Sans MS"/>
              </a:rPr>
              <a:t>2</a:t>
            </a:r>
            <a:r>
              <a:rPr lang="en-US" sz="2400">
                <a:solidFill>
                  <a:schemeClr val="accent2"/>
                </a:solidFill>
                <a:latin typeface="Comic Sans MS"/>
                <a:ea typeface="Comic Sans MS"/>
                <a:cs typeface="Comic Sans MS"/>
                <a:sym typeface="Comic Sans MS"/>
              </a:rPr>
              <a:t> ≤ cn</a:t>
            </a:r>
            <a:r>
              <a:rPr baseline="30000" lang="en-US" sz="2400">
                <a:solidFill>
                  <a:schemeClr val="accent2"/>
                </a:solidFill>
                <a:latin typeface="Comic Sans MS"/>
                <a:ea typeface="Comic Sans MS"/>
                <a:cs typeface="Comic Sans MS"/>
                <a:sym typeface="Comic Sans MS"/>
              </a:rPr>
              <a:t>2 </a:t>
            </a:r>
            <a:r>
              <a:rPr lang="en-US" sz="2400">
                <a:solidFill>
                  <a:schemeClr val="accent2"/>
                </a:solidFill>
                <a:latin typeface="Comic Sans MS"/>
                <a:ea typeface="Comic Sans MS"/>
                <a:cs typeface="Comic Sans MS"/>
                <a:sym typeface="Comic Sans MS"/>
              </a:rPr>
              <a:t>⇒ c ≥  1  ⇒ </a:t>
            </a:r>
            <a:r>
              <a:rPr lang="en-US" sz="2400">
                <a:solidFill>
                  <a:srgbClr val="FF0000"/>
                </a:solidFill>
                <a:latin typeface="Comic Sans MS"/>
                <a:ea typeface="Comic Sans MS"/>
                <a:cs typeface="Comic Sans MS"/>
                <a:sym typeface="Comic Sans MS"/>
              </a:rPr>
              <a:t>c = 1 and n</a:t>
            </a:r>
            <a:r>
              <a:rPr baseline="-25000" lang="en-US" sz="2400">
                <a:solidFill>
                  <a:srgbClr val="FF0000"/>
                </a:solidFill>
                <a:latin typeface="Comic Sans MS"/>
                <a:ea typeface="Comic Sans MS"/>
                <a:cs typeface="Comic Sans MS"/>
                <a:sym typeface="Comic Sans MS"/>
              </a:rPr>
              <a:t>0</a:t>
            </a:r>
            <a:r>
              <a:rPr lang="en-US" sz="2400">
                <a:solidFill>
                  <a:srgbClr val="FF0000"/>
                </a:solidFill>
                <a:latin typeface="Comic Sans MS"/>
                <a:ea typeface="Comic Sans MS"/>
                <a:cs typeface="Comic Sans MS"/>
                <a:sym typeface="Comic Sans MS"/>
              </a:rPr>
              <a:t>= 1</a:t>
            </a:r>
            <a:endParaRPr/>
          </a:p>
        </p:txBody>
      </p:sp>
      <p:sp>
        <p:nvSpPr>
          <p:cNvPr id="352" name="Google Shape;352;p23"/>
          <p:cNvSpPr/>
          <p:nvPr/>
        </p:nvSpPr>
        <p:spPr>
          <a:xfrm>
            <a:off x="2298700" y="3814763"/>
            <a:ext cx="75707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Comic Sans MS"/>
                <a:ea typeface="Comic Sans MS"/>
                <a:cs typeface="Comic Sans MS"/>
                <a:sym typeface="Comic Sans MS"/>
              </a:rPr>
              <a:t>1000n</a:t>
            </a:r>
            <a:r>
              <a:rPr baseline="30000" lang="en-US" sz="2400">
                <a:solidFill>
                  <a:schemeClr val="accent2"/>
                </a:solidFill>
                <a:latin typeface="Comic Sans MS"/>
                <a:ea typeface="Comic Sans MS"/>
                <a:cs typeface="Comic Sans MS"/>
                <a:sym typeface="Comic Sans MS"/>
              </a:rPr>
              <a:t>2</a:t>
            </a:r>
            <a:r>
              <a:rPr lang="en-US" sz="2400">
                <a:solidFill>
                  <a:schemeClr val="accent2"/>
                </a:solidFill>
                <a:latin typeface="Comic Sans MS"/>
                <a:ea typeface="Comic Sans MS"/>
                <a:cs typeface="Comic Sans MS"/>
                <a:sym typeface="Comic Sans MS"/>
              </a:rPr>
              <a:t>+1000n ≤ cn</a:t>
            </a:r>
            <a:r>
              <a:rPr baseline="30000" lang="en-US" sz="2400">
                <a:solidFill>
                  <a:schemeClr val="accent2"/>
                </a:solidFill>
                <a:latin typeface="Comic Sans MS"/>
                <a:ea typeface="Comic Sans MS"/>
                <a:cs typeface="Comic Sans MS"/>
                <a:sym typeface="Comic Sans MS"/>
              </a:rPr>
              <a:t>2 </a:t>
            </a:r>
            <a:r>
              <a:rPr lang="en-US" sz="2400">
                <a:solidFill>
                  <a:schemeClr val="accent2"/>
                </a:solidFill>
                <a:latin typeface="Comic Sans MS"/>
                <a:ea typeface="Comic Sans MS"/>
                <a:cs typeface="Comic Sans MS"/>
                <a:sym typeface="Comic Sans MS"/>
              </a:rPr>
              <a:t>≤ cn</a:t>
            </a:r>
            <a:r>
              <a:rPr baseline="30000" lang="en-US" sz="2400">
                <a:solidFill>
                  <a:schemeClr val="accent2"/>
                </a:solidFill>
                <a:latin typeface="Comic Sans MS"/>
                <a:ea typeface="Comic Sans MS"/>
                <a:cs typeface="Comic Sans MS"/>
                <a:sym typeface="Comic Sans MS"/>
              </a:rPr>
              <a:t>2</a:t>
            </a:r>
            <a:r>
              <a:rPr lang="en-US" sz="2400">
                <a:solidFill>
                  <a:schemeClr val="accent2"/>
                </a:solidFill>
                <a:latin typeface="Comic Sans MS"/>
                <a:ea typeface="Comic Sans MS"/>
                <a:cs typeface="Comic Sans MS"/>
                <a:sym typeface="Comic Sans MS"/>
              </a:rPr>
              <a:t>+ 1000n ⇒ </a:t>
            </a:r>
            <a:r>
              <a:rPr lang="en-US" sz="2400">
                <a:solidFill>
                  <a:srgbClr val="FF0000"/>
                </a:solidFill>
                <a:latin typeface="Comic Sans MS"/>
                <a:ea typeface="Comic Sans MS"/>
                <a:cs typeface="Comic Sans MS"/>
                <a:sym typeface="Comic Sans MS"/>
              </a:rPr>
              <a:t>c=1001 and n</a:t>
            </a:r>
            <a:r>
              <a:rPr baseline="-25000" lang="en-US" sz="2400">
                <a:solidFill>
                  <a:srgbClr val="FF0000"/>
                </a:solidFill>
                <a:latin typeface="Comic Sans MS"/>
                <a:ea typeface="Comic Sans MS"/>
                <a:cs typeface="Comic Sans MS"/>
                <a:sym typeface="Comic Sans MS"/>
              </a:rPr>
              <a:t>0</a:t>
            </a:r>
            <a:r>
              <a:rPr lang="en-US" sz="2400">
                <a:solidFill>
                  <a:srgbClr val="FF0000"/>
                </a:solidFill>
                <a:latin typeface="Comic Sans MS"/>
                <a:ea typeface="Comic Sans MS"/>
                <a:cs typeface="Comic Sans MS"/>
                <a:sym typeface="Comic Sans MS"/>
              </a:rPr>
              <a:t> = 1</a:t>
            </a:r>
            <a:endParaRPr/>
          </a:p>
        </p:txBody>
      </p:sp>
      <p:sp>
        <p:nvSpPr>
          <p:cNvPr id="353" name="Google Shape;353;p23"/>
          <p:cNvSpPr/>
          <p:nvPr/>
        </p:nvSpPr>
        <p:spPr>
          <a:xfrm>
            <a:off x="4156076" y="4624388"/>
            <a:ext cx="5510213"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2"/>
                </a:solidFill>
                <a:latin typeface="Comic Sans MS"/>
                <a:ea typeface="Comic Sans MS"/>
                <a:cs typeface="Comic Sans MS"/>
                <a:sym typeface="Comic Sans MS"/>
              </a:rPr>
              <a:t>n ≤ cn</a:t>
            </a:r>
            <a:r>
              <a:rPr baseline="30000" lang="en-US" sz="2800">
                <a:solidFill>
                  <a:schemeClr val="accent2"/>
                </a:solidFill>
                <a:latin typeface="Comic Sans MS"/>
                <a:ea typeface="Comic Sans MS"/>
                <a:cs typeface="Comic Sans MS"/>
                <a:sym typeface="Comic Sans MS"/>
              </a:rPr>
              <a:t>2 </a:t>
            </a:r>
            <a:r>
              <a:rPr lang="en-US" sz="2800">
                <a:solidFill>
                  <a:schemeClr val="accent2"/>
                </a:solidFill>
                <a:latin typeface="Comic Sans MS"/>
                <a:ea typeface="Comic Sans MS"/>
                <a:cs typeface="Comic Sans MS"/>
                <a:sym typeface="Comic Sans MS"/>
              </a:rPr>
              <a:t>⇒ cn ≥ 1 ⇒ </a:t>
            </a:r>
            <a:r>
              <a:rPr lang="en-US" sz="2800">
                <a:solidFill>
                  <a:srgbClr val="FF0000"/>
                </a:solidFill>
                <a:latin typeface="Comic Sans MS"/>
                <a:ea typeface="Comic Sans MS"/>
                <a:cs typeface="Comic Sans MS"/>
                <a:sym typeface="Comic Sans MS"/>
              </a:rPr>
              <a:t>c = 1 and n</a:t>
            </a:r>
            <a:r>
              <a:rPr baseline="-25000" lang="en-US" sz="2800">
                <a:solidFill>
                  <a:srgbClr val="FF0000"/>
                </a:solidFill>
                <a:latin typeface="Comic Sans MS"/>
                <a:ea typeface="Comic Sans MS"/>
                <a:cs typeface="Comic Sans MS"/>
                <a:sym typeface="Comic Sans MS"/>
              </a:rPr>
              <a:t>0</a:t>
            </a:r>
            <a:r>
              <a:rPr lang="en-US" sz="2800">
                <a:solidFill>
                  <a:srgbClr val="FF0000"/>
                </a:solidFill>
                <a:latin typeface="Comic Sans MS"/>
                <a:ea typeface="Comic Sans MS"/>
                <a:cs typeface="Comic Sans MS"/>
                <a:sym typeface="Comic Sans MS"/>
              </a:rPr>
              <a:t>= 1</a:t>
            </a:r>
            <a:endParaRPr/>
          </a:p>
        </p:txBody>
      </p:sp>
      <p:pic>
        <p:nvPicPr>
          <p:cNvPr descr="BRAC University Jobs 2020- Jobs in BRAC University- careerz360.com" id="354" name="Google Shape;354;p23"/>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8" name="Shape 358"/>
        <p:cNvGrpSpPr/>
        <p:nvPr/>
      </p:nvGrpSpPr>
      <p:grpSpPr>
        <a:xfrm>
          <a:off x="0" y="0"/>
          <a:ext cx="0" cy="0"/>
          <a:chOff x="0" y="0"/>
          <a:chExt cx="0" cy="0"/>
        </a:xfrm>
      </p:grpSpPr>
      <p:sp>
        <p:nvSpPr>
          <p:cNvPr id="359" name="Google Shape;359;p24"/>
          <p:cNvSpPr txBox="1"/>
          <p:nvPr>
            <p:ph type="title"/>
          </p:nvPr>
        </p:nvSpPr>
        <p:spPr>
          <a:xfrm>
            <a:off x="1497330" y="100012"/>
            <a:ext cx="8538210" cy="118983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Big-O</a:t>
            </a:r>
            <a:endParaRPr/>
          </a:p>
        </p:txBody>
      </p:sp>
      <p:sp>
        <p:nvSpPr>
          <p:cNvPr id="360" name="Google Shape;360;p24"/>
          <p:cNvSpPr txBox="1"/>
          <p:nvPr>
            <p:ph idx="1" type="body"/>
          </p:nvPr>
        </p:nvSpPr>
        <p:spPr>
          <a:xfrm>
            <a:off x="1417319" y="1703070"/>
            <a:ext cx="9111503" cy="349758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Font typeface="Arial"/>
              <a:buChar char="•"/>
            </a:pPr>
            <a:r>
              <a:rPr lang="en-US"/>
              <a:t> </a:t>
            </a:r>
            <a:endParaRPr/>
          </a:p>
        </p:txBody>
      </p:sp>
      <p:pic>
        <p:nvPicPr>
          <p:cNvPr descr="BRAC University Jobs 2020- Jobs in BRAC University- careerz360.com" id="361" name="Google Shape;361;p24"/>
          <p:cNvPicPr preferRelativeResize="0"/>
          <p:nvPr/>
        </p:nvPicPr>
        <p:blipFill rotWithShape="1">
          <a:blip r:embed="rId4">
            <a:alphaModFix/>
          </a:blip>
          <a:srcRect b="0" l="0" r="0" t="0"/>
          <a:stretch/>
        </p:blipFill>
        <p:spPr>
          <a:xfrm>
            <a:off x="10964009" y="0"/>
            <a:ext cx="1227668" cy="1189832"/>
          </a:xfrm>
          <a:prstGeom prst="rect">
            <a:avLst/>
          </a:prstGeom>
          <a:noFill/>
          <a:ln>
            <a:noFill/>
          </a:ln>
        </p:spPr>
      </p:pic>
      <p:sp>
        <p:nvSpPr>
          <p:cNvPr id="362" name="Google Shape;362;p24"/>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6" name="Shape 366"/>
        <p:cNvGrpSpPr/>
        <p:nvPr/>
      </p:nvGrpSpPr>
      <p:grpSpPr>
        <a:xfrm>
          <a:off x="0" y="0"/>
          <a:ext cx="0" cy="0"/>
          <a:chOff x="0" y="0"/>
          <a:chExt cx="0" cy="0"/>
        </a:xfrm>
      </p:grpSpPr>
      <p:sp>
        <p:nvSpPr>
          <p:cNvPr id="367" name="Google Shape;367;p25"/>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More Big-O</a:t>
            </a:r>
            <a:endParaRPr/>
          </a:p>
        </p:txBody>
      </p:sp>
      <p:sp>
        <p:nvSpPr>
          <p:cNvPr id="368" name="Google Shape;368;p25"/>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Prove that:</a:t>
            </a:r>
            <a:endParaRPr/>
          </a:p>
          <a:p>
            <a:pPr indent="-342900" lvl="0" marL="342900" rtl="0" algn="l">
              <a:spcBef>
                <a:spcPts val="560"/>
              </a:spcBef>
              <a:spcAft>
                <a:spcPts val="0"/>
              </a:spcAft>
              <a:buClr>
                <a:schemeClr val="accent2"/>
              </a:buClr>
              <a:buSzPts val="2800"/>
              <a:buFont typeface="Arial"/>
              <a:buChar char="•"/>
            </a:pPr>
            <a:r>
              <a:rPr lang="en-US"/>
              <a:t>Let </a:t>
            </a:r>
            <a:r>
              <a:rPr i="1" lang="en-US"/>
              <a:t>c</a:t>
            </a:r>
            <a:r>
              <a:rPr lang="en-US"/>
              <a:t> = 21 and </a:t>
            </a:r>
            <a:r>
              <a:rPr i="1" lang="en-US"/>
              <a:t>n</a:t>
            </a:r>
            <a:r>
              <a:rPr baseline="-25000" i="1" lang="en-US"/>
              <a:t>0</a:t>
            </a:r>
            <a:r>
              <a:rPr lang="en-US"/>
              <a:t> = 4</a:t>
            </a:r>
            <a:endParaRPr/>
          </a:p>
          <a:p>
            <a:pPr indent="-342900" lvl="0" marL="342900" rtl="0" algn="l">
              <a:spcBef>
                <a:spcPts val="560"/>
              </a:spcBef>
              <a:spcAft>
                <a:spcPts val="0"/>
              </a:spcAft>
              <a:buClr>
                <a:schemeClr val="accent2"/>
              </a:buClr>
              <a:buSzPts val="2800"/>
              <a:buFont typeface="Arial"/>
              <a:buChar char="•"/>
            </a:pPr>
            <a:r>
              <a:rPr lang="en-US"/>
              <a:t>21</a:t>
            </a:r>
            <a:r>
              <a:rPr i="1" lang="en-US"/>
              <a:t>n</a:t>
            </a:r>
            <a:r>
              <a:rPr baseline="30000" lang="en-US"/>
              <a:t>2</a:t>
            </a:r>
            <a:r>
              <a:rPr lang="en-US"/>
              <a:t> &gt; 20</a:t>
            </a:r>
            <a:r>
              <a:rPr i="1" lang="en-US"/>
              <a:t>n</a:t>
            </a:r>
            <a:r>
              <a:rPr baseline="30000" lang="en-US"/>
              <a:t>2</a:t>
            </a:r>
            <a:r>
              <a:rPr lang="en-US"/>
              <a:t> + 2</a:t>
            </a:r>
            <a:r>
              <a:rPr i="1" lang="en-US"/>
              <a:t>n</a:t>
            </a:r>
            <a:r>
              <a:rPr lang="en-US"/>
              <a:t> + 5  for all </a:t>
            </a:r>
            <a:r>
              <a:rPr i="1" lang="en-US"/>
              <a:t>n</a:t>
            </a:r>
            <a:r>
              <a:rPr lang="en-US"/>
              <a:t> &gt; 4</a:t>
            </a:r>
            <a:endParaRPr/>
          </a:p>
          <a:p>
            <a:pPr indent="-342900" lvl="0" marL="342900" rtl="0" algn="l">
              <a:spcBef>
                <a:spcPts val="560"/>
              </a:spcBef>
              <a:spcAft>
                <a:spcPts val="0"/>
              </a:spcAft>
              <a:buClr>
                <a:schemeClr val="accent2"/>
              </a:buClr>
              <a:buSzPts val="2800"/>
              <a:buFont typeface="Noto Sans Symbols"/>
              <a:buNone/>
            </a:pPr>
            <a:r>
              <a:rPr lang="en-US"/>
              <a:t>	 </a:t>
            </a:r>
            <a:r>
              <a:rPr i="1" lang="en-US"/>
              <a:t>n</a:t>
            </a:r>
            <a:r>
              <a:rPr baseline="30000" lang="en-US"/>
              <a:t>2</a:t>
            </a:r>
            <a:r>
              <a:rPr lang="en-US"/>
              <a:t> &gt; 2</a:t>
            </a:r>
            <a:r>
              <a:rPr i="1" lang="en-US"/>
              <a:t>n</a:t>
            </a:r>
            <a:r>
              <a:rPr lang="en-US"/>
              <a:t> + 5  for all </a:t>
            </a:r>
            <a:r>
              <a:rPr i="1" lang="en-US"/>
              <a:t>n</a:t>
            </a:r>
            <a:r>
              <a:rPr lang="en-US"/>
              <a:t> &gt; 4</a:t>
            </a:r>
            <a:endParaRPr/>
          </a:p>
          <a:p>
            <a:pPr indent="-342900" lvl="0" marL="342900" rtl="0" algn="l">
              <a:spcBef>
                <a:spcPts val="560"/>
              </a:spcBef>
              <a:spcAft>
                <a:spcPts val="0"/>
              </a:spcAft>
              <a:buClr>
                <a:schemeClr val="accent2"/>
              </a:buClr>
              <a:buSzPts val="2800"/>
              <a:buFont typeface="Noto Sans Symbols"/>
              <a:buNone/>
            </a:pPr>
            <a:r>
              <a:rPr lang="en-US"/>
              <a:t>	TRUE</a:t>
            </a:r>
            <a:endParaRPr/>
          </a:p>
        </p:txBody>
      </p:sp>
      <p:sp>
        <p:nvSpPr>
          <p:cNvPr id="369" name="Google Shape;369;p25"/>
          <p:cNvSpPr txBox="1"/>
          <p:nvPr/>
        </p:nvSpPr>
        <p:spPr>
          <a:xfrm>
            <a:off x="4191000" y="1138238"/>
            <a:ext cx="3886200" cy="64611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pic>
        <p:nvPicPr>
          <p:cNvPr descr="BRAC University Jobs 2020- Jobs in BRAC University- careerz360.com" id="370" name="Google Shape;370;p25"/>
          <p:cNvPicPr preferRelativeResize="0"/>
          <p:nvPr/>
        </p:nvPicPr>
        <p:blipFill rotWithShape="1">
          <a:blip r:embed="rId4">
            <a:alphaModFix/>
          </a:blip>
          <a:srcRect b="0" l="0" r="0" t="0"/>
          <a:stretch/>
        </p:blipFill>
        <p:spPr>
          <a:xfrm>
            <a:off x="10964009" y="0"/>
            <a:ext cx="1227668" cy="1189832"/>
          </a:xfrm>
          <a:prstGeom prst="rect">
            <a:avLst/>
          </a:prstGeom>
          <a:noFill/>
          <a:ln>
            <a:noFill/>
          </a:ln>
        </p:spPr>
      </p:pic>
      <p:sp>
        <p:nvSpPr>
          <p:cNvPr id="371" name="Google Shape;371;p25"/>
          <p:cNvSpPr txBox="1"/>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400">
                <a:solidFill>
                  <a:schemeClr val="dk1"/>
                </a:solidFill>
                <a:latin typeface="Arial"/>
                <a:ea typeface="Arial"/>
                <a:cs typeface="Arial"/>
                <a:sym typeface="Arial"/>
              </a:rPr>
              <a:t>‹#›</a:t>
            </a:fld>
            <a:endParaRPr sz="140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5" name="Shape 375"/>
        <p:cNvGrpSpPr/>
        <p:nvPr/>
      </p:nvGrpSpPr>
      <p:grpSpPr>
        <a:xfrm>
          <a:off x="0" y="0"/>
          <a:ext cx="0" cy="0"/>
          <a:chOff x="0" y="0"/>
          <a:chExt cx="0" cy="0"/>
        </a:xfrm>
      </p:grpSpPr>
      <p:sp>
        <p:nvSpPr>
          <p:cNvPr id="376" name="Google Shape;376;p26"/>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Tight bounds</a:t>
            </a:r>
            <a:endParaRPr/>
          </a:p>
        </p:txBody>
      </p:sp>
      <p:sp>
        <p:nvSpPr>
          <p:cNvPr id="377" name="Google Shape;377;p26"/>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We generally want the tightest bound we can find.</a:t>
            </a:r>
            <a:endParaRPr/>
          </a:p>
          <a:p>
            <a:pPr indent="-342900" lvl="0" marL="342900" rtl="0" algn="l">
              <a:spcBef>
                <a:spcPts val="560"/>
              </a:spcBef>
              <a:spcAft>
                <a:spcPts val="0"/>
              </a:spcAft>
              <a:buClr>
                <a:schemeClr val="accent2"/>
              </a:buClr>
              <a:buSzPts val="2800"/>
              <a:buFont typeface="Arial"/>
              <a:buChar char="•"/>
            </a:pPr>
            <a:r>
              <a:rPr lang="en-US"/>
              <a:t>While it is true that </a:t>
            </a:r>
            <a:r>
              <a:rPr i="1" lang="en-US"/>
              <a:t>n</a:t>
            </a:r>
            <a:r>
              <a:rPr baseline="30000" lang="en-US"/>
              <a:t>2</a:t>
            </a:r>
            <a:r>
              <a:rPr lang="en-US"/>
              <a:t> + 7</a:t>
            </a:r>
            <a:r>
              <a:rPr i="1" lang="en-US"/>
              <a:t>n</a:t>
            </a:r>
            <a:r>
              <a:rPr lang="en-US"/>
              <a:t> is in O(</a:t>
            </a:r>
            <a:r>
              <a:rPr i="1" lang="en-US"/>
              <a:t>n</a:t>
            </a:r>
            <a:r>
              <a:rPr baseline="30000" lang="en-US"/>
              <a:t>3</a:t>
            </a:r>
            <a:r>
              <a:rPr lang="en-US"/>
              <a:t>), it is more interesting to say that it is in O(</a:t>
            </a:r>
            <a:r>
              <a:rPr i="1" lang="en-US"/>
              <a:t>n</a:t>
            </a:r>
            <a:r>
              <a:rPr baseline="30000" lang="en-US"/>
              <a:t>2</a:t>
            </a:r>
            <a:r>
              <a:rPr lang="en-US"/>
              <a:t>)</a:t>
            </a:r>
            <a:endParaRPr/>
          </a:p>
        </p:txBody>
      </p:sp>
      <p:pic>
        <p:nvPicPr>
          <p:cNvPr descr="BRAC University Jobs 2020- Jobs in BRAC University- careerz360.com" id="378" name="Google Shape;378;p26"/>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379" name="Google Shape;379;p26"/>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3" name="Shape 383"/>
        <p:cNvGrpSpPr/>
        <p:nvPr/>
      </p:nvGrpSpPr>
      <p:grpSpPr>
        <a:xfrm>
          <a:off x="0" y="0"/>
          <a:ext cx="0" cy="0"/>
          <a:chOff x="0" y="0"/>
          <a:chExt cx="0" cy="0"/>
        </a:xfrm>
      </p:grpSpPr>
      <p:sp>
        <p:nvSpPr>
          <p:cNvPr id="384" name="Google Shape;384;p27"/>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Big Omega – Notation</a:t>
            </a:r>
            <a:endParaRPr/>
          </a:p>
        </p:txBody>
      </p:sp>
      <p:sp>
        <p:nvSpPr>
          <p:cNvPr id="385" name="Google Shape;385;p27"/>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Ω() – A </a:t>
            </a:r>
            <a:r>
              <a:rPr b="1" lang="en-US"/>
              <a:t>lower</a:t>
            </a:r>
            <a:r>
              <a:rPr lang="en-US"/>
              <a:t> bound</a:t>
            </a:r>
            <a:endParaRPr/>
          </a:p>
          <a:p>
            <a:pPr indent="-133350" lvl="1" marL="742950" rtl="0" algn="l">
              <a:spcBef>
                <a:spcPts val="480"/>
              </a:spcBef>
              <a:spcAft>
                <a:spcPts val="0"/>
              </a:spcAft>
              <a:buClr>
                <a:schemeClr val="dk1"/>
              </a:buClr>
              <a:buSzPts val="2400"/>
              <a:buFont typeface="Arial"/>
              <a:buNone/>
            </a:pPr>
            <a:r>
              <a:t/>
            </a:r>
            <a:endParaRPr/>
          </a:p>
          <a:p>
            <a:pPr indent="-133350" lvl="1" marL="742950" rtl="0" algn="l">
              <a:spcBef>
                <a:spcPts val="480"/>
              </a:spcBef>
              <a:spcAft>
                <a:spcPts val="0"/>
              </a:spcAft>
              <a:buClr>
                <a:schemeClr val="dk1"/>
              </a:buClr>
              <a:buSzPts val="2400"/>
              <a:buFont typeface="Arial"/>
              <a:buNone/>
            </a:pPr>
            <a:r>
              <a:t/>
            </a:r>
            <a:endParaRPr/>
          </a:p>
          <a:p>
            <a:pPr indent="-133350" lvl="1" marL="742950" rtl="0" algn="l">
              <a:spcBef>
                <a:spcPts val="480"/>
              </a:spcBef>
              <a:spcAft>
                <a:spcPts val="0"/>
              </a:spcAft>
              <a:buClr>
                <a:schemeClr val="dk1"/>
              </a:buClr>
              <a:buSzPts val="2400"/>
              <a:buFont typeface="Arial"/>
              <a:buNone/>
            </a:pPr>
            <a:r>
              <a:t/>
            </a:r>
            <a:endParaRPr/>
          </a:p>
          <a:p>
            <a:pPr indent="-285750" lvl="1" marL="742950" rtl="0" algn="l">
              <a:spcBef>
                <a:spcPts val="480"/>
              </a:spcBef>
              <a:spcAft>
                <a:spcPts val="0"/>
              </a:spcAft>
              <a:buClr>
                <a:schemeClr val="dk1"/>
              </a:buClr>
              <a:buSzPts val="2400"/>
              <a:buFont typeface="Arial"/>
              <a:buChar char="–"/>
            </a:pPr>
            <a:r>
              <a:rPr i="1" lang="en-US"/>
              <a:t>n</a:t>
            </a:r>
            <a:r>
              <a:rPr baseline="30000" lang="en-US"/>
              <a:t>2</a:t>
            </a:r>
            <a:r>
              <a:rPr lang="en-US"/>
              <a:t> = Ω(</a:t>
            </a:r>
            <a:r>
              <a:rPr i="1" lang="en-US"/>
              <a:t>n</a:t>
            </a:r>
            <a:r>
              <a:rPr lang="en-US"/>
              <a:t>)</a:t>
            </a:r>
            <a:endParaRPr/>
          </a:p>
          <a:p>
            <a:pPr indent="-285750" lvl="1" marL="742950" rtl="0" algn="l">
              <a:spcBef>
                <a:spcPts val="480"/>
              </a:spcBef>
              <a:spcAft>
                <a:spcPts val="0"/>
              </a:spcAft>
              <a:buClr>
                <a:schemeClr val="dk1"/>
              </a:buClr>
              <a:buSzPts val="2400"/>
              <a:buFont typeface="Arial"/>
              <a:buChar char="–"/>
            </a:pPr>
            <a:r>
              <a:rPr lang="en-US"/>
              <a:t>Let </a:t>
            </a:r>
            <a:r>
              <a:rPr i="1" lang="en-US"/>
              <a:t>c</a:t>
            </a:r>
            <a:r>
              <a:rPr lang="en-US"/>
              <a:t> = 1, </a:t>
            </a:r>
            <a:r>
              <a:rPr i="1" lang="en-US"/>
              <a:t>n</a:t>
            </a:r>
            <a:r>
              <a:rPr baseline="-25000" lang="en-US"/>
              <a:t>0</a:t>
            </a:r>
            <a:r>
              <a:rPr lang="en-US"/>
              <a:t> = 2</a:t>
            </a:r>
            <a:endParaRPr/>
          </a:p>
          <a:p>
            <a:pPr indent="-285750" lvl="1" marL="742950" rtl="0" algn="l">
              <a:spcBef>
                <a:spcPts val="480"/>
              </a:spcBef>
              <a:spcAft>
                <a:spcPts val="0"/>
              </a:spcAft>
              <a:buClr>
                <a:schemeClr val="dk1"/>
              </a:buClr>
              <a:buSzPts val="2400"/>
              <a:buFont typeface="Arial"/>
              <a:buChar char="–"/>
            </a:pPr>
            <a:r>
              <a:rPr lang="en-US"/>
              <a:t>For all </a:t>
            </a:r>
            <a:r>
              <a:rPr i="1" lang="en-US"/>
              <a:t>n</a:t>
            </a:r>
            <a:r>
              <a:rPr lang="en-US"/>
              <a:t> ≥ 2, </a:t>
            </a:r>
            <a:r>
              <a:rPr i="1" lang="en-US"/>
              <a:t>n</a:t>
            </a:r>
            <a:r>
              <a:rPr baseline="30000" lang="en-US"/>
              <a:t>2</a:t>
            </a:r>
            <a:r>
              <a:rPr baseline="-25000" lang="en-US"/>
              <a:t> </a:t>
            </a:r>
            <a:r>
              <a:rPr lang="en-US"/>
              <a:t>&gt; 1 × </a:t>
            </a:r>
            <a:r>
              <a:rPr i="1" lang="en-US"/>
              <a:t>n</a:t>
            </a:r>
            <a:r>
              <a:rPr lang="en-US"/>
              <a:t> </a:t>
            </a:r>
            <a:endParaRPr/>
          </a:p>
        </p:txBody>
      </p:sp>
      <p:sp>
        <p:nvSpPr>
          <p:cNvPr id="386" name="Google Shape;386;p27"/>
          <p:cNvSpPr txBox="1"/>
          <p:nvPr/>
        </p:nvSpPr>
        <p:spPr>
          <a:xfrm>
            <a:off x="1968500" y="1828800"/>
            <a:ext cx="8408988" cy="973138"/>
          </a:xfrm>
          <a:prstGeom prst="rect">
            <a:avLst/>
          </a:prstGeom>
          <a:blipFill rotWithShape="1">
            <a:blip r:embed="rId3">
              <a:alphaModFix/>
            </a:blip>
            <a:stretch>
              <a:fillRect b="0" l="-217"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pic>
        <p:nvPicPr>
          <p:cNvPr descr="BRAC University Jobs 2020- Jobs in BRAC University- careerz360.com" id="387" name="Google Shape;387;p27"/>
          <p:cNvPicPr preferRelativeResize="0"/>
          <p:nvPr/>
        </p:nvPicPr>
        <p:blipFill rotWithShape="1">
          <a:blip r:embed="rId4">
            <a:alphaModFix/>
          </a:blip>
          <a:srcRect b="0" l="0" r="0" t="0"/>
          <a:stretch/>
        </p:blipFill>
        <p:spPr>
          <a:xfrm>
            <a:off x="10964009" y="0"/>
            <a:ext cx="1227668" cy="1189832"/>
          </a:xfrm>
          <a:prstGeom prst="rect">
            <a:avLst/>
          </a:prstGeom>
          <a:noFill/>
          <a:ln>
            <a:noFill/>
          </a:ln>
        </p:spPr>
      </p:pic>
      <p:sp>
        <p:nvSpPr>
          <p:cNvPr id="388" name="Google Shape;388;p27"/>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2" name="Shape 392"/>
        <p:cNvGrpSpPr/>
        <p:nvPr/>
      </p:nvGrpSpPr>
      <p:grpSpPr>
        <a:xfrm>
          <a:off x="0" y="0"/>
          <a:ext cx="0" cy="0"/>
          <a:chOff x="0" y="0"/>
          <a:chExt cx="0" cy="0"/>
        </a:xfrm>
      </p:grpSpPr>
      <p:sp>
        <p:nvSpPr>
          <p:cNvPr id="393" name="Google Shape;393;p28"/>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Visualization of Ω(</a:t>
            </a:r>
            <a:r>
              <a:rPr i="1" lang="en-US" sz="3600"/>
              <a:t>g</a:t>
            </a:r>
            <a:r>
              <a:rPr lang="en-US" sz="3600"/>
              <a:t>(</a:t>
            </a:r>
            <a:r>
              <a:rPr i="1" lang="en-US" sz="3600"/>
              <a:t>n</a:t>
            </a:r>
            <a:r>
              <a:rPr lang="en-US" sz="3600"/>
              <a:t>))</a:t>
            </a:r>
            <a:endParaRPr/>
          </a:p>
        </p:txBody>
      </p:sp>
      <p:cxnSp>
        <p:nvCxnSpPr>
          <p:cNvPr id="394" name="Google Shape;394;p28"/>
          <p:cNvCxnSpPr/>
          <p:nvPr/>
        </p:nvCxnSpPr>
        <p:spPr>
          <a:xfrm>
            <a:off x="2590800" y="1193800"/>
            <a:ext cx="0" cy="4648200"/>
          </a:xfrm>
          <a:prstGeom prst="straightConnector1">
            <a:avLst/>
          </a:prstGeom>
          <a:noFill/>
          <a:ln cap="flat" cmpd="sng" w="9525">
            <a:solidFill>
              <a:schemeClr val="dk1"/>
            </a:solidFill>
            <a:prstDash val="solid"/>
            <a:round/>
            <a:headEnd len="med" w="med" type="none"/>
            <a:tailEnd len="med" w="med" type="none"/>
          </a:ln>
        </p:spPr>
      </p:cxnSp>
      <p:cxnSp>
        <p:nvCxnSpPr>
          <p:cNvPr id="395" name="Google Shape;395;p28"/>
          <p:cNvCxnSpPr/>
          <p:nvPr/>
        </p:nvCxnSpPr>
        <p:spPr>
          <a:xfrm>
            <a:off x="2590800" y="5842000"/>
            <a:ext cx="7315200" cy="0"/>
          </a:xfrm>
          <a:prstGeom prst="straightConnector1">
            <a:avLst/>
          </a:prstGeom>
          <a:noFill/>
          <a:ln cap="flat" cmpd="sng" w="9525">
            <a:solidFill>
              <a:schemeClr val="dk1"/>
            </a:solidFill>
            <a:prstDash val="solid"/>
            <a:round/>
            <a:headEnd len="med" w="med" type="none"/>
            <a:tailEnd len="med" w="med" type="none"/>
          </a:ln>
        </p:spPr>
      </p:cxnSp>
      <p:sp>
        <p:nvSpPr>
          <p:cNvPr id="396" name="Google Shape;396;p28"/>
          <p:cNvSpPr/>
          <p:nvPr/>
        </p:nvSpPr>
        <p:spPr>
          <a:xfrm>
            <a:off x="2590800" y="1651000"/>
            <a:ext cx="5715000" cy="3429000"/>
          </a:xfrm>
          <a:custGeom>
            <a:rect b="b" l="l" r="r" t="t"/>
            <a:pathLst>
              <a:path extrusionOk="0" h="2160" w="3600">
                <a:moveTo>
                  <a:pt x="0" y="2160"/>
                </a:moveTo>
                <a:cubicBezTo>
                  <a:pt x="160" y="2152"/>
                  <a:pt x="320" y="2144"/>
                  <a:pt x="432" y="2112"/>
                </a:cubicBezTo>
                <a:cubicBezTo>
                  <a:pt x="544" y="2080"/>
                  <a:pt x="592" y="2040"/>
                  <a:pt x="672" y="1968"/>
                </a:cubicBezTo>
                <a:cubicBezTo>
                  <a:pt x="752" y="1896"/>
                  <a:pt x="800" y="1744"/>
                  <a:pt x="912" y="1680"/>
                </a:cubicBezTo>
                <a:cubicBezTo>
                  <a:pt x="1024" y="1616"/>
                  <a:pt x="1184" y="1680"/>
                  <a:pt x="1344" y="1584"/>
                </a:cubicBezTo>
                <a:cubicBezTo>
                  <a:pt x="1504" y="1488"/>
                  <a:pt x="1664" y="1208"/>
                  <a:pt x="1872" y="1104"/>
                </a:cubicBezTo>
                <a:cubicBezTo>
                  <a:pt x="2080" y="1000"/>
                  <a:pt x="2344" y="1096"/>
                  <a:pt x="2592" y="960"/>
                </a:cubicBezTo>
                <a:cubicBezTo>
                  <a:pt x="2840" y="824"/>
                  <a:pt x="3192" y="448"/>
                  <a:pt x="3360" y="288"/>
                </a:cubicBezTo>
                <a:cubicBezTo>
                  <a:pt x="3528" y="128"/>
                  <a:pt x="3564" y="64"/>
                  <a:pt x="360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7" name="Google Shape;397;p28"/>
          <p:cNvSpPr/>
          <p:nvPr/>
        </p:nvSpPr>
        <p:spPr>
          <a:xfrm>
            <a:off x="2590800" y="3403600"/>
            <a:ext cx="5715000" cy="1817688"/>
          </a:xfrm>
          <a:custGeom>
            <a:rect b="b" l="l" r="r" t="t"/>
            <a:pathLst>
              <a:path extrusionOk="0" h="1145" w="3600">
                <a:moveTo>
                  <a:pt x="0" y="720"/>
                </a:moveTo>
                <a:cubicBezTo>
                  <a:pt x="32" y="676"/>
                  <a:pt x="64" y="632"/>
                  <a:pt x="96" y="624"/>
                </a:cubicBezTo>
                <a:cubicBezTo>
                  <a:pt x="128" y="616"/>
                  <a:pt x="160" y="632"/>
                  <a:pt x="192" y="672"/>
                </a:cubicBezTo>
                <a:cubicBezTo>
                  <a:pt x="224" y="712"/>
                  <a:pt x="240" y="792"/>
                  <a:pt x="288" y="864"/>
                </a:cubicBezTo>
                <a:cubicBezTo>
                  <a:pt x="336" y="936"/>
                  <a:pt x="424" y="1063"/>
                  <a:pt x="480" y="1104"/>
                </a:cubicBezTo>
                <a:cubicBezTo>
                  <a:pt x="536" y="1145"/>
                  <a:pt x="590" y="1129"/>
                  <a:pt x="622" y="1113"/>
                </a:cubicBezTo>
                <a:cubicBezTo>
                  <a:pt x="654" y="1097"/>
                  <a:pt x="648" y="1105"/>
                  <a:pt x="672" y="1008"/>
                </a:cubicBezTo>
                <a:cubicBezTo>
                  <a:pt x="696" y="911"/>
                  <a:pt x="736" y="664"/>
                  <a:pt x="768" y="528"/>
                </a:cubicBezTo>
                <a:cubicBezTo>
                  <a:pt x="800" y="392"/>
                  <a:pt x="832" y="216"/>
                  <a:pt x="864" y="192"/>
                </a:cubicBezTo>
                <a:cubicBezTo>
                  <a:pt x="896" y="168"/>
                  <a:pt x="920" y="312"/>
                  <a:pt x="960" y="384"/>
                </a:cubicBezTo>
                <a:cubicBezTo>
                  <a:pt x="1000" y="456"/>
                  <a:pt x="1022" y="574"/>
                  <a:pt x="1104" y="624"/>
                </a:cubicBezTo>
                <a:cubicBezTo>
                  <a:pt x="1186" y="674"/>
                  <a:pt x="1366" y="695"/>
                  <a:pt x="1451" y="687"/>
                </a:cubicBezTo>
                <a:cubicBezTo>
                  <a:pt x="1536" y="679"/>
                  <a:pt x="1530" y="628"/>
                  <a:pt x="1616" y="577"/>
                </a:cubicBezTo>
                <a:cubicBezTo>
                  <a:pt x="1702" y="526"/>
                  <a:pt x="1829" y="440"/>
                  <a:pt x="1968" y="384"/>
                </a:cubicBezTo>
                <a:cubicBezTo>
                  <a:pt x="2107" y="328"/>
                  <a:pt x="2280" y="288"/>
                  <a:pt x="2448" y="240"/>
                </a:cubicBezTo>
                <a:cubicBezTo>
                  <a:pt x="2616" y="192"/>
                  <a:pt x="2784" y="136"/>
                  <a:pt x="2976" y="96"/>
                </a:cubicBezTo>
                <a:cubicBezTo>
                  <a:pt x="3168" y="56"/>
                  <a:pt x="3384" y="28"/>
                  <a:pt x="360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98" name="Google Shape;398;p28"/>
          <p:cNvCxnSpPr/>
          <p:nvPr/>
        </p:nvCxnSpPr>
        <p:spPr>
          <a:xfrm>
            <a:off x="4241800" y="3556000"/>
            <a:ext cx="0" cy="2286000"/>
          </a:xfrm>
          <a:prstGeom prst="straightConnector1">
            <a:avLst/>
          </a:prstGeom>
          <a:noFill/>
          <a:ln cap="flat" cmpd="sng" w="12700">
            <a:solidFill>
              <a:schemeClr val="dk1"/>
            </a:solidFill>
            <a:prstDash val="dash"/>
            <a:round/>
            <a:headEnd len="med" w="med" type="none"/>
            <a:tailEnd len="med" w="med" type="none"/>
          </a:ln>
        </p:spPr>
      </p:cxnSp>
      <p:sp>
        <p:nvSpPr>
          <p:cNvPr id="399" name="Google Shape;399;p28"/>
          <p:cNvSpPr txBox="1"/>
          <p:nvPr/>
        </p:nvSpPr>
        <p:spPr>
          <a:xfrm>
            <a:off x="4022725" y="5807075"/>
            <a:ext cx="3978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n</a:t>
            </a:r>
            <a:r>
              <a:rPr baseline="-25000" i="1" lang="en-US" sz="1800">
                <a:solidFill>
                  <a:schemeClr val="dk1"/>
                </a:solidFill>
                <a:latin typeface="Arial"/>
                <a:ea typeface="Arial"/>
                <a:cs typeface="Arial"/>
                <a:sym typeface="Arial"/>
              </a:rPr>
              <a:t>0</a:t>
            </a:r>
            <a:endParaRPr i="1" sz="1800">
              <a:solidFill>
                <a:schemeClr val="dk1"/>
              </a:solidFill>
              <a:latin typeface="Arial"/>
              <a:ea typeface="Arial"/>
              <a:cs typeface="Arial"/>
              <a:sym typeface="Arial"/>
            </a:endParaRPr>
          </a:p>
        </p:txBody>
      </p:sp>
      <p:sp>
        <p:nvSpPr>
          <p:cNvPr id="400" name="Google Shape;400;p28"/>
          <p:cNvSpPr txBox="1"/>
          <p:nvPr/>
        </p:nvSpPr>
        <p:spPr>
          <a:xfrm>
            <a:off x="8305800" y="3124200"/>
            <a:ext cx="7104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cg</a:t>
            </a:r>
            <a:r>
              <a:rPr lang="en-US" sz="1800">
                <a:solidFill>
                  <a:schemeClr val="dk1"/>
                </a:solidFill>
                <a:latin typeface="Arial"/>
                <a:ea typeface="Arial"/>
                <a:cs typeface="Arial"/>
                <a:sym typeface="Arial"/>
              </a:rPr>
              <a:t>(</a:t>
            </a:r>
            <a:r>
              <a:rPr i="1" lang="en-US" sz="1800">
                <a:solidFill>
                  <a:schemeClr val="dk1"/>
                </a:solidFill>
                <a:latin typeface="Arial"/>
                <a:ea typeface="Arial"/>
                <a:cs typeface="Arial"/>
                <a:sym typeface="Arial"/>
              </a:rPr>
              <a:t>n</a:t>
            </a:r>
            <a:r>
              <a:rPr lang="en-US" sz="1800">
                <a:solidFill>
                  <a:schemeClr val="dk1"/>
                </a:solidFill>
                <a:latin typeface="Arial"/>
                <a:ea typeface="Arial"/>
                <a:cs typeface="Arial"/>
                <a:sym typeface="Arial"/>
              </a:rPr>
              <a:t>)</a:t>
            </a:r>
            <a:endParaRPr/>
          </a:p>
        </p:txBody>
      </p:sp>
      <p:sp>
        <p:nvSpPr>
          <p:cNvPr id="401" name="Google Shape;401;p28"/>
          <p:cNvSpPr txBox="1"/>
          <p:nvPr/>
        </p:nvSpPr>
        <p:spPr>
          <a:xfrm>
            <a:off x="8305800" y="1371600"/>
            <a:ext cx="5309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f</a:t>
            </a:r>
            <a:r>
              <a:rPr lang="en-US" sz="1800">
                <a:solidFill>
                  <a:schemeClr val="dk1"/>
                </a:solidFill>
                <a:latin typeface="Arial"/>
                <a:ea typeface="Arial"/>
                <a:cs typeface="Arial"/>
                <a:sym typeface="Arial"/>
              </a:rPr>
              <a:t>(</a:t>
            </a:r>
            <a:r>
              <a:rPr i="1" lang="en-US" sz="1800">
                <a:solidFill>
                  <a:schemeClr val="dk1"/>
                </a:solidFill>
                <a:latin typeface="Arial"/>
                <a:ea typeface="Arial"/>
                <a:cs typeface="Arial"/>
                <a:sym typeface="Arial"/>
              </a:rPr>
              <a:t>n</a:t>
            </a:r>
            <a:r>
              <a:rPr lang="en-US" sz="1800">
                <a:solidFill>
                  <a:schemeClr val="dk1"/>
                </a:solidFill>
                <a:latin typeface="Arial"/>
                <a:ea typeface="Arial"/>
                <a:cs typeface="Arial"/>
                <a:sym typeface="Arial"/>
              </a:rPr>
              <a:t>)</a:t>
            </a:r>
            <a:endParaRPr i="1" sz="1800">
              <a:solidFill>
                <a:schemeClr val="dk1"/>
              </a:solidFill>
              <a:latin typeface="Arial"/>
              <a:ea typeface="Arial"/>
              <a:cs typeface="Arial"/>
              <a:sym typeface="Arial"/>
            </a:endParaRPr>
          </a:p>
        </p:txBody>
      </p:sp>
      <p:pic>
        <p:nvPicPr>
          <p:cNvPr descr="BRAC University Jobs 2020- Jobs in BRAC University- careerz360.com" id="402" name="Google Shape;402;p28"/>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403" name="Google Shape;403;p28"/>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7" name="Shape 407"/>
        <p:cNvGrpSpPr/>
        <p:nvPr/>
      </p:nvGrpSpPr>
      <p:grpSpPr>
        <a:xfrm>
          <a:off x="0" y="0"/>
          <a:ext cx="0" cy="0"/>
          <a:chOff x="0" y="0"/>
          <a:chExt cx="0" cy="0"/>
        </a:xfrm>
      </p:grpSpPr>
      <p:sp>
        <p:nvSpPr>
          <p:cNvPr id="408" name="Google Shape;408;p29"/>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Θ-notation</a:t>
            </a:r>
            <a:endParaRPr/>
          </a:p>
        </p:txBody>
      </p:sp>
      <p:sp>
        <p:nvSpPr>
          <p:cNvPr id="409" name="Google Shape;409;p29"/>
          <p:cNvSpPr txBox="1"/>
          <p:nvPr>
            <p:ph idx="1" type="body"/>
          </p:nvPr>
        </p:nvSpPr>
        <p:spPr>
          <a:xfrm>
            <a:off x="628650" y="1323975"/>
            <a:ext cx="10698480" cy="51054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Big-</a:t>
            </a:r>
            <a:r>
              <a:rPr i="1" lang="en-US"/>
              <a:t>O</a:t>
            </a:r>
            <a:r>
              <a:rPr lang="en-US"/>
              <a:t> is not a tight upper bound.  In other words </a:t>
            </a:r>
            <a:r>
              <a:rPr i="1" lang="en-US"/>
              <a:t>n</a:t>
            </a:r>
            <a:r>
              <a:rPr lang="en-US"/>
              <a:t> = </a:t>
            </a:r>
            <a:r>
              <a:rPr i="1" lang="en-US"/>
              <a:t>O</a:t>
            </a:r>
            <a:r>
              <a:rPr lang="en-US"/>
              <a:t>(</a:t>
            </a:r>
            <a:r>
              <a:rPr i="1" lang="en-US"/>
              <a:t>n</a:t>
            </a:r>
            <a:r>
              <a:rPr baseline="30000" lang="en-US"/>
              <a:t>2</a:t>
            </a:r>
            <a:r>
              <a:rPr lang="en-US"/>
              <a:t>)</a:t>
            </a:r>
            <a:endParaRPr/>
          </a:p>
          <a:p>
            <a:pPr indent="-342900" lvl="0" marL="342900" rtl="0" algn="l">
              <a:spcBef>
                <a:spcPts val="560"/>
              </a:spcBef>
              <a:spcAft>
                <a:spcPts val="0"/>
              </a:spcAft>
              <a:buClr>
                <a:schemeClr val="accent2"/>
              </a:buClr>
              <a:buSzPts val="2800"/>
              <a:buFont typeface="Arial"/>
              <a:buChar char="•"/>
            </a:pPr>
            <a:r>
              <a:rPr lang="en-US"/>
              <a:t>Θ provides a tight bound</a:t>
            </a:r>
            <a:endParaRPr/>
          </a:p>
          <a:p>
            <a:pPr indent="-165100" lvl="0" marL="342900" rtl="0" algn="l">
              <a:spcBef>
                <a:spcPts val="560"/>
              </a:spcBef>
              <a:spcAft>
                <a:spcPts val="0"/>
              </a:spcAft>
              <a:buClr>
                <a:schemeClr val="accent2"/>
              </a:buClr>
              <a:buSzPts val="2800"/>
              <a:buFont typeface="Arial"/>
              <a:buNone/>
            </a:pPr>
            <a:r>
              <a:t/>
            </a:r>
            <a:endParaRPr/>
          </a:p>
          <a:p>
            <a:pPr indent="-165100" lvl="0" marL="342900" rtl="0" algn="l">
              <a:spcBef>
                <a:spcPts val="560"/>
              </a:spcBef>
              <a:spcAft>
                <a:spcPts val="0"/>
              </a:spcAft>
              <a:buClr>
                <a:schemeClr val="accent2"/>
              </a:buClr>
              <a:buSzPts val="2800"/>
              <a:buFont typeface="Arial"/>
              <a:buNone/>
            </a:pPr>
            <a:r>
              <a:t/>
            </a:r>
            <a:endParaRPr/>
          </a:p>
          <a:p>
            <a:pPr indent="-342900" lvl="0" marL="342900" rtl="0" algn="l">
              <a:spcBef>
                <a:spcPts val="560"/>
              </a:spcBef>
              <a:spcAft>
                <a:spcPts val="0"/>
              </a:spcAft>
              <a:buClr>
                <a:schemeClr val="accent2"/>
              </a:buClr>
              <a:buSzPts val="2800"/>
              <a:buFont typeface="Arial"/>
              <a:buChar char="•"/>
            </a:pPr>
            <a:r>
              <a:rPr lang="en-US"/>
              <a:t>In other words,</a:t>
            </a:r>
            <a:endParaRPr/>
          </a:p>
        </p:txBody>
      </p:sp>
      <p:sp>
        <p:nvSpPr>
          <p:cNvPr id="410" name="Google Shape;410;p29"/>
          <p:cNvSpPr txBox="1"/>
          <p:nvPr>
            <p:ph idx="2" type="body"/>
          </p:nvPr>
        </p:nvSpPr>
        <p:spPr>
          <a:xfrm>
            <a:off x="1790700" y="2513013"/>
            <a:ext cx="8610600" cy="915987"/>
          </a:xfrm>
          <a:prstGeom prst="rect">
            <a:avLst/>
          </a:prstGeom>
          <a:blipFill rotWithShape="1">
            <a:blip r:embed="rId3">
              <a:alphaModFix/>
            </a:blip>
            <a:stretch>
              <a:fillRect b="0" l="-494" r="0" t="0"/>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Font typeface="Arial"/>
              <a:buChar char="•"/>
            </a:pPr>
            <a:r>
              <a:rPr lang="en-US"/>
              <a:t> </a:t>
            </a:r>
            <a:endParaRPr/>
          </a:p>
        </p:txBody>
      </p:sp>
      <p:sp>
        <p:nvSpPr>
          <p:cNvPr id="411" name="Google Shape;411;p29"/>
          <p:cNvSpPr txBox="1"/>
          <p:nvPr/>
        </p:nvSpPr>
        <p:spPr>
          <a:xfrm>
            <a:off x="2095500" y="4218941"/>
            <a:ext cx="8001000" cy="495300"/>
          </a:xfrm>
          <a:prstGeom prst="rect">
            <a:avLst/>
          </a:prstGeom>
          <a:blipFill rotWithShape="1">
            <a:blip r:embed="rId4">
              <a:alphaModFix/>
            </a:blip>
            <a:stretch>
              <a:fillRect b="0" l="-227"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pic>
        <p:nvPicPr>
          <p:cNvPr descr="BRAC University Jobs 2020- Jobs in BRAC University- careerz360.com" id="412" name="Google Shape;412;p29"/>
          <p:cNvPicPr preferRelativeResize="0"/>
          <p:nvPr/>
        </p:nvPicPr>
        <p:blipFill rotWithShape="1">
          <a:blip r:embed="rId5">
            <a:alphaModFix/>
          </a:blip>
          <a:srcRect b="0" l="0" r="0" t="0"/>
          <a:stretch/>
        </p:blipFill>
        <p:spPr>
          <a:xfrm>
            <a:off x="10964009" y="0"/>
            <a:ext cx="1227668" cy="1189832"/>
          </a:xfrm>
          <a:prstGeom prst="rect">
            <a:avLst/>
          </a:prstGeom>
          <a:noFill/>
          <a:ln>
            <a:noFill/>
          </a:ln>
        </p:spPr>
      </p:pic>
      <p:sp>
        <p:nvSpPr>
          <p:cNvPr id="413" name="Google Shape;413;p29"/>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7" name="Shape 417"/>
        <p:cNvGrpSpPr/>
        <p:nvPr/>
      </p:nvGrpSpPr>
      <p:grpSpPr>
        <a:xfrm>
          <a:off x="0" y="0"/>
          <a:ext cx="0" cy="0"/>
          <a:chOff x="0" y="0"/>
          <a:chExt cx="0" cy="0"/>
        </a:xfrm>
      </p:grpSpPr>
      <p:sp>
        <p:nvSpPr>
          <p:cNvPr id="418" name="Google Shape;418;p30"/>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Visualization of Θ(</a:t>
            </a:r>
            <a:r>
              <a:rPr i="1" lang="en-US" sz="3600"/>
              <a:t>g</a:t>
            </a:r>
            <a:r>
              <a:rPr lang="en-US" sz="3600"/>
              <a:t>(</a:t>
            </a:r>
            <a:r>
              <a:rPr i="1" lang="en-US" sz="3600"/>
              <a:t>n</a:t>
            </a:r>
            <a:r>
              <a:rPr lang="en-US" sz="3600"/>
              <a:t>))</a:t>
            </a:r>
            <a:endParaRPr/>
          </a:p>
        </p:txBody>
      </p:sp>
      <p:cxnSp>
        <p:nvCxnSpPr>
          <p:cNvPr id="419" name="Google Shape;419;p30"/>
          <p:cNvCxnSpPr/>
          <p:nvPr/>
        </p:nvCxnSpPr>
        <p:spPr>
          <a:xfrm>
            <a:off x="2590800" y="1193800"/>
            <a:ext cx="0" cy="4648200"/>
          </a:xfrm>
          <a:prstGeom prst="straightConnector1">
            <a:avLst/>
          </a:prstGeom>
          <a:noFill/>
          <a:ln cap="flat" cmpd="sng" w="9525">
            <a:solidFill>
              <a:schemeClr val="dk1"/>
            </a:solidFill>
            <a:prstDash val="solid"/>
            <a:round/>
            <a:headEnd len="med" w="med" type="none"/>
            <a:tailEnd len="med" w="med" type="none"/>
          </a:ln>
        </p:spPr>
      </p:cxnSp>
      <p:cxnSp>
        <p:nvCxnSpPr>
          <p:cNvPr id="420" name="Google Shape;420;p30"/>
          <p:cNvCxnSpPr/>
          <p:nvPr/>
        </p:nvCxnSpPr>
        <p:spPr>
          <a:xfrm>
            <a:off x="2590800" y="5842000"/>
            <a:ext cx="7315200" cy="0"/>
          </a:xfrm>
          <a:prstGeom prst="straightConnector1">
            <a:avLst/>
          </a:prstGeom>
          <a:noFill/>
          <a:ln cap="flat" cmpd="sng" w="9525">
            <a:solidFill>
              <a:schemeClr val="dk1"/>
            </a:solidFill>
            <a:prstDash val="solid"/>
            <a:round/>
            <a:headEnd len="med" w="med" type="none"/>
            <a:tailEnd len="med" w="med" type="none"/>
          </a:ln>
        </p:spPr>
      </p:cxnSp>
      <p:sp>
        <p:nvSpPr>
          <p:cNvPr id="421" name="Google Shape;421;p30"/>
          <p:cNvSpPr/>
          <p:nvPr/>
        </p:nvSpPr>
        <p:spPr>
          <a:xfrm>
            <a:off x="2590800" y="1651000"/>
            <a:ext cx="5715000" cy="3429000"/>
          </a:xfrm>
          <a:custGeom>
            <a:rect b="b" l="l" r="r" t="t"/>
            <a:pathLst>
              <a:path extrusionOk="0" h="2160" w="3600">
                <a:moveTo>
                  <a:pt x="0" y="2160"/>
                </a:moveTo>
                <a:cubicBezTo>
                  <a:pt x="160" y="2152"/>
                  <a:pt x="320" y="2144"/>
                  <a:pt x="432" y="2112"/>
                </a:cubicBezTo>
                <a:cubicBezTo>
                  <a:pt x="544" y="2080"/>
                  <a:pt x="592" y="2040"/>
                  <a:pt x="672" y="1968"/>
                </a:cubicBezTo>
                <a:cubicBezTo>
                  <a:pt x="752" y="1896"/>
                  <a:pt x="800" y="1744"/>
                  <a:pt x="912" y="1680"/>
                </a:cubicBezTo>
                <a:cubicBezTo>
                  <a:pt x="1024" y="1616"/>
                  <a:pt x="1184" y="1680"/>
                  <a:pt x="1344" y="1584"/>
                </a:cubicBezTo>
                <a:cubicBezTo>
                  <a:pt x="1504" y="1488"/>
                  <a:pt x="1664" y="1208"/>
                  <a:pt x="1872" y="1104"/>
                </a:cubicBezTo>
                <a:cubicBezTo>
                  <a:pt x="2080" y="1000"/>
                  <a:pt x="2344" y="1096"/>
                  <a:pt x="2592" y="960"/>
                </a:cubicBezTo>
                <a:cubicBezTo>
                  <a:pt x="2840" y="824"/>
                  <a:pt x="3192" y="448"/>
                  <a:pt x="3360" y="288"/>
                </a:cubicBezTo>
                <a:cubicBezTo>
                  <a:pt x="3528" y="128"/>
                  <a:pt x="3564" y="64"/>
                  <a:pt x="360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2" name="Google Shape;422;p30"/>
          <p:cNvSpPr/>
          <p:nvPr/>
        </p:nvSpPr>
        <p:spPr>
          <a:xfrm>
            <a:off x="2590801" y="2755900"/>
            <a:ext cx="5859463" cy="2465388"/>
          </a:xfrm>
          <a:custGeom>
            <a:rect b="b" l="l" r="r" t="t"/>
            <a:pathLst>
              <a:path extrusionOk="0" h="1553" w="3691">
                <a:moveTo>
                  <a:pt x="0" y="1128"/>
                </a:moveTo>
                <a:cubicBezTo>
                  <a:pt x="32" y="1084"/>
                  <a:pt x="64" y="1040"/>
                  <a:pt x="96" y="1032"/>
                </a:cubicBezTo>
                <a:cubicBezTo>
                  <a:pt x="128" y="1024"/>
                  <a:pt x="160" y="1040"/>
                  <a:pt x="192" y="1080"/>
                </a:cubicBezTo>
                <a:cubicBezTo>
                  <a:pt x="224" y="1120"/>
                  <a:pt x="240" y="1200"/>
                  <a:pt x="288" y="1272"/>
                </a:cubicBezTo>
                <a:cubicBezTo>
                  <a:pt x="336" y="1344"/>
                  <a:pt x="424" y="1471"/>
                  <a:pt x="480" y="1512"/>
                </a:cubicBezTo>
                <a:cubicBezTo>
                  <a:pt x="536" y="1553"/>
                  <a:pt x="590" y="1537"/>
                  <a:pt x="622" y="1521"/>
                </a:cubicBezTo>
                <a:cubicBezTo>
                  <a:pt x="654" y="1505"/>
                  <a:pt x="648" y="1513"/>
                  <a:pt x="672" y="1416"/>
                </a:cubicBezTo>
                <a:cubicBezTo>
                  <a:pt x="696" y="1319"/>
                  <a:pt x="736" y="1072"/>
                  <a:pt x="768" y="936"/>
                </a:cubicBezTo>
                <a:cubicBezTo>
                  <a:pt x="800" y="800"/>
                  <a:pt x="832" y="624"/>
                  <a:pt x="864" y="600"/>
                </a:cubicBezTo>
                <a:cubicBezTo>
                  <a:pt x="896" y="576"/>
                  <a:pt x="920" y="720"/>
                  <a:pt x="960" y="792"/>
                </a:cubicBezTo>
                <a:cubicBezTo>
                  <a:pt x="1000" y="864"/>
                  <a:pt x="1022" y="982"/>
                  <a:pt x="1104" y="1032"/>
                </a:cubicBezTo>
                <a:cubicBezTo>
                  <a:pt x="1186" y="1082"/>
                  <a:pt x="1366" y="1103"/>
                  <a:pt x="1451" y="1095"/>
                </a:cubicBezTo>
                <a:cubicBezTo>
                  <a:pt x="1536" y="1087"/>
                  <a:pt x="1530" y="1036"/>
                  <a:pt x="1616" y="985"/>
                </a:cubicBezTo>
                <a:cubicBezTo>
                  <a:pt x="1702" y="934"/>
                  <a:pt x="1829" y="848"/>
                  <a:pt x="1968" y="792"/>
                </a:cubicBezTo>
                <a:cubicBezTo>
                  <a:pt x="2107" y="736"/>
                  <a:pt x="2280" y="696"/>
                  <a:pt x="2448" y="648"/>
                </a:cubicBezTo>
                <a:cubicBezTo>
                  <a:pt x="2616" y="600"/>
                  <a:pt x="2769" y="612"/>
                  <a:pt x="2976" y="504"/>
                </a:cubicBezTo>
                <a:cubicBezTo>
                  <a:pt x="3183" y="396"/>
                  <a:pt x="3542" y="105"/>
                  <a:pt x="3691"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23" name="Google Shape;423;p30"/>
          <p:cNvCxnSpPr/>
          <p:nvPr/>
        </p:nvCxnSpPr>
        <p:spPr>
          <a:xfrm>
            <a:off x="4241800" y="3556000"/>
            <a:ext cx="0" cy="2286000"/>
          </a:xfrm>
          <a:prstGeom prst="straightConnector1">
            <a:avLst/>
          </a:prstGeom>
          <a:noFill/>
          <a:ln cap="flat" cmpd="sng" w="12700">
            <a:solidFill>
              <a:schemeClr val="dk1"/>
            </a:solidFill>
            <a:prstDash val="dash"/>
            <a:round/>
            <a:headEnd len="med" w="med" type="none"/>
            <a:tailEnd len="med" w="med" type="none"/>
          </a:ln>
        </p:spPr>
      </p:cxnSp>
      <p:sp>
        <p:nvSpPr>
          <p:cNvPr id="424" name="Google Shape;424;p30"/>
          <p:cNvSpPr txBox="1"/>
          <p:nvPr/>
        </p:nvSpPr>
        <p:spPr>
          <a:xfrm>
            <a:off x="4022725" y="5807075"/>
            <a:ext cx="3978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n</a:t>
            </a:r>
            <a:r>
              <a:rPr baseline="-25000" i="1" lang="en-US" sz="1800">
                <a:solidFill>
                  <a:schemeClr val="dk1"/>
                </a:solidFill>
                <a:latin typeface="Arial"/>
                <a:ea typeface="Arial"/>
                <a:cs typeface="Arial"/>
                <a:sym typeface="Arial"/>
              </a:rPr>
              <a:t>0</a:t>
            </a:r>
            <a:endParaRPr i="1" sz="1800">
              <a:solidFill>
                <a:schemeClr val="dk1"/>
              </a:solidFill>
              <a:latin typeface="Arial"/>
              <a:ea typeface="Arial"/>
              <a:cs typeface="Arial"/>
              <a:sym typeface="Arial"/>
            </a:endParaRPr>
          </a:p>
        </p:txBody>
      </p:sp>
      <p:sp>
        <p:nvSpPr>
          <p:cNvPr id="425" name="Google Shape;425;p30"/>
          <p:cNvSpPr txBox="1"/>
          <p:nvPr/>
        </p:nvSpPr>
        <p:spPr>
          <a:xfrm>
            <a:off x="8289925" y="1336675"/>
            <a:ext cx="7954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c</a:t>
            </a:r>
            <a:r>
              <a:rPr baseline="-25000" lang="en-US" sz="1800">
                <a:solidFill>
                  <a:schemeClr val="dk1"/>
                </a:solidFill>
                <a:latin typeface="Arial"/>
                <a:ea typeface="Arial"/>
                <a:cs typeface="Arial"/>
                <a:sym typeface="Arial"/>
              </a:rPr>
              <a:t>2</a:t>
            </a:r>
            <a:r>
              <a:rPr i="1" lang="en-US" sz="1800">
                <a:solidFill>
                  <a:schemeClr val="dk1"/>
                </a:solidFill>
                <a:latin typeface="Arial"/>
                <a:ea typeface="Arial"/>
                <a:cs typeface="Arial"/>
                <a:sym typeface="Arial"/>
              </a:rPr>
              <a:t>g</a:t>
            </a:r>
            <a:r>
              <a:rPr lang="en-US" sz="1800">
                <a:solidFill>
                  <a:schemeClr val="dk1"/>
                </a:solidFill>
                <a:latin typeface="Arial"/>
                <a:ea typeface="Arial"/>
                <a:cs typeface="Arial"/>
                <a:sym typeface="Arial"/>
              </a:rPr>
              <a:t>(</a:t>
            </a:r>
            <a:r>
              <a:rPr i="1" lang="en-US" sz="1800">
                <a:solidFill>
                  <a:schemeClr val="dk1"/>
                </a:solidFill>
                <a:latin typeface="Arial"/>
                <a:ea typeface="Arial"/>
                <a:cs typeface="Arial"/>
                <a:sym typeface="Arial"/>
              </a:rPr>
              <a:t>n</a:t>
            </a:r>
            <a:r>
              <a:rPr lang="en-US" sz="1800">
                <a:solidFill>
                  <a:schemeClr val="dk1"/>
                </a:solidFill>
                <a:latin typeface="Arial"/>
                <a:ea typeface="Arial"/>
                <a:cs typeface="Arial"/>
                <a:sym typeface="Arial"/>
              </a:rPr>
              <a:t>)</a:t>
            </a:r>
            <a:endParaRPr/>
          </a:p>
        </p:txBody>
      </p:sp>
      <p:sp>
        <p:nvSpPr>
          <p:cNvPr id="426" name="Google Shape;426;p30"/>
          <p:cNvSpPr txBox="1"/>
          <p:nvPr/>
        </p:nvSpPr>
        <p:spPr>
          <a:xfrm>
            <a:off x="8458200" y="2514600"/>
            <a:ext cx="5309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f</a:t>
            </a:r>
            <a:r>
              <a:rPr lang="en-US" sz="1800">
                <a:solidFill>
                  <a:schemeClr val="dk1"/>
                </a:solidFill>
                <a:latin typeface="Arial"/>
                <a:ea typeface="Arial"/>
                <a:cs typeface="Arial"/>
                <a:sym typeface="Arial"/>
              </a:rPr>
              <a:t>(</a:t>
            </a:r>
            <a:r>
              <a:rPr i="1" lang="en-US" sz="1800">
                <a:solidFill>
                  <a:schemeClr val="dk1"/>
                </a:solidFill>
                <a:latin typeface="Arial"/>
                <a:ea typeface="Arial"/>
                <a:cs typeface="Arial"/>
                <a:sym typeface="Arial"/>
              </a:rPr>
              <a:t>n</a:t>
            </a:r>
            <a:r>
              <a:rPr lang="en-US" sz="1800">
                <a:solidFill>
                  <a:schemeClr val="dk1"/>
                </a:solidFill>
                <a:latin typeface="Arial"/>
                <a:ea typeface="Arial"/>
                <a:cs typeface="Arial"/>
                <a:sym typeface="Arial"/>
              </a:rPr>
              <a:t>)</a:t>
            </a:r>
            <a:endParaRPr i="1" sz="1800">
              <a:solidFill>
                <a:schemeClr val="dk1"/>
              </a:solidFill>
              <a:latin typeface="Arial"/>
              <a:ea typeface="Arial"/>
              <a:cs typeface="Arial"/>
              <a:sym typeface="Arial"/>
            </a:endParaRPr>
          </a:p>
        </p:txBody>
      </p:sp>
      <p:sp>
        <p:nvSpPr>
          <p:cNvPr id="427" name="Google Shape;427;p30"/>
          <p:cNvSpPr txBox="1"/>
          <p:nvPr/>
        </p:nvSpPr>
        <p:spPr>
          <a:xfrm>
            <a:off x="8305800" y="3200400"/>
            <a:ext cx="7954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c</a:t>
            </a:r>
            <a:r>
              <a:rPr baseline="-25000" lang="en-US" sz="1800">
                <a:solidFill>
                  <a:schemeClr val="dk1"/>
                </a:solidFill>
                <a:latin typeface="Arial"/>
                <a:ea typeface="Arial"/>
                <a:cs typeface="Arial"/>
                <a:sym typeface="Arial"/>
              </a:rPr>
              <a:t>1</a:t>
            </a:r>
            <a:r>
              <a:rPr i="1" lang="en-US" sz="1800">
                <a:solidFill>
                  <a:schemeClr val="dk1"/>
                </a:solidFill>
                <a:latin typeface="Arial"/>
                <a:ea typeface="Arial"/>
                <a:cs typeface="Arial"/>
                <a:sym typeface="Arial"/>
              </a:rPr>
              <a:t>g</a:t>
            </a:r>
            <a:r>
              <a:rPr lang="en-US" sz="1800">
                <a:solidFill>
                  <a:schemeClr val="dk1"/>
                </a:solidFill>
                <a:latin typeface="Arial"/>
                <a:ea typeface="Arial"/>
                <a:cs typeface="Arial"/>
                <a:sym typeface="Arial"/>
              </a:rPr>
              <a:t>(</a:t>
            </a:r>
            <a:r>
              <a:rPr i="1" lang="en-US" sz="1800">
                <a:solidFill>
                  <a:schemeClr val="dk1"/>
                </a:solidFill>
                <a:latin typeface="Arial"/>
                <a:ea typeface="Arial"/>
                <a:cs typeface="Arial"/>
                <a:sym typeface="Arial"/>
              </a:rPr>
              <a:t>n</a:t>
            </a:r>
            <a:r>
              <a:rPr lang="en-US" sz="1800">
                <a:solidFill>
                  <a:schemeClr val="dk1"/>
                </a:solidFill>
                <a:latin typeface="Arial"/>
                <a:ea typeface="Arial"/>
                <a:cs typeface="Arial"/>
                <a:sym typeface="Arial"/>
              </a:rPr>
              <a:t>)</a:t>
            </a:r>
            <a:endParaRPr/>
          </a:p>
        </p:txBody>
      </p:sp>
      <p:sp>
        <p:nvSpPr>
          <p:cNvPr id="428" name="Google Shape;428;p30"/>
          <p:cNvSpPr/>
          <p:nvPr/>
        </p:nvSpPr>
        <p:spPr>
          <a:xfrm>
            <a:off x="2590800" y="3429000"/>
            <a:ext cx="5715000" cy="2032000"/>
          </a:xfrm>
          <a:custGeom>
            <a:rect b="b" l="l" r="r" t="t"/>
            <a:pathLst>
              <a:path extrusionOk="0" h="2160" w="3600">
                <a:moveTo>
                  <a:pt x="0" y="2160"/>
                </a:moveTo>
                <a:cubicBezTo>
                  <a:pt x="160" y="2152"/>
                  <a:pt x="320" y="2144"/>
                  <a:pt x="432" y="2112"/>
                </a:cubicBezTo>
                <a:cubicBezTo>
                  <a:pt x="544" y="2080"/>
                  <a:pt x="592" y="2040"/>
                  <a:pt x="672" y="1968"/>
                </a:cubicBezTo>
                <a:cubicBezTo>
                  <a:pt x="752" y="1896"/>
                  <a:pt x="800" y="1744"/>
                  <a:pt x="912" y="1680"/>
                </a:cubicBezTo>
                <a:cubicBezTo>
                  <a:pt x="1024" y="1616"/>
                  <a:pt x="1184" y="1680"/>
                  <a:pt x="1344" y="1584"/>
                </a:cubicBezTo>
                <a:cubicBezTo>
                  <a:pt x="1504" y="1488"/>
                  <a:pt x="1664" y="1208"/>
                  <a:pt x="1872" y="1104"/>
                </a:cubicBezTo>
                <a:cubicBezTo>
                  <a:pt x="2080" y="1000"/>
                  <a:pt x="2344" y="1096"/>
                  <a:pt x="2592" y="960"/>
                </a:cubicBezTo>
                <a:cubicBezTo>
                  <a:pt x="2840" y="824"/>
                  <a:pt x="3192" y="448"/>
                  <a:pt x="3360" y="288"/>
                </a:cubicBezTo>
                <a:cubicBezTo>
                  <a:pt x="3528" y="128"/>
                  <a:pt x="3564" y="64"/>
                  <a:pt x="360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BRAC University Jobs 2020- Jobs in BRAC University- careerz360.com" id="429" name="Google Shape;429;p30"/>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430" name="Google Shape;430;p30"/>
          <p:cNvSpPr txBox="1"/>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400">
                <a:solidFill>
                  <a:schemeClr val="dk1"/>
                </a:solidFill>
                <a:latin typeface="Arial"/>
                <a:ea typeface="Arial"/>
                <a:cs typeface="Arial"/>
                <a:sym typeface="Arial"/>
              </a:rPr>
              <a:t>‹#›</a:t>
            </a:fld>
            <a:endParaRPr sz="1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4" name="Shape 434"/>
        <p:cNvGrpSpPr/>
        <p:nvPr/>
      </p:nvGrpSpPr>
      <p:grpSpPr>
        <a:xfrm>
          <a:off x="0" y="0"/>
          <a:ext cx="0" cy="0"/>
          <a:chOff x="0" y="0"/>
          <a:chExt cx="0" cy="0"/>
        </a:xfrm>
      </p:grpSpPr>
      <p:sp>
        <p:nvSpPr>
          <p:cNvPr id="435" name="Google Shape;435;p31"/>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A Few More Examples</a:t>
            </a:r>
            <a:endParaRPr/>
          </a:p>
        </p:txBody>
      </p:sp>
      <p:sp>
        <p:nvSpPr>
          <p:cNvPr id="436" name="Google Shape;436;p31"/>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i="1" lang="en-US"/>
              <a:t>n</a:t>
            </a:r>
            <a:r>
              <a:rPr lang="en-US"/>
              <a:t> = O(</a:t>
            </a:r>
            <a:r>
              <a:rPr i="1" lang="en-US"/>
              <a:t>n</a:t>
            </a:r>
            <a:r>
              <a:rPr baseline="30000" lang="en-US"/>
              <a:t>2</a:t>
            </a:r>
            <a:r>
              <a:rPr lang="en-US"/>
              <a:t>) ≠ Θ(</a:t>
            </a:r>
            <a:r>
              <a:rPr i="1" lang="en-US"/>
              <a:t>n</a:t>
            </a:r>
            <a:r>
              <a:rPr baseline="30000" lang="en-US"/>
              <a:t>2</a:t>
            </a:r>
            <a:r>
              <a:rPr lang="en-US"/>
              <a:t>)</a:t>
            </a:r>
            <a:endParaRPr/>
          </a:p>
          <a:p>
            <a:pPr indent="-342900" lvl="0" marL="342900" rtl="0" algn="l">
              <a:spcBef>
                <a:spcPts val="560"/>
              </a:spcBef>
              <a:spcAft>
                <a:spcPts val="0"/>
              </a:spcAft>
              <a:buClr>
                <a:schemeClr val="accent2"/>
              </a:buClr>
              <a:buSzPts val="2800"/>
              <a:buFont typeface="Arial"/>
              <a:buChar char="•"/>
            </a:pPr>
            <a:r>
              <a:rPr lang="en-US"/>
              <a:t>200</a:t>
            </a:r>
            <a:r>
              <a:rPr i="1" lang="en-US"/>
              <a:t>n</a:t>
            </a:r>
            <a:r>
              <a:rPr baseline="30000" lang="en-US"/>
              <a:t>2 </a:t>
            </a:r>
            <a:r>
              <a:rPr lang="en-US"/>
              <a:t>= O(</a:t>
            </a:r>
            <a:r>
              <a:rPr i="1" lang="en-US"/>
              <a:t>n</a:t>
            </a:r>
            <a:r>
              <a:rPr baseline="30000" lang="en-US"/>
              <a:t>2</a:t>
            </a:r>
            <a:r>
              <a:rPr lang="en-US"/>
              <a:t>) = Θ(</a:t>
            </a:r>
            <a:r>
              <a:rPr i="1" lang="en-US"/>
              <a:t>n</a:t>
            </a:r>
            <a:r>
              <a:rPr baseline="30000" lang="en-US"/>
              <a:t>2</a:t>
            </a:r>
            <a:r>
              <a:rPr lang="en-US"/>
              <a:t>)</a:t>
            </a:r>
            <a:endParaRPr/>
          </a:p>
          <a:p>
            <a:pPr indent="-342900" lvl="0" marL="342900" rtl="0" algn="l">
              <a:spcBef>
                <a:spcPts val="560"/>
              </a:spcBef>
              <a:spcAft>
                <a:spcPts val="0"/>
              </a:spcAft>
              <a:buClr>
                <a:schemeClr val="accent2"/>
              </a:buClr>
              <a:buSzPts val="2800"/>
              <a:buFont typeface="Arial"/>
              <a:buChar char="•"/>
            </a:pPr>
            <a:r>
              <a:rPr i="1" lang="en-US"/>
              <a:t>n</a:t>
            </a:r>
            <a:r>
              <a:rPr baseline="30000" lang="en-US"/>
              <a:t>2.5</a:t>
            </a:r>
            <a:r>
              <a:rPr lang="en-US"/>
              <a:t> ≠ O(</a:t>
            </a:r>
            <a:r>
              <a:rPr i="1" lang="en-US"/>
              <a:t>n</a:t>
            </a:r>
            <a:r>
              <a:rPr baseline="30000" lang="en-US"/>
              <a:t>2</a:t>
            </a:r>
            <a:r>
              <a:rPr lang="en-US"/>
              <a:t>) ≠ Θ(</a:t>
            </a:r>
            <a:r>
              <a:rPr i="1" lang="en-US"/>
              <a:t>n</a:t>
            </a:r>
            <a:r>
              <a:rPr baseline="30000" lang="en-US"/>
              <a:t>2</a:t>
            </a:r>
            <a:r>
              <a:rPr lang="en-US"/>
              <a:t>)</a:t>
            </a:r>
            <a:endParaRPr/>
          </a:p>
        </p:txBody>
      </p:sp>
      <p:pic>
        <p:nvPicPr>
          <p:cNvPr descr="BRAC University Jobs 2020- Jobs in BRAC University- careerz360.com" id="437" name="Google Shape;437;p31"/>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438" name="Google Shape;438;p31"/>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2" name="Shape 442"/>
        <p:cNvGrpSpPr/>
        <p:nvPr/>
      </p:nvGrpSpPr>
      <p:grpSpPr>
        <a:xfrm>
          <a:off x="0" y="0"/>
          <a:ext cx="0" cy="0"/>
          <a:chOff x="0" y="0"/>
          <a:chExt cx="0" cy="0"/>
        </a:xfrm>
      </p:grpSpPr>
      <p:sp>
        <p:nvSpPr>
          <p:cNvPr id="443" name="Google Shape;443;p32"/>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Example 2</a:t>
            </a:r>
            <a:endParaRPr/>
          </a:p>
        </p:txBody>
      </p:sp>
      <p:sp>
        <p:nvSpPr>
          <p:cNvPr id="444" name="Google Shape;444;p32"/>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Prove that:</a:t>
            </a:r>
            <a:endParaRPr/>
          </a:p>
          <a:p>
            <a:pPr indent="-165100" lvl="0" marL="342900" rtl="0" algn="l">
              <a:spcBef>
                <a:spcPts val="560"/>
              </a:spcBef>
              <a:spcAft>
                <a:spcPts val="0"/>
              </a:spcAft>
              <a:buClr>
                <a:schemeClr val="accent2"/>
              </a:buClr>
              <a:buSzPts val="2800"/>
              <a:buFont typeface="Arial"/>
              <a:buNone/>
            </a:pPr>
            <a:r>
              <a:t/>
            </a:r>
            <a:endParaRPr/>
          </a:p>
          <a:p>
            <a:pPr indent="-342900" lvl="0" marL="342900" rtl="0" algn="l">
              <a:spcBef>
                <a:spcPts val="560"/>
              </a:spcBef>
              <a:spcAft>
                <a:spcPts val="0"/>
              </a:spcAft>
              <a:buClr>
                <a:schemeClr val="accent2"/>
              </a:buClr>
              <a:buSzPts val="2800"/>
              <a:buFont typeface="Arial"/>
              <a:buChar char="•"/>
            </a:pPr>
            <a:r>
              <a:rPr lang="en-US"/>
              <a:t>Let </a:t>
            </a:r>
            <a:r>
              <a:rPr i="1" lang="en-US"/>
              <a:t>c</a:t>
            </a:r>
            <a:r>
              <a:rPr lang="en-US"/>
              <a:t> = 21 and </a:t>
            </a:r>
            <a:r>
              <a:rPr i="1" lang="en-US"/>
              <a:t>n</a:t>
            </a:r>
            <a:r>
              <a:rPr baseline="-25000" i="1" lang="en-US"/>
              <a:t>0</a:t>
            </a:r>
            <a:r>
              <a:rPr lang="en-US"/>
              <a:t> = 10</a:t>
            </a:r>
            <a:endParaRPr/>
          </a:p>
          <a:p>
            <a:pPr indent="-342900" lvl="0" marL="342900" rtl="0" algn="l">
              <a:spcBef>
                <a:spcPts val="560"/>
              </a:spcBef>
              <a:spcAft>
                <a:spcPts val="0"/>
              </a:spcAft>
              <a:buClr>
                <a:schemeClr val="accent2"/>
              </a:buClr>
              <a:buSzPts val="2800"/>
              <a:buFont typeface="Arial"/>
              <a:buChar char="•"/>
            </a:pPr>
            <a:r>
              <a:rPr lang="en-US"/>
              <a:t>21</a:t>
            </a:r>
            <a:r>
              <a:rPr i="1" lang="en-US"/>
              <a:t>n</a:t>
            </a:r>
            <a:r>
              <a:rPr baseline="30000" lang="en-US"/>
              <a:t>3</a:t>
            </a:r>
            <a:r>
              <a:rPr lang="en-US"/>
              <a:t> &gt; 20</a:t>
            </a:r>
            <a:r>
              <a:rPr i="1" lang="en-US"/>
              <a:t>n</a:t>
            </a:r>
            <a:r>
              <a:rPr baseline="30000" lang="en-US"/>
              <a:t>3</a:t>
            </a:r>
            <a:r>
              <a:rPr lang="en-US"/>
              <a:t> + 7</a:t>
            </a:r>
            <a:r>
              <a:rPr i="1" lang="en-US"/>
              <a:t>n</a:t>
            </a:r>
            <a:r>
              <a:rPr lang="en-US"/>
              <a:t> + 1000  for all </a:t>
            </a:r>
            <a:r>
              <a:rPr i="1" lang="en-US"/>
              <a:t>n</a:t>
            </a:r>
            <a:r>
              <a:rPr lang="en-US"/>
              <a:t> &gt; 10</a:t>
            </a:r>
            <a:endParaRPr/>
          </a:p>
          <a:p>
            <a:pPr indent="-342900" lvl="0" marL="342900" rtl="0" algn="l">
              <a:spcBef>
                <a:spcPts val="560"/>
              </a:spcBef>
              <a:spcAft>
                <a:spcPts val="0"/>
              </a:spcAft>
              <a:buClr>
                <a:schemeClr val="accent2"/>
              </a:buClr>
              <a:buSzPts val="2800"/>
              <a:buFont typeface="Noto Sans Symbols"/>
              <a:buNone/>
            </a:pPr>
            <a:r>
              <a:rPr lang="en-US"/>
              <a:t>	 </a:t>
            </a:r>
            <a:r>
              <a:rPr i="1" lang="en-US"/>
              <a:t>n</a:t>
            </a:r>
            <a:r>
              <a:rPr baseline="30000" lang="en-US"/>
              <a:t>3</a:t>
            </a:r>
            <a:r>
              <a:rPr lang="en-US"/>
              <a:t> &gt; 7</a:t>
            </a:r>
            <a:r>
              <a:rPr i="1" lang="en-US"/>
              <a:t>n</a:t>
            </a:r>
            <a:r>
              <a:rPr lang="en-US"/>
              <a:t> + 5  for all </a:t>
            </a:r>
            <a:r>
              <a:rPr i="1" lang="en-US"/>
              <a:t>n</a:t>
            </a:r>
            <a:r>
              <a:rPr lang="en-US"/>
              <a:t> &gt; 10</a:t>
            </a:r>
            <a:endParaRPr/>
          </a:p>
          <a:p>
            <a:pPr indent="-342900" lvl="0" marL="342900" rtl="0" algn="l">
              <a:spcBef>
                <a:spcPts val="560"/>
              </a:spcBef>
              <a:spcAft>
                <a:spcPts val="0"/>
              </a:spcAft>
              <a:buClr>
                <a:schemeClr val="accent2"/>
              </a:buClr>
              <a:buSzPts val="2800"/>
              <a:buFont typeface="Noto Sans Symbols"/>
              <a:buNone/>
            </a:pPr>
            <a:r>
              <a:rPr lang="en-US"/>
              <a:t>	TRUE, but we also need…</a:t>
            </a:r>
            <a:endParaRPr/>
          </a:p>
          <a:p>
            <a:pPr indent="-342900" lvl="0" marL="342900" rtl="0" algn="l">
              <a:spcBef>
                <a:spcPts val="560"/>
              </a:spcBef>
              <a:spcAft>
                <a:spcPts val="0"/>
              </a:spcAft>
              <a:buClr>
                <a:schemeClr val="accent2"/>
              </a:buClr>
              <a:buSzPts val="2800"/>
              <a:buFont typeface="Arial"/>
              <a:buChar char="•"/>
            </a:pPr>
            <a:r>
              <a:rPr lang="en-US"/>
              <a:t>Let </a:t>
            </a:r>
            <a:r>
              <a:rPr i="1" lang="en-US"/>
              <a:t>c</a:t>
            </a:r>
            <a:r>
              <a:rPr lang="en-US"/>
              <a:t> = 20 and </a:t>
            </a:r>
            <a:r>
              <a:rPr i="1" lang="en-US"/>
              <a:t>n</a:t>
            </a:r>
            <a:r>
              <a:rPr baseline="-25000" i="1" lang="en-US"/>
              <a:t>0</a:t>
            </a:r>
            <a:r>
              <a:rPr lang="en-US"/>
              <a:t> = 1</a:t>
            </a:r>
            <a:endParaRPr/>
          </a:p>
          <a:p>
            <a:pPr indent="-342900" lvl="0" marL="342900" rtl="0" algn="l">
              <a:spcBef>
                <a:spcPts val="560"/>
              </a:spcBef>
              <a:spcAft>
                <a:spcPts val="0"/>
              </a:spcAft>
              <a:buClr>
                <a:schemeClr val="accent2"/>
              </a:buClr>
              <a:buSzPts val="2800"/>
              <a:buFont typeface="Arial"/>
              <a:buChar char="•"/>
            </a:pPr>
            <a:r>
              <a:rPr lang="en-US"/>
              <a:t>20</a:t>
            </a:r>
            <a:r>
              <a:rPr i="1" lang="en-US"/>
              <a:t>n</a:t>
            </a:r>
            <a:r>
              <a:rPr baseline="30000" lang="en-US"/>
              <a:t>3</a:t>
            </a:r>
            <a:r>
              <a:rPr lang="en-US"/>
              <a:t> &lt; 20</a:t>
            </a:r>
            <a:r>
              <a:rPr i="1" lang="en-US"/>
              <a:t>n</a:t>
            </a:r>
            <a:r>
              <a:rPr baseline="30000" lang="en-US"/>
              <a:t>3</a:t>
            </a:r>
            <a:r>
              <a:rPr lang="en-US"/>
              <a:t> + 7</a:t>
            </a:r>
            <a:r>
              <a:rPr i="1" lang="en-US"/>
              <a:t>n</a:t>
            </a:r>
            <a:r>
              <a:rPr lang="en-US"/>
              <a:t> + 1000  for all </a:t>
            </a:r>
            <a:r>
              <a:rPr i="1" lang="en-US"/>
              <a:t>n</a:t>
            </a:r>
            <a:r>
              <a:rPr lang="en-US"/>
              <a:t> ≥ 1</a:t>
            </a:r>
            <a:endParaRPr/>
          </a:p>
          <a:p>
            <a:pPr indent="-342900" lvl="0" marL="342900" rtl="0" algn="l">
              <a:spcBef>
                <a:spcPts val="560"/>
              </a:spcBef>
              <a:spcAft>
                <a:spcPts val="0"/>
              </a:spcAft>
              <a:buClr>
                <a:schemeClr val="accent2"/>
              </a:buClr>
              <a:buSzPts val="2800"/>
              <a:buFont typeface="Noto Sans Symbols"/>
              <a:buNone/>
            </a:pPr>
            <a:r>
              <a:rPr lang="en-US"/>
              <a:t>	TRUE</a:t>
            </a:r>
            <a:endParaRPr/>
          </a:p>
        </p:txBody>
      </p:sp>
      <p:sp>
        <p:nvSpPr>
          <p:cNvPr id="445" name="Google Shape;445;p32"/>
          <p:cNvSpPr txBox="1"/>
          <p:nvPr/>
        </p:nvSpPr>
        <p:spPr>
          <a:xfrm>
            <a:off x="4248150" y="1168401"/>
            <a:ext cx="4514850" cy="646113"/>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pic>
        <p:nvPicPr>
          <p:cNvPr descr="BRAC University Jobs 2020- Jobs in BRAC University- careerz360.com" id="446" name="Google Shape;446;p32"/>
          <p:cNvPicPr preferRelativeResize="0"/>
          <p:nvPr/>
        </p:nvPicPr>
        <p:blipFill rotWithShape="1">
          <a:blip r:embed="rId4">
            <a:alphaModFix/>
          </a:blip>
          <a:srcRect b="0" l="0" r="0" t="0"/>
          <a:stretch/>
        </p:blipFill>
        <p:spPr>
          <a:xfrm>
            <a:off x="10964009" y="0"/>
            <a:ext cx="1227668" cy="1189832"/>
          </a:xfrm>
          <a:prstGeom prst="rect">
            <a:avLst/>
          </a:prstGeom>
          <a:noFill/>
          <a:ln>
            <a:noFill/>
          </a:ln>
        </p:spPr>
      </p:pic>
      <p:sp>
        <p:nvSpPr>
          <p:cNvPr id="447" name="Google Shape;447;p32"/>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1" name="Shape 451"/>
        <p:cNvGrpSpPr/>
        <p:nvPr/>
      </p:nvGrpSpPr>
      <p:grpSpPr>
        <a:xfrm>
          <a:off x="0" y="0"/>
          <a:ext cx="0" cy="0"/>
          <a:chOff x="0" y="0"/>
          <a:chExt cx="0" cy="0"/>
        </a:xfrm>
      </p:grpSpPr>
      <p:sp>
        <p:nvSpPr>
          <p:cNvPr id="452" name="Google Shape;452;p33"/>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Example 3</a:t>
            </a:r>
            <a:endParaRPr/>
          </a:p>
        </p:txBody>
      </p:sp>
      <p:sp>
        <p:nvSpPr>
          <p:cNvPr id="453" name="Google Shape;453;p33"/>
          <p:cNvSpPr txBox="1"/>
          <p:nvPr>
            <p:ph idx="1" type="body"/>
          </p:nvPr>
        </p:nvSpPr>
        <p:spPr>
          <a:xfrm>
            <a:off x="1905000" y="1009703"/>
            <a:ext cx="8382000" cy="5257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Show that</a:t>
            </a:r>
            <a:endParaRPr/>
          </a:p>
          <a:p>
            <a:pPr indent="-165100" lvl="0" marL="342900" rtl="0" algn="l">
              <a:spcBef>
                <a:spcPts val="560"/>
              </a:spcBef>
              <a:spcAft>
                <a:spcPts val="0"/>
              </a:spcAft>
              <a:buClr>
                <a:schemeClr val="accent2"/>
              </a:buClr>
              <a:buSzPts val="2800"/>
              <a:buFont typeface="Arial"/>
              <a:buNone/>
            </a:pPr>
            <a:r>
              <a:t/>
            </a:r>
            <a:endParaRPr/>
          </a:p>
          <a:p>
            <a:pPr indent="-342900" lvl="0" marL="342900" rtl="0" algn="l">
              <a:spcBef>
                <a:spcPts val="560"/>
              </a:spcBef>
              <a:spcAft>
                <a:spcPts val="0"/>
              </a:spcAft>
              <a:buClr>
                <a:schemeClr val="accent2"/>
              </a:buClr>
              <a:buSzPts val="2800"/>
              <a:buFont typeface="Arial"/>
              <a:buChar char="•"/>
            </a:pPr>
            <a:r>
              <a:rPr lang="en-US"/>
              <a:t>Let </a:t>
            </a:r>
            <a:r>
              <a:rPr i="1" lang="en-US"/>
              <a:t>c</a:t>
            </a:r>
            <a:r>
              <a:rPr lang="en-US"/>
              <a:t> = 2 and </a:t>
            </a:r>
            <a:r>
              <a:rPr i="1" lang="en-US"/>
              <a:t>n</a:t>
            </a:r>
            <a:r>
              <a:rPr baseline="-25000" lang="en-US"/>
              <a:t>0</a:t>
            </a:r>
            <a:r>
              <a:rPr lang="en-US"/>
              <a:t> = 5</a:t>
            </a:r>
            <a:endParaRPr/>
          </a:p>
          <a:p>
            <a:pPr indent="-165100" lvl="0" marL="342900" rtl="0" algn="l">
              <a:spcBef>
                <a:spcPts val="560"/>
              </a:spcBef>
              <a:spcAft>
                <a:spcPts val="0"/>
              </a:spcAft>
              <a:buClr>
                <a:schemeClr val="accent2"/>
              </a:buClr>
              <a:buSzPts val="2800"/>
              <a:buFont typeface="Arial"/>
              <a:buNone/>
            </a:pPr>
            <a:r>
              <a:t/>
            </a:r>
            <a:endParaRPr/>
          </a:p>
        </p:txBody>
      </p:sp>
      <p:sp>
        <p:nvSpPr>
          <p:cNvPr id="454" name="Google Shape;454;p33"/>
          <p:cNvSpPr txBox="1"/>
          <p:nvPr>
            <p:ph idx="2" type="body"/>
          </p:nvPr>
        </p:nvSpPr>
        <p:spPr>
          <a:xfrm>
            <a:off x="4013200" y="1133476"/>
            <a:ext cx="2209800" cy="525463"/>
          </a:xfrm>
          <a:prstGeom prst="rect">
            <a:avLst/>
          </a:prstGeom>
          <a:blipFill rotWithShape="1">
            <a:blip r:embed="rId3">
              <a:alphaModFix/>
            </a:blip>
            <a:stretch>
              <a:fillRect b="0" l="-274" r="0" t="0"/>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Font typeface="Arial"/>
              <a:buChar char="•"/>
            </a:pPr>
            <a:r>
              <a:rPr lang="en-US"/>
              <a:t> </a:t>
            </a:r>
            <a:endParaRPr/>
          </a:p>
        </p:txBody>
      </p:sp>
      <p:sp>
        <p:nvSpPr>
          <p:cNvPr id="455" name="Google Shape;455;p33"/>
          <p:cNvSpPr txBox="1"/>
          <p:nvPr/>
        </p:nvSpPr>
        <p:spPr>
          <a:xfrm>
            <a:off x="2438400" y="2578100"/>
            <a:ext cx="2355850" cy="2801938"/>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sp>
        <p:nvSpPr>
          <p:cNvPr id="456" name="Google Shape;456;p33"/>
          <p:cNvSpPr txBox="1"/>
          <p:nvPr/>
        </p:nvSpPr>
        <p:spPr>
          <a:xfrm>
            <a:off x="4800601" y="4886325"/>
            <a:ext cx="365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t>
            </a:r>
            <a:endParaRPr/>
          </a:p>
        </p:txBody>
      </p:sp>
      <p:pic>
        <p:nvPicPr>
          <p:cNvPr descr="BRAC University Jobs 2020- Jobs in BRAC University- careerz360.com" id="457" name="Google Shape;457;p33"/>
          <p:cNvPicPr preferRelativeResize="0"/>
          <p:nvPr/>
        </p:nvPicPr>
        <p:blipFill rotWithShape="1">
          <a:blip r:embed="rId5">
            <a:alphaModFix/>
          </a:blip>
          <a:srcRect b="0" l="0" r="0" t="0"/>
          <a:stretch/>
        </p:blipFill>
        <p:spPr>
          <a:xfrm>
            <a:off x="10964009" y="0"/>
            <a:ext cx="1227668" cy="1189832"/>
          </a:xfrm>
          <a:prstGeom prst="rect">
            <a:avLst/>
          </a:prstGeom>
          <a:noFill/>
          <a:ln>
            <a:noFill/>
          </a:ln>
        </p:spPr>
      </p:pic>
      <p:sp>
        <p:nvSpPr>
          <p:cNvPr id="458" name="Google Shape;458;p33"/>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2" name="Shape 462"/>
        <p:cNvGrpSpPr/>
        <p:nvPr/>
      </p:nvGrpSpPr>
      <p:grpSpPr>
        <a:xfrm>
          <a:off x="0" y="0"/>
          <a:ext cx="0" cy="0"/>
          <a:chOff x="0" y="0"/>
          <a:chExt cx="0" cy="0"/>
        </a:xfrm>
      </p:grpSpPr>
      <p:sp>
        <p:nvSpPr>
          <p:cNvPr id="463" name="Google Shape;463;p34"/>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64" name="Google Shape;464;p34"/>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Asymptotic Notations - Examples</a:t>
            </a:r>
            <a:endParaRPr/>
          </a:p>
        </p:txBody>
      </p:sp>
      <p:sp>
        <p:nvSpPr>
          <p:cNvPr id="465" name="Google Shape;465;p34"/>
          <p:cNvSpPr txBox="1"/>
          <p:nvPr>
            <p:ph idx="1" type="body"/>
          </p:nvPr>
        </p:nvSpPr>
        <p:spPr>
          <a:xfrm>
            <a:off x="1687512" y="1214439"/>
            <a:ext cx="8408988" cy="5076825"/>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accent2"/>
              </a:buClr>
              <a:buSzPts val="2800"/>
              <a:buFont typeface="Arial"/>
              <a:buChar char="•"/>
            </a:pPr>
            <a:r>
              <a:rPr lang="en-US"/>
              <a:t>Θ notation</a:t>
            </a:r>
            <a:endParaRPr/>
          </a:p>
          <a:p>
            <a:pPr indent="-285750" lvl="1" marL="742950" rtl="0" algn="l">
              <a:lnSpc>
                <a:spcPct val="12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n</a:t>
            </a:r>
            <a:r>
              <a:rPr baseline="30000" lang="en-US">
                <a:latin typeface="Comic Sans MS"/>
                <a:ea typeface="Comic Sans MS"/>
                <a:cs typeface="Comic Sans MS"/>
                <a:sym typeface="Comic Sans MS"/>
              </a:rPr>
              <a:t>2</a:t>
            </a:r>
            <a:r>
              <a:rPr lang="en-US">
                <a:latin typeface="Comic Sans MS"/>
                <a:ea typeface="Comic Sans MS"/>
                <a:cs typeface="Comic Sans MS"/>
                <a:sym typeface="Comic Sans MS"/>
              </a:rPr>
              <a:t>/2 – n/2</a:t>
            </a:r>
            <a:endParaRPr/>
          </a:p>
          <a:p>
            <a:pPr indent="-285750" lvl="1" marL="742950" rtl="0" algn="l">
              <a:lnSpc>
                <a:spcPct val="12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(6n</a:t>
            </a:r>
            <a:r>
              <a:rPr baseline="30000" lang="en-US">
                <a:latin typeface="Comic Sans MS"/>
                <a:ea typeface="Comic Sans MS"/>
                <a:cs typeface="Comic Sans MS"/>
                <a:sym typeface="Comic Sans MS"/>
              </a:rPr>
              <a:t>3 </a:t>
            </a:r>
            <a:r>
              <a:rPr lang="en-US">
                <a:latin typeface="Comic Sans MS"/>
                <a:ea typeface="Comic Sans MS"/>
                <a:cs typeface="Comic Sans MS"/>
                <a:sym typeface="Comic Sans MS"/>
              </a:rPr>
              <a:t>+ 1)lgn/(n + 1) </a:t>
            </a:r>
            <a:endParaRPr/>
          </a:p>
          <a:p>
            <a:pPr indent="-285750" lvl="1" marL="742950" rtl="0" algn="l">
              <a:lnSpc>
                <a:spcPct val="12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n vs. n</a:t>
            </a:r>
            <a:r>
              <a:rPr baseline="30000" lang="en-US">
                <a:latin typeface="Comic Sans MS"/>
                <a:ea typeface="Comic Sans MS"/>
                <a:cs typeface="Comic Sans MS"/>
                <a:sym typeface="Comic Sans MS"/>
              </a:rPr>
              <a:t>2</a:t>
            </a:r>
            <a:endParaRPr>
              <a:latin typeface="Comic Sans MS"/>
              <a:ea typeface="Comic Sans MS"/>
              <a:cs typeface="Comic Sans MS"/>
              <a:sym typeface="Comic Sans MS"/>
            </a:endParaRPr>
          </a:p>
          <a:p>
            <a:pPr indent="-342900" lvl="0" marL="342900" rtl="0" algn="l">
              <a:lnSpc>
                <a:spcPct val="120000"/>
              </a:lnSpc>
              <a:spcBef>
                <a:spcPts val="560"/>
              </a:spcBef>
              <a:spcAft>
                <a:spcPts val="0"/>
              </a:spcAft>
              <a:buClr>
                <a:schemeClr val="accent2"/>
              </a:buClr>
              <a:buSzPts val="2800"/>
              <a:buFont typeface="Arial"/>
              <a:buChar char="•"/>
            </a:pPr>
            <a:r>
              <a:rPr lang="en-US"/>
              <a:t>Ω notation</a:t>
            </a:r>
            <a:endParaRPr/>
          </a:p>
          <a:p>
            <a:pPr indent="-285750" lvl="1" marL="742950" rtl="0" algn="l">
              <a:lnSpc>
                <a:spcPct val="12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n</a:t>
            </a:r>
            <a:r>
              <a:rPr baseline="30000" lang="en-US">
                <a:latin typeface="Comic Sans MS"/>
                <a:ea typeface="Comic Sans MS"/>
                <a:cs typeface="Comic Sans MS"/>
                <a:sym typeface="Comic Sans MS"/>
              </a:rPr>
              <a:t>3</a:t>
            </a:r>
            <a:r>
              <a:rPr lang="en-US">
                <a:latin typeface="Comic Sans MS"/>
                <a:ea typeface="Comic Sans MS"/>
                <a:cs typeface="Comic Sans MS"/>
                <a:sym typeface="Comic Sans MS"/>
              </a:rPr>
              <a:t> vs. n</a:t>
            </a:r>
            <a:r>
              <a:rPr baseline="30000" lang="en-US">
                <a:latin typeface="Comic Sans MS"/>
                <a:ea typeface="Comic Sans MS"/>
                <a:cs typeface="Comic Sans MS"/>
                <a:sym typeface="Comic Sans MS"/>
              </a:rPr>
              <a:t>2</a:t>
            </a:r>
            <a:endParaRPr>
              <a:latin typeface="Comic Sans MS"/>
              <a:ea typeface="Comic Sans MS"/>
              <a:cs typeface="Comic Sans MS"/>
              <a:sym typeface="Comic Sans MS"/>
            </a:endParaRPr>
          </a:p>
          <a:p>
            <a:pPr indent="-285750" lvl="1" marL="742950" rtl="0" algn="l">
              <a:lnSpc>
                <a:spcPct val="12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n vs. logn</a:t>
            </a:r>
            <a:endParaRPr>
              <a:latin typeface="Comic Sans MS"/>
              <a:ea typeface="Comic Sans MS"/>
              <a:cs typeface="Comic Sans MS"/>
              <a:sym typeface="Comic Sans MS"/>
            </a:endParaRPr>
          </a:p>
          <a:p>
            <a:pPr indent="-285750" lvl="1" marL="742950" rtl="0" algn="l">
              <a:lnSpc>
                <a:spcPct val="12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n vs. n</a:t>
            </a:r>
            <a:r>
              <a:rPr baseline="30000" lang="en-US">
                <a:latin typeface="Comic Sans MS"/>
                <a:ea typeface="Comic Sans MS"/>
                <a:cs typeface="Comic Sans MS"/>
                <a:sym typeface="Comic Sans MS"/>
              </a:rPr>
              <a:t>2</a:t>
            </a:r>
            <a:endParaRPr>
              <a:latin typeface="Comic Sans MS"/>
              <a:ea typeface="Comic Sans MS"/>
              <a:cs typeface="Comic Sans MS"/>
              <a:sym typeface="Comic Sans MS"/>
            </a:endParaRPr>
          </a:p>
        </p:txBody>
      </p:sp>
      <p:sp>
        <p:nvSpPr>
          <p:cNvPr id="466" name="Google Shape;466;p34"/>
          <p:cNvSpPr txBox="1"/>
          <p:nvPr/>
        </p:nvSpPr>
        <p:spPr>
          <a:xfrm>
            <a:off x="4408488" y="1852613"/>
            <a:ext cx="11620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 Θ(n</a:t>
            </a:r>
            <a:r>
              <a:rPr baseline="30000" lang="en-US" sz="2400">
                <a:solidFill>
                  <a:schemeClr val="dk1"/>
                </a:solidFill>
                <a:latin typeface="Comic Sans MS"/>
                <a:ea typeface="Comic Sans MS"/>
                <a:cs typeface="Comic Sans MS"/>
                <a:sym typeface="Comic Sans MS"/>
              </a:rPr>
              <a:t>2</a:t>
            </a:r>
            <a:r>
              <a:rPr lang="en-US" sz="2400">
                <a:solidFill>
                  <a:schemeClr val="dk1"/>
                </a:solidFill>
                <a:latin typeface="Comic Sans MS"/>
                <a:ea typeface="Comic Sans MS"/>
                <a:cs typeface="Comic Sans MS"/>
                <a:sym typeface="Comic Sans MS"/>
              </a:rPr>
              <a:t>)</a:t>
            </a:r>
            <a:endParaRPr/>
          </a:p>
        </p:txBody>
      </p:sp>
      <p:sp>
        <p:nvSpPr>
          <p:cNvPr id="467" name="Google Shape;467;p34"/>
          <p:cNvSpPr txBox="1"/>
          <p:nvPr/>
        </p:nvSpPr>
        <p:spPr>
          <a:xfrm>
            <a:off x="4413251" y="2889250"/>
            <a:ext cx="14128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n ≠ Θ(n</a:t>
            </a:r>
            <a:r>
              <a:rPr baseline="30000" lang="en-US" sz="2400">
                <a:solidFill>
                  <a:schemeClr val="dk1"/>
                </a:solidFill>
                <a:latin typeface="Comic Sans MS"/>
                <a:ea typeface="Comic Sans MS"/>
                <a:cs typeface="Comic Sans MS"/>
                <a:sym typeface="Comic Sans MS"/>
              </a:rPr>
              <a:t>2</a:t>
            </a:r>
            <a:r>
              <a:rPr lang="en-US" sz="2400">
                <a:solidFill>
                  <a:schemeClr val="dk1"/>
                </a:solidFill>
                <a:latin typeface="Comic Sans MS"/>
                <a:ea typeface="Comic Sans MS"/>
                <a:cs typeface="Comic Sans MS"/>
                <a:sym typeface="Comic Sans MS"/>
              </a:rPr>
              <a:t>)</a:t>
            </a:r>
            <a:endParaRPr/>
          </a:p>
        </p:txBody>
      </p:sp>
      <p:sp>
        <p:nvSpPr>
          <p:cNvPr id="468" name="Google Shape;468;p34"/>
          <p:cNvSpPr txBox="1"/>
          <p:nvPr/>
        </p:nvSpPr>
        <p:spPr>
          <a:xfrm>
            <a:off x="5334000" y="2387600"/>
            <a:ext cx="15684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 Θ(n</a:t>
            </a:r>
            <a:r>
              <a:rPr baseline="30000" lang="en-US" sz="2400">
                <a:solidFill>
                  <a:schemeClr val="dk1"/>
                </a:solidFill>
                <a:latin typeface="Comic Sans MS"/>
                <a:ea typeface="Comic Sans MS"/>
                <a:cs typeface="Comic Sans MS"/>
                <a:sym typeface="Comic Sans MS"/>
              </a:rPr>
              <a:t>2</a:t>
            </a:r>
            <a:r>
              <a:rPr lang="en-US" sz="2400">
                <a:solidFill>
                  <a:schemeClr val="dk1"/>
                </a:solidFill>
                <a:latin typeface="Comic Sans MS"/>
                <a:ea typeface="Comic Sans MS"/>
                <a:cs typeface="Comic Sans MS"/>
                <a:sym typeface="Comic Sans MS"/>
              </a:rPr>
              <a:t>lgn)</a:t>
            </a:r>
            <a:endParaRPr/>
          </a:p>
        </p:txBody>
      </p:sp>
      <p:sp>
        <p:nvSpPr>
          <p:cNvPr id="469" name="Google Shape;469;p34"/>
          <p:cNvSpPr/>
          <p:nvPr/>
        </p:nvSpPr>
        <p:spPr>
          <a:xfrm>
            <a:off x="6111875" y="3359151"/>
            <a:ext cx="3576638" cy="2817813"/>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0000"/>
              </a:lnSpc>
              <a:spcBef>
                <a:spcPts val="0"/>
              </a:spcBef>
              <a:spcAft>
                <a:spcPts val="0"/>
              </a:spcAft>
              <a:buClr>
                <a:schemeClr val="accent2"/>
              </a:buClr>
              <a:buSzPts val="2800"/>
              <a:buFont typeface="Arial"/>
              <a:buChar char="•"/>
            </a:pPr>
            <a:r>
              <a:rPr lang="en-US" sz="2800">
                <a:solidFill>
                  <a:schemeClr val="accent2"/>
                </a:solidFill>
                <a:latin typeface="Arial"/>
                <a:ea typeface="Arial"/>
                <a:cs typeface="Arial"/>
                <a:sym typeface="Arial"/>
              </a:rPr>
              <a:t>O notation</a:t>
            </a:r>
            <a:endParaRPr/>
          </a:p>
          <a:p>
            <a:pPr indent="-285750" lvl="1" marL="742950" marR="0" rtl="0" algn="l">
              <a:lnSpc>
                <a:spcPct val="12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2n</a:t>
            </a:r>
            <a:r>
              <a:rPr b="0" baseline="30000" i="0" lang="en-US" sz="2400" u="none" cap="none" strike="noStrike">
                <a:solidFill>
                  <a:schemeClr val="dk1"/>
                </a:solidFill>
                <a:latin typeface="Comic Sans MS"/>
                <a:ea typeface="Comic Sans MS"/>
                <a:cs typeface="Comic Sans MS"/>
                <a:sym typeface="Comic Sans MS"/>
              </a:rPr>
              <a:t>2</a:t>
            </a:r>
            <a:r>
              <a:rPr b="0" i="0" lang="en-US" sz="2400" u="none" cap="none" strike="noStrike">
                <a:solidFill>
                  <a:schemeClr val="dk1"/>
                </a:solidFill>
                <a:latin typeface="Comic Sans MS"/>
                <a:ea typeface="Comic Sans MS"/>
                <a:cs typeface="Comic Sans MS"/>
                <a:sym typeface="Comic Sans MS"/>
              </a:rPr>
              <a:t> vs. n</a:t>
            </a:r>
            <a:r>
              <a:rPr b="0" baseline="30000" i="0" lang="en-US" sz="2400" u="none" cap="none" strike="noStrike">
                <a:solidFill>
                  <a:schemeClr val="dk1"/>
                </a:solidFill>
                <a:latin typeface="Comic Sans MS"/>
                <a:ea typeface="Comic Sans MS"/>
                <a:cs typeface="Comic Sans MS"/>
                <a:sym typeface="Comic Sans MS"/>
              </a:rPr>
              <a:t>3</a:t>
            </a:r>
            <a:endParaRPr b="0" i="0" sz="2400" u="none" cap="none" strike="noStrike">
              <a:solidFill>
                <a:schemeClr val="dk1"/>
              </a:solidFill>
              <a:latin typeface="Comic Sans MS"/>
              <a:ea typeface="Comic Sans MS"/>
              <a:cs typeface="Comic Sans MS"/>
              <a:sym typeface="Comic Sans MS"/>
            </a:endParaRPr>
          </a:p>
          <a:p>
            <a:pPr indent="-285750" lvl="1" marL="742950" marR="0" rtl="0" algn="l">
              <a:lnSpc>
                <a:spcPct val="12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n</a:t>
            </a:r>
            <a:r>
              <a:rPr b="0" baseline="30000" i="0" lang="en-US" sz="2400" u="none" cap="none" strike="noStrike">
                <a:solidFill>
                  <a:schemeClr val="dk1"/>
                </a:solidFill>
                <a:latin typeface="Comic Sans MS"/>
                <a:ea typeface="Comic Sans MS"/>
                <a:cs typeface="Comic Sans MS"/>
                <a:sym typeface="Comic Sans MS"/>
              </a:rPr>
              <a:t>2</a:t>
            </a:r>
            <a:r>
              <a:rPr b="0" i="0" lang="en-US" sz="2400" u="none" cap="none" strike="noStrike">
                <a:solidFill>
                  <a:schemeClr val="dk1"/>
                </a:solidFill>
                <a:latin typeface="Comic Sans MS"/>
                <a:ea typeface="Comic Sans MS"/>
                <a:cs typeface="Comic Sans MS"/>
                <a:sym typeface="Comic Sans MS"/>
              </a:rPr>
              <a:t> vs. n</a:t>
            </a:r>
            <a:r>
              <a:rPr b="0" baseline="30000" i="0" lang="en-US" sz="2400" u="none" cap="none" strike="noStrike">
                <a:solidFill>
                  <a:schemeClr val="dk1"/>
                </a:solidFill>
                <a:latin typeface="Comic Sans MS"/>
                <a:ea typeface="Comic Sans MS"/>
                <a:cs typeface="Comic Sans MS"/>
                <a:sym typeface="Comic Sans MS"/>
              </a:rPr>
              <a:t>2</a:t>
            </a:r>
            <a:endParaRPr b="0" i="0" sz="2400" u="none" cap="none" strike="noStrike">
              <a:solidFill>
                <a:schemeClr val="dk1"/>
              </a:solidFill>
              <a:latin typeface="Comic Sans MS"/>
              <a:ea typeface="Comic Sans MS"/>
              <a:cs typeface="Comic Sans MS"/>
              <a:sym typeface="Comic Sans MS"/>
            </a:endParaRPr>
          </a:p>
          <a:p>
            <a:pPr indent="-285750" lvl="1" marL="742950" marR="0" rtl="0" algn="l">
              <a:lnSpc>
                <a:spcPct val="12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n</a:t>
            </a:r>
            <a:r>
              <a:rPr b="0" baseline="30000" i="0" lang="en-US" sz="2400" u="none" cap="none" strike="noStrike">
                <a:solidFill>
                  <a:schemeClr val="dk1"/>
                </a:solidFill>
                <a:latin typeface="Comic Sans MS"/>
                <a:ea typeface="Comic Sans MS"/>
                <a:cs typeface="Comic Sans MS"/>
                <a:sym typeface="Comic Sans MS"/>
              </a:rPr>
              <a:t>3</a:t>
            </a:r>
            <a:r>
              <a:rPr b="0" i="0" lang="en-US" sz="2400" u="none" cap="none" strike="noStrike">
                <a:solidFill>
                  <a:schemeClr val="dk1"/>
                </a:solidFill>
                <a:latin typeface="Comic Sans MS"/>
                <a:ea typeface="Comic Sans MS"/>
                <a:cs typeface="Comic Sans MS"/>
                <a:sym typeface="Comic Sans MS"/>
              </a:rPr>
              <a:t> vs. nlogn</a:t>
            </a:r>
            <a:endParaRPr b="0" i="0" sz="2400" u="none" cap="none" strike="noStrike">
              <a:solidFill>
                <a:schemeClr val="dk1"/>
              </a:solidFill>
              <a:latin typeface="Comic Sans MS"/>
              <a:ea typeface="Comic Sans MS"/>
              <a:cs typeface="Comic Sans MS"/>
              <a:sym typeface="Comic Sans MS"/>
            </a:endParaRPr>
          </a:p>
        </p:txBody>
      </p:sp>
      <p:sp>
        <p:nvSpPr>
          <p:cNvPr id="470" name="Google Shape;470;p34"/>
          <p:cNvSpPr/>
          <p:nvPr/>
        </p:nvSpPr>
        <p:spPr>
          <a:xfrm>
            <a:off x="4387850" y="3970338"/>
            <a:ext cx="15446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n</a:t>
            </a:r>
            <a:r>
              <a:rPr baseline="30000" lang="en-US" sz="2400">
                <a:solidFill>
                  <a:schemeClr val="dk1"/>
                </a:solidFill>
                <a:latin typeface="Comic Sans MS"/>
                <a:ea typeface="Comic Sans MS"/>
                <a:cs typeface="Comic Sans MS"/>
                <a:sym typeface="Comic Sans MS"/>
              </a:rPr>
              <a:t>3</a:t>
            </a:r>
            <a:r>
              <a:rPr lang="en-US" sz="2400">
                <a:solidFill>
                  <a:schemeClr val="dk1"/>
                </a:solidFill>
                <a:latin typeface="Comic Sans MS"/>
                <a:ea typeface="Comic Sans MS"/>
                <a:cs typeface="Comic Sans MS"/>
                <a:sym typeface="Comic Sans MS"/>
              </a:rPr>
              <a:t> = Ω(n</a:t>
            </a:r>
            <a:r>
              <a:rPr baseline="30000" lang="en-US" sz="2400">
                <a:solidFill>
                  <a:schemeClr val="dk1"/>
                </a:solidFill>
                <a:latin typeface="Comic Sans MS"/>
                <a:ea typeface="Comic Sans MS"/>
                <a:cs typeface="Comic Sans MS"/>
                <a:sym typeface="Comic Sans MS"/>
              </a:rPr>
              <a:t>2</a:t>
            </a:r>
            <a:r>
              <a:rPr lang="en-US" sz="2400">
                <a:solidFill>
                  <a:schemeClr val="dk1"/>
                </a:solidFill>
                <a:latin typeface="Comic Sans MS"/>
                <a:ea typeface="Comic Sans MS"/>
                <a:cs typeface="Comic Sans MS"/>
                <a:sym typeface="Comic Sans MS"/>
              </a:rPr>
              <a:t>)</a:t>
            </a:r>
            <a:endParaRPr/>
          </a:p>
        </p:txBody>
      </p:sp>
      <p:sp>
        <p:nvSpPr>
          <p:cNvPr id="471" name="Google Shape;471;p34"/>
          <p:cNvSpPr/>
          <p:nvPr/>
        </p:nvSpPr>
        <p:spPr>
          <a:xfrm>
            <a:off x="4387850" y="4497388"/>
            <a:ext cx="17033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n = Ω(logn)</a:t>
            </a:r>
            <a:endParaRPr/>
          </a:p>
        </p:txBody>
      </p:sp>
      <p:sp>
        <p:nvSpPr>
          <p:cNvPr id="472" name="Google Shape;472;p34"/>
          <p:cNvSpPr/>
          <p:nvPr/>
        </p:nvSpPr>
        <p:spPr>
          <a:xfrm>
            <a:off x="4387851" y="4992688"/>
            <a:ext cx="14319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n ≠ Ω(n</a:t>
            </a:r>
            <a:r>
              <a:rPr baseline="30000" lang="en-US" sz="2400">
                <a:solidFill>
                  <a:schemeClr val="dk1"/>
                </a:solidFill>
                <a:latin typeface="Comic Sans MS"/>
                <a:ea typeface="Comic Sans MS"/>
                <a:cs typeface="Comic Sans MS"/>
                <a:sym typeface="Comic Sans MS"/>
              </a:rPr>
              <a:t>2</a:t>
            </a:r>
            <a:r>
              <a:rPr lang="en-US" sz="2400">
                <a:solidFill>
                  <a:schemeClr val="dk1"/>
                </a:solidFill>
                <a:latin typeface="Comic Sans MS"/>
                <a:ea typeface="Comic Sans MS"/>
                <a:cs typeface="Comic Sans MS"/>
                <a:sym typeface="Comic Sans MS"/>
              </a:rPr>
              <a:t>)</a:t>
            </a:r>
            <a:endParaRPr/>
          </a:p>
        </p:txBody>
      </p:sp>
      <p:sp>
        <p:nvSpPr>
          <p:cNvPr id="473" name="Google Shape;473;p34"/>
          <p:cNvSpPr/>
          <p:nvPr/>
        </p:nvSpPr>
        <p:spPr>
          <a:xfrm>
            <a:off x="8656638" y="4027488"/>
            <a:ext cx="17399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2n</a:t>
            </a:r>
            <a:r>
              <a:rPr baseline="30000" lang="en-US" sz="2400">
                <a:solidFill>
                  <a:schemeClr val="dk1"/>
                </a:solidFill>
                <a:latin typeface="Comic Sans MS"/>
                <a:ea typeface="Comic Sans MS"/>
                <a:cs typeface="Comic Sans MS"/>
                <a:sym typeface="Comic Sans MS"/>
              </a:rPr>
              <a:t>2</a:t>
            </a:r>
            <a:r>
              <a:rPr lang="en-US" sz="2400">
                <a:solidFill>
                  <a:schemeClr val="dk1"/>
                </a:solidFill>
                <a:latin typeface="Comic Sans MS"/>
                <a:ea typeface="Comic Sans MS"/>
                <a:cs typeface="Comic Sans MS"/>
                <a:sym typeface="Comic Sans MS"/>
              </a:rPr>
              <a:t> = O(n</a:t>
            </a:r>
            <a:r>
              <a:rPr baseline="30000" lang="en-US" sz="2400">
                <a:solidFill>
                  <a:schemeClr val="dk1"/>
                </a:solidFill>
                <a:latin typeface="Comic Sans MS"/>
                <a:ea typeface="Comic Sans MS"/>
                <a:cs typeface="Comic Sans MS"/>
                <a:sym typeface="Comic Sans MS"/>
              </a:rPr>
              <a:t>3</a:t>
            </a:r>
            <a:r>
              <a:rPr lang="en-US" sz="2400">
                <a:solidFill>
                  <a:schemeClr val="dk1"/>
                </a:solidFill>
                <a:latin typeface="Comic Sans MS"/>
                <a:ea typeface="Comic Sans MS"/>
                <a:cs typeface="Comic Sans MS"/>
                <a:sym typeface="Comic Sans MS"/>
              </a:rPr>
              <a:t>)</a:t>
            </a:r>
            <a:endParaRPr/>
          </a:p>
        </p:txBody>
      </p:sp>
      <p:sp>
        <p:nvSpPr>
          <p:cNvPr id="474" name="Google Shape;474;p34"/>
          <p:cNvSpPr/>
          <p:nvPr/>
        </p:nvSpPr>
        <p:spPr>
          <a:xfrm>
            <a:off x="8656638" y="4508500"/>
            <a:ext cx="155416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n</a:t>
            </a:r>
            <a:r>
              <a:rPr baseline="30000" lang="en-US" sz="2400">
                <a:solidFill>
                  <a:schemeClr val="dk1"/>
                </a:solidFill>
                <a:latin typeface="Comic Sans MS"/>
                <a:ea typeface="Comic Sans MS"/>
                <a:cs typeface="Comic Sans MS"/>
                <a:sym typeface="Comic Sans MS"/>
              </a:rPr>
              <a:t>2</a:t>
            </a:r>
            <a:r>
              <a:rPr lang="en-US" sz="2400">
                <a:solidFill>
                  <a:schemeClr val="dk1"/>
                </a:solidFill>
                <a:latin typeface="Comic Sans MS"/>
                <a:ea typeface="Comic Sans MS"/>
                <a:cs typeface="Comic Sans MS"/>
                <a:sym typeface="Comic Sans MS"/>
              </a:rPr>
              <a:t> = O(n</a:t>
            </a:r>
            <a:r>
              <a:rPr baseline="30000" lang="en-US" sz="2400">
                <a:solidFill>
                  <a:schemeClr val="dk1"/>
                </a:solidFill>
                <a:latin typeface="Comic Sans MS"/>
                <a:ea typeface="Comic Sans MS"/>
                <a:cs typeface="Comic Sans MS"/>
                <a:sym typeface="Comic Sans MS"/>
              </a:rPr>
              <a:t>2</a:t>
            </a:r>
            <a:r>
              <a:rPr lang="en-US" sz="2400">
                <a:solidFill>
                  <a:schemeClr val="dk1"/>
                </a:solidFill>
                <a:latin typeface="Comic Sans MS"/>
                <a:ea typeface="Comic Sans MS"/>
                <a:cs typeface="Comic Sans MS"/>
                <a:sym typeface="Comic Sans MS"/>
              </a:rPr>
              <a:t>)</a:t>
            </a:r>
            <a:endParaRPr/>
          </a:p>
        </p:txBody>
      </p:sp>
      <p:sp>
        <p:nvSpPr>
          <p:cNvPr id="475" name="Google Shape;475;p34"/>
          <p:cNvSpPr/>
          <p:nvPr/>
        </p:nvSpPr>
        <p:spPr>
          <a:xfrm>
            <a:off x="8656638" y="5030788"/>
            <a:ext cx="18478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n</a:t>
            </a:r>
            <a:r>
              <a:rPr baseline="30000" lang="en-US" sz="2400">
                <a:solidFill>
                  <a:schemeClr val="dk1"/>
                </a:solidFill>
                <a:latin typeface="Comic Sans MS"/>
                <a:ea typeface="Comic Sans MS"/>
                <a:cs typeface="Comic Sans MS"/>
                <a:sym typeface="Comic Sans MS"/>
              </a:rPr>
              <a:t>3</a:t>
            </a:r>
            <a:r>
              <a:rPr lang="en-US" sz="2400">
                <a:solidFill>
                  <a:schemeClr val="dk1"/>
                </a:solidFill>
                <a:latin typeface="Comic Sans MS"/>
                <a:ea typeface="Comic Sans MS"/>
                <a:cs typeface="Comic Sans MS"/>
                <a:sym typeface="Comic Sans MS"/>
              </a:rPr>
              <a:t> ≠ O(nlgn)</a:t>
            </a:r>
            <a:endParaRPr/>
          </a:p>
        </p:txBody>
      </p:sp>
      <p:pic>
        <p:nvPicPr>
          <p:cNvPr descr="BRAC University Jobs 2020- Jobs in BRAC University- careerz360.com" id="476" name="Google Shape;476;p34"/>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0" name="Shape 480"/>
        <p:cNvGrpSpPr/>
        <p:nvPr/>
      </p:nvGrpSpPr>
      <p:grpSpPr>
        <a:xfrm>
          <a:off x="0" y="0"/>
          <a:ext cx="0" cy="0"/>
          <a:chOff x="0" y="0"/>
          <a:chExt cx="0" cy="0"/>
        </a:xfrm>
      </p:grpSpPr>
      <p:sp>
        <p:nvSpPr>
          <p:cNvPr id="481" name="Google Shape;481;p35"/>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82" name="Google Shape;482;p35"/>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Asymptotic Notations - Examples</a:t>
            </a:r>
            <a:endParaRPr/>
          </a:p>
        </p:txBody>
      </p:sp>
      <p:sp>
        <p:nvSpPr>
          <p:cNvPr id="483" name="Google Shape;483;p35"/>
          <p:cNvSpPr txBox="1"/>
          <p:nvPr>
            <p:ph idx="1" type="body"/>
          </p:nvPr>
        </p:nvSpPr>
        <p:spPr>
          <a:xfrm>
            <a:off x="1874838" y="1106489"/>
            <a:ext cx="8229600" cy="5608637"/>
          </a:xfrm>
          <a:prstGeom prst="rect">
            <a:avLst/>
          </a:prstGeom>
          <a:noFill/>
          <a:ln>
            <a:noFill/>
          </a:ln>
        </p:spPr>
        <p:txBody>
          <a:bodyPr anchorCtr="0" anchor="t" bIns="45700" lIns="91425" spcFirstLastPara="1" rIns="91425" wrap="square" tIns="45700">
            <a:noAutofit/>
          </a:bodyPr>
          <a:lstStyle/>
          <a:p>
            <a:pPr indent="-342900" lvl="0" marL="342900" rtl="0" algn="l">
              <a:lnSpc>
                <a:spcPct val="110000"/>
              </a:lnSpc>
              <a:spcBef>
                <a:spcPts val="0"/>
              </a:spcBef>
              <a:spcAft>
                <a:spcPts val="0"/>
              </a:spcAft>
              <a:buClr>
                <a:schemeClr val="accent2"/>
              </a:buClr>
              <a:buSzPts val="2400"/>
              <a:buFont typeface="Arial"/>
              <a:buChar char="•"/>
            </a:pPr>
            <a:r>
              <a:rPr lang="en-US" sz="2400"/>
              <a:t>For each of the following pairs of functions, either f(n) is O(g(n)), f(n) is Ω(g(n)), or f(n) = Θ(g(n)). Determine which relationship is correct.</a:t>
            </a:r>
            <a:endParaRPr/>
          </a:p>
          <a:p>
            <a:pPr indent="-285750" lvl="1" marL="742950" rtl="0" algn="l">
              <a:lnSpc>
                <a:spcPct val="11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f(n) = log n</a:t>
            </a:r>
            <a:r>
              <a:rPr baseline="30000" lang="en-US">
                <a:latin typeface="Comic Sans MS"/>
                <a:ea typeface="Comic Sans MS"/>
                <a:cs typeface="Comic Sans MS"/>
                <a:sym typeface="Comic Sans MS"/>
              </a:rPr>
              <a:t>2</a:t>
            </a:r>
            <a:r>
              <a:rPr lang="en-US">
                <a:latin typeface="Comic Sans MS"/>
                <a:ea typeface="Comic Sans MS"/>
                <a:cs typeface="Comic Sans MS"/>
                <a:sym typeface="Comic Sans MS"/>
              </a:rPr>
              <a:t>; g(n) = log n + 5</a:t>
            </a:r>
            <a:endParaRPr/>
          </a:p>
          <a:p>
            <a:pPr indent="-285750" lvl="1" marL="742950" rtl="0" algn="l">
              <a:lnSpc>
                <a:spcPct val="11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f(n) = n; g(n) = log n</a:t>
            </a:r>
            <a:r>
              <a:rPr baseline="30000" lang="en-US">
                <a:latin typeface="Comic Sans MS"/>
                <a:ea typeface="Comic Sans MS"/>
                <a:cs typeface="Comic Sans MS"/>
                <a:sym typeface="Comic Sans MS"/>
              </a:rPr>
              <a:t>2</a:t>
            </a:r>
            <a:endParaRPr/>
          </a:p>
          <a:p>
            <a:pPr indent="-285750" lvl="1" marL="742950" rtl="0" algn="l">
              <a:lnSpc>
                <a:spcPct val="11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f(n) = log log n; g(n) = log n</a:t>
            </a:r>
            <a:endParaRPr/>
          </a:p>
          <a:p>
            <a:pPr indent="-285750" lvl="1" marL="742950" rtl="0" algn="l">
              <a:lnSpc>
                <a:spcPct val="11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f(n) = n; g(n) = log</a:t>
            </a:r>
            <a:r>
              <a:rPr baseline="30000" lang="en-US">
                <a:latin typeface="Comic Sans MS"/>
                <a:ea typeface="Comic Sans MS"/>
                <a:cs typeface="Comic Sans MS"/>
                <a:sym typeface="Comic Sans MS"/>
              </a:rPr>
              <a:t>2</a:t>
            </a:r>
            <a:r>
              <a:rPr lang="en-US">
                <a:latin typeface="Comic Sans MS"/>
                <a:ea typeface="Comic Sans MS"/>
                <a:cs typeface="Comic Sans MS"/>
                <a:sym typeface="Comic Sans MS"/>
              </a:rPr>
              <a:t> n</a:t>
            </a:r>
            <a:endParaRPr/>
          </a:p>
          <a:p>
            <a:pPr indent="-285750" lvl="1" marL="742950" rtl="0" algn="l">
              <a:lnSpc>
                <a:spcPct val="11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f(n) = n log n + n; g(n) = log n</a:t>
            </a:r>
            <a:endParaRPr/>
          </a:p>
          <a:p>
            <a:pPr indent="-285750" lvl="1" marL="742950" rtl="0" algn="l">
              <a:lnSpc>
                <a:spcPct val="11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f(n) = 10; g(n) = log 10</a:t>
            </a:r>
            <a:endParaRPr/>
          </a:p>
          <a:p>
            <a:pPr indent="-285750" lvl="1" marL="742950" rtl="0" algn="l">
              <a:lnSpc>
                <a:spcPct val="11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f(n) = 2</a:t>
            </a:r>
            <a:r>
              <a:rPr baseline="30000" lang="en-US">
                <a:latin typeface="Comic Sans MS"/>
                <a:ea typeface="Comic Sans MS"/>
                <a:cs typeface="Comic Sans MS"/>
                <a:sym typeface="Comic Sans MS"/>
              </a:rPr>
              <a:t>n</a:t>
            </a:r>
            <a:r>
              <a:rPr lang="en-US">
                <a:latin typeface="Comic Sans MS"/>
                <a:ea typeface="Comic Sans MS"/>
                <a:cs typeface="Comic Sans MS"/>
                <a:sym typeface="Comic Sans MS"/>
              </a:rPr>
              <a:t>; g(n) = 10n</a:t>
            </a:r>
            <a:r>
              <a:rPr baseline="30000" lang="en-US">
                <a:latin typeface="Comic Sans MS"/>
                <a:ea typeface="Comic Sans MS"/>
                <a:cs typeface="Comic Sans MS"/>
                <a:sym typeface="Comic Sans MS"/>
              </a:rPr>
              <a:t>2</a:t>
            </a:r>
            <a:endParaRPr/>
          </a:p>
          <a:p>
            <a:pPr indent="-285750" lvl="1" marL="742950" rtl="0" algn="l">
              <a:lnSpc>
                <a:spcPct val="110000"/>
              </a:lnSpc>
              <a:spcBef>
                <a:spcPts val="480"/>
              </a:spcBef>
              <a:spcAft>
                <a:spcPts val="0"/>
              </a:spcAft>
              <a:buClr>
                <a:schemeClr val="dk1"/>
              </a:buClr>
              <a:buSzPts val="2400"/>
              <a:buFont typeface="Comic Sans MS"/>
              <a:buChar char="–"/>
            </a:pPr>
            <a:r>
              <a:rPr lang="en-US">
                <a:latin typeface="Comic Sans MS"/>
                <a:ea typeface="Comic Sans MS"/>
                <a:cs typeface="Comic Sans MS"/>
                <a:sym typeface="Comic Sans MS"/>
              </a:rPr>
              <a:t>f(n) = 2</a:t>
            </a:r>
            <a:r>
              <a:rPr baseline="30000" lang="en-US">
                <a:latin typeface="Comic Sans MS"/>
                <a:ea typeface="Comic Sans MS"/>
                <a:cs typeface="Comic Sans MS"/>
                <a:sym typeface="Comic Sans MS"/>
              </a:rPr>
              <a:t>n</a:t>
            </a:r>
            <a:r>
              <a:rPr lang="en-US">
                <a:latin typeface="Comic Sans MS"/>
                <a:ea typeface="Comic Sans MS"/>
                <a:cs typeface="Comic Sans MS"/>
                <a:sym typeface="Comic Sans MS"/>
              </a:rPr>
              <a:t>; g(n) = 3</a:t>
            </a:r>
            <a:r>
              <a:rPr baseline="30000" lang="en-US">
                <a:latin typeface="Comic Sans MS"/>
                <a:ea typeface="Comic Sans MS"/>
                <a:cs typeface="Comic Sans MS"/>
                <a:sym typeface="Comic Sans MS"/>
              </a:rPr>
              <a:t>n</a:t>
            </a:r>
            <a:endParaRPr/>
          </a:p>
        </p:txBody>
      </p:sp>
      <p:sp>
        <p:nvSpPr>
          <p:cNvPr id="484" name="Google Shape;484;p35"/>
          <p:cNvSpPr txBox="1"/>
          <p:nvPr/>
        </p:nvSpPr>
        <p:spPr>
          <a:xfrm>
            <a:off x="7334250" y="2387600"/>
            <a:ext cx="21415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f(n) = Θ (g(n))</a:t>
            </a:r>
            <a:endParaRPr/>
          </a:p>
        </p:txBody>
      </p:sp>
      <p:sp>
        <p:nvSpPr>
          <p:cNvPr id="485" name="Google Shape;485;p35"/>
          <p:cNvSpPr txBox="1"/>
          <p:nvPr/>
        </p:nvSpPr>
        <p:spPr>
          <a:xfrm>
            <a:off x="7334250" y="2860675"/>
            <a:ext cx="20589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f(n) = Ω(g(n))</a:t>
            </a:r>
            <a:endParaRPr/>
          </a:p>
        </p:txBody>
      </p:sp>
      <p:sp>
        <p:nvSpPr>
          <p:cNvPr id="486" name="Google Shape;486;p35"/>
          <p:cNvSpPr txBox="1"/>
          <p:nvPr/>
        </p:nvSpPr>
        <p:spPr>
          <a:xfrm>
            <a:off x="7334251" y="3335338"/>
            <a:ext cx="20685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f(n) = O(g(n))</a:t>
            </a:r>
            <a:endParaRPr/>
          </a:p>
        </p:txBody>
      </p:sp>
      <p:sp>
        <p:nvSpPr>
          <p:cNvPr id="487" name="Google Shape;487;p35"/>
          <p:cNvSpPr txBox="1"/>
          <p:nvPr/>
        </p:nvSpPr>
        <p:spPr>
          <a:xfrm>
            <a:off x="7334250" y="3810000"/>
            <a:ext cx="20589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f(n) = Ω(g(n))</a:t>
            </a:r>
            <a:endParaRPr/>
          </a:p>
        </p:txBody>
      </p:sp>
      <p:sp>
        <p:nvSpPr>
          <p:cNvPr id="488" name="Google Shape;488;p35"/>
          <p:cNvSpPr txBox="1"/>
          <p:nvPr/>
        </p:nvSpPr>
        <p:spPr>
          <a:xfrm>
            <a:off x="7334250" y="4284663"/>
            <a:ext cx="20589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f(n) = Ω(g(n))</a:t>
            </a:r>
            <a:endParaRPr/>
          </a:p>
        </p:txBody>
      </p:sp>
      <p:sp>
        <p:nvSpPr>
          <p:cNvPr id="489" name="Google Shape;489;p35"/>
          <p:cNvSpPr txBox="1"/>
          <p:nvPr/>
        </p:nvSpPr>
        <p:spPr>
          <a:xfrm>
            <a:off x="7334250" y="4759325"/>
            <a:ext cx="20510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f(n) = Θ(g(n))</a:t>
            </a:r>
            <a:endParaRPr/>
          </a:p>
        </p:txBody>
      </p:sp>
      <p:sp>
        <p:nvSpPr>
          <p:cNvPr id="490" name="Google Shape;490;p35"/>
          <p:cNvSpPr txBox="1"/>
          <p:nvPr/>
        </p:nvSpPr>
        <p:spPr>
          <a:xfrm>
            <a:off x="7334250" y="5233988"/>
            <a:ext cx="20589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f(n) = Ω(g(n))</a:t>
            </a:r>
            <a:endParaRPr/>
          </a:p>
        </p:txBody>
      </p:sp>
      <p:sp>
        <p:nvSpPr>
          <p:cNvPr id="491" name="Google Shape;491;p35"/>
          <p:cNvSpPr txBox="1"/>
          <p:nvPr/>
        </p:nvSpPr>
        <p:spPr>
          <a:xfrm>
            <a:off x="7334251" y="5708650"/>
            <a:ext cx="20685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mic Sans MS"/>
                <a:ea typeface="Comic Sans MS"/>
                <a:cs typeface="Comic Sans MS"/>
                <a:sym typeface="Comic Sans MS"/>
              </a:rPr>
              <a:t>f(n) = O(g(n))</a:t>
            </a:r>
            <a:endParaRPr/>
          </a:p>
        </p:txBody>
      </p:sp>
      <p:pic>
        <p:nvPicPr>
          <p:cNvPr descr="BRAC University Jobs 2020- Jobs in BRAC University- careerz360.com" id="492" name="Google Shape;492;p35"/>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7" name="Shape 497"/>
        <p:cNvGrpSpPr/>
        <p:nvPr/>
      </p:nvGrpSpPr>
      <p:grpSpPr>
        <a:xfrm>
          <a:off x="0" y="0"/>
          <a:ext cx="0" cy="0"/>
          <a:chOff x="0" y="0"/>
          <a:chExt cx="0" cy="0"/>
        </a:xfrm>
      </p:grpSpPr>
      <p:sp>
        <p:nvSpPr>
          <p:cNvPr id="498" name="Google Shape;498;p36"/>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99" name="Google Shape;499;p36"/>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Simplifying Assumptions</a:t>
            </a:r>
            <a:endParaRPr/>
          </a:p>
        </p:txBody>
      </p:sp>
      <p:sp>
        <p:nvSpPr>
          <p:cNvPr id="500" name="Google Shape;500;p36"/>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2"/>
              </a:buClr>
              <a:buSzPts val="2400"/>
              <a:buFont typeface="Arial"/>
              <a:buNone/>
            </a:pPr>
            <a:r>
              <a:rPr lang="en-US" sz="2400"/>
              <a:t>1. If f(n) = O(g(n)) and g(n) = O(h(n)), then f(n) = O(h(n))</a:t>
            </a:r>
            <a:endParaRPr/>
          </a:p>
          <a:p>
            <a:pPr indent="0" lvl="0" marL="0" rtl="0" algn="l">
              <a:spcBef>
                <a:spcPts val="480"/>
              </a:spcBef>
              <a:spcAft>
                <a:spcPts val="0"/>
              </a:spcAft>
              <a:buClr>
                <a:schemeClr val="accent2"/>
              </a:buClr>
              <a:buSzPts val="2400"/>
              <a:buFont typeface="Arial"/>
              <a:buNone/>
            </a:pPr>
            <a:r>
              <a:rPr lang="en-US" sz="2400"/>
              <a:t>2. If f(n) = O(kg(n)) for any k &gt; 0, then f(n) = O(g(n))</a:t>
            </a:r>
            <a:endParaRPr/>
          </a:p>
          <a:p>
            <a:pPr indent="0" lvl="0" marL="0" rtl="0" algn="l">
              <a:spcBef>
                <a:spcPts val="480"/>
              </a:spcBef>
              <a:spcAft>
                <a:spcPts val="0"/>
              </a:spcAft>
              <a:buClr>
                <a:schemeClr val="accent2"/>
              </a:buClr>
              <a:buSzPts val="2400"/>
              <a:buFont typeface="Arial"/>
              <a:buNone/>
            </a:pPr>
            <a:r>
              <a:rPr lang="en-US" sz="2400"/>
              <a:t>3. If f</a:t>
            </a:r>
            <a:r>
              <a:rPr baseline="-25000" lang="en-US" sz="2400"/>
              <a:t>1</a:t>
            </a:r>
            <a:r>
              <a:rPr lang="en-US" sz="2400"/>
              <a:t>(n) = O(g</a:t>
            </a:r>
            <a:r>
              <a:rPr baseline="-25000" lang="en-US" sz="2400"/>
              <a:t>1</a:t>
            </a:r>
            <a:r>
              <a:rPr lang="en-US" sz="2400"/>
              <a:t>(n)) and f</a:t>
            </a:r>
            <a:r>
              <a:rPr baseline="-25000" lang="en-US" sz="2400"/>
              <a:t>2</a:t>
            </a:r>
            <a:r>
              <a:rPr lang="en-US" sz="2400"/>
              <a:t>(n) = O(g</a:t>
            </a:r>
            <a:r>
              <a:rPr baseline="-25000" lang="en-US" sz="2400"/>
              <a:t>2</a:t>
            </a:r>
            <a:r>
              <a:rPr lang="en-US" sz="2400"/>
              <a:t>(n)), </a:t>
            </a:r>
            <a:endParaRPr/>
          </a:p>
          <a:p>
            <a:pPr indent="0" lvl="0" marL="0" rtl="0" algn="l">
              <a:spcBef>
                <a:spcPts val="480"/>
              </a:spcBef>
              <a:spcAft>
                <a:spcPts val="0"/>
              </a:spcAft>
              <a:buClr>
                <a:schemeClr val="accent2"/>
              </a:buClr>
              <a:buSzPts val="2400"/>
              <a:buFont typeface="Arial"/>
              <a:buNone/>
            </a:pPr>
            <a:r>
              <a:rPr lang="en-US" sz="2400"/>
              <a:t>		then f</a:t>
            </a:r>
            <a:r>
              <a:rPr baseline="-25000" lang="en-US" sz="2400"/>
              <a:t>1</a:t>
            </a:r>
            <a:r>
              <a:rPr lang="en-US" sz="2400"/>
              <a:t>(n) + f</a:t>
            </a:r>
            <a:r>
              <a:rPr baseline="-25000" lang="en-US" sz="2400"/>
              <a:t>2</a:t>
            </a:r>
            <a:r>
              <a:rPr lang="en-US" sz="2400"/>
              <a:t>(n) = O(max (g</a:t>
            </a:r>
            <a:r>
              <a:rPr baseline="-25000" lang="en-US" sz="2400"/>
              <a:t>1</a:t>
            </a:r>
            <a:r>
              <a:rPr lang="en-US" sz="2400"/>
              <a:t>(n), g</a:t>
            </a:r>
            <a:r>
              <a:rPr baseline="-25000" lang="en-US" sz="2400"/>
              <a:t>2</a:t>
            </a:r>
            <a:r>
              <a:rPr lang="en-US" sz="2400"/>
              <a:t>(n)))</a:t>
            </a:r>
            <a:endParaRPr/>
          </a:p>
          <a:p>
            <a:pPr indent="0" lvl="0" marL="0" rtl="0" algn="l">
              <a:spcBef>
                <a:spcPts val="480"/>
              </a:spcBef>
              <a:spcAft>
                <a:spcPts val="0"/>
              </a:spcAft>
              <a:buClr>
                <a:schemeClr val="accent2"/>
              </a:buClr>
              <a:buSzPts val="2400"/>
              <a:buFont typeface="Arial"/>
              <a:buNone/>
            </a:pPr>
            <a:r>
              <a:rPr lang="en-US" sz="2400"/>
              <a:t>4. If f</a:t>
            </a:r>
            <a:r>
              <a:rPr baseline="-25000" lang="en-US" sz="2400"/>
              <a:t>1</a:t>
            </a:r>
            <a:r>
              <a:rPr lang="en-US" sz="2400"/>
              <a:t>(n) = O(g</a:t>
            </a:r>
            <a:r>
              <a:rPr baseline="-25000" lang="en-US" sz="2400"/>
              <a:t>1</a:t>
            </a:r>
            <a:r>
              <a:rPr lang="en-US" sz="2400"/>
              <a:t>(n)) and f</a:t>
            </a:r>
            <a:r>
              <a:rPr baseline="-25000" lang="en-US" sz="2400"/>
              <a:t>2</a:t>
            </a:r>
            <a:r>
              <a:rPr lang="en-US" sz="2400"/>
              <a:t>(n) = O(g</a:t>
            </a:r>
            <a:r>
              <a:rPr baseline="-25000" lang="en-US" sz="2400"/>
              <a:t>2</a:t>
            </a:r>
            <a:r>
              <a:rPr lang="en-US" sz="2400"/>
              <a:t>(n)), </a:t>
            </a:r>
            <a:endParaRPr/>
          </a:p>
          <a:p>
            <a:pPr indent="0" lvl="0" marL="0" rtl="0" algn="l">
              <a:spcBef>
                <a:spcPts val="480"/>
              </a:spcBef>
              <a:spcAft>
                <a:spcPts val="0"/>
              </a:spcAft>
              <a:buClr>
                <a:schemeClr val="accent2"/>
              </a:buClr>
              <a:buSzPts val="2400"/>
              <a:buFont typeface="Arial"/>
              <a:buNone/>
            </a:pPr>
            <a:r>
              <a:rPr lang="en-US" sz="2400"/>
              <a:t>		then f</a:t>
            </a:r>
            <a:r>
              <a:rPr baseline="-25000" lang="en-US" sz="2400"/>
              <a:t>1</a:t>
            </a:r>
            <a:r>
              <a:rPr lang="en-US" sz="2400"/>
              <a:t>(n) * f</a:t>
            </a:r>
            <a:r>
              <a:rPr baseline="-25000" lang="en-US" sz="2400"/>
              <a:t>2</a:t>
            </a:r>
            <a:r>
              <a:rPr lang="en-US" sz="2400"/>
              <a:t>(n) = O(g</a:t>
            </a:r>
            <a:r>
              <a:rPr baseline="-25000" lang="en-US" sz="2400"/>
              <a:t>1</a:t>
            </a:r>
            <a:r>
              <a:rPr lang="en-US" sz="2400"/>
              <a:t>(n) * g</a:t>
            </a:r>
            <a:r>
              <a:rPr baseline="-25000" lang="en-US" sz="2400"/>
              <a:t>2</a:t>
            </a:r>
            <a:r>
              <a:rPr lang="en-US" sz="2400"/>
              <a:t>(n))</a:t>
            </a:r>
            <a:endParaRPr/>
          </a:p>
        </p:txBody>
      </p:sp>
      <p:pic>
        <p:nvPicPr>
          <p:cNvPr descr="BRAC University Jobs 2020- Jobs in BRAC University- careerz360.com" id="501" name="Google Shape;501;p36"/>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7"/>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Some Simplified Rules</a:t>
            </a:r>
            <a:endParaRPr/>
          </a:p>
        </p:txBody>
      </p:sp>
      <p:sp>
        <p:nvSpPr>
          <p:cNvPr id="507" name="Google Shape;507;p37"/>
          <p:cNvSpPr txBox="1"/>
          <p:nvPr>
            <p:ph idx="1" type="body"/>
          </p:nvPr>
        </p:nvSpPr>
        <p:spPr>
          <a:xfrm>
            <a:off x="467784" y="1214439"/>
            <a:ext cx="10972800" cy="550703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O(1) = c , where c is a constant</a:t>
            </a:r>
            <a:endParaRPr/>
          </a:p>
          <a:p>
            <a:pPr indent="-342900" lvl="0" marL="342900" rtl="0" algn="l">
              <a:spcBef>
                <a:spcPts val="560"/>
              </a:spcBef>
              <a:spcAft>
                <a:spcPts val="0"/>
              </a:spcAft>
              <a:buClr>
                <a:schemeClr val="accent2"/>
              </a:buClr>
              <a:buSzPts val="2800"/>
              <a:buFont typeface="Arial"/>
              <a:buChar char="•"/>
            </a:pPr>
            <a:r>
              <a:rPr lang="en-US"/>
              <a:t>O(n) = c*n = cn , where c is constant and n is variable </a:t>
            </a:r>
            <a:endParaRPr/>
          </a:p>
          <a:p>
            <a:pPr indent="-342900" lvl="0" marL="342900" rtl="0" algn="l">
              <a:spcBef>
                <a:spcPts val="560"/>
              </a:spcBef>
              <a:spcAft>
                <a:spcPts val="0"/>
              </a:spcAft>
              <a:buClr>
                <a:schemeClr val="accent2"/>
              </a:buClr>
              <a:buSzPts val="2800"/>
              <a:buFont typeface="Arial"/>
              <a:buChar char="•"/>
            </a:pPr>
            <a:r>
              <a:rPr lang="en-US"/>
              <a:t>c</a:t>
            </a:r>
            <a:r>
              <a:rPr baseline="-25000" lang="en-US"/>
              <a:t>1</a:t>
            </a:r>
            <a:r>
              <a:rPr lang="en-US"/>
              <a:t>*O(1) = c</a:t>
            </a:r>
            <a:r>
              <a:rPr baseline="-25000" lang="en-US"/>
              <a:t>1</a:t>
            </a:r>
            <a:r>
              <a:rPr lang="en-US"/>
              <a:t>*c = c</a:t>
            </a:r>
            <a:r>
              <a:rPr baseline="-25000" lang="en-US"/>
              <a:t>2</a:t>
            </a:r>
            <a:r>
              <a:rPr lang="en-US"/>
              <a:t>  = O(1) , where c,c</a:t>
            </a:r>
            <a:r>
              <a:rPr baseline="-25000" lang="en-US"/>
              <a:t>1</a:t>
            </a:r>
            <a:r>
              <a:rPr lang="en-US"/>
              <a:t>,c</a:t>
            </a:r>
            <a:r>
              <a:rPr baseline="-25000" lang="en-US"/>
              <a:t>2</a:t>
            </a:r>
            <a:r>
              <a:rPr lang="en-US"/>
              <a:t> are constants</a:t>
            </a:r>
            <a:r>
              <a:rPr baseline="-25000" lang="en-US"/>
              <a:t>    </a:t>
            </a:r>
            <a:r>
              <a:rPr lang="en-US"/>
              <a:t> </a:t>
            </a:r>
            <a:endParaRPr/>
          </a:p>
          <a:p>
            <a:pPr indent="-285750" lvl="1" marL="742950" rtl="0" algn="l">
              <a:spcBef>
                <a:spcPts val="480"/>
              </a:spcBef>
              <a:spcAft>
                <a:spcPts val="0"/>
              </a:spcAft>
              <a:buClr>
                <a:schemeClr val="dk1"/>
              </a:buClr>
              <a:buSzPts val="2400"/>
              <a:buFont typeface="Arial"/>
              <a:buChar char="–"/>
            </a:pPr>
            <a:r>
              <a:rPr lang="en-US"/>
              <a:t>O(1) + O(1) + O(1) = 3*O(1) = O(1)</a:t>
            </a:r>
            <a:endParaRPr/>
          </a:p>
          <a:p>
            <a:pPr indent="-285750" lvl="1" marL="742950" rtl="0" algn="l">
              <a:spcBef>
                <a:spcPts val="480"/>
              </a:spcBef>
              <a:spcAft>
                <a:spcPts val="0"/>
              </a:spcAft>
              <a:buClr>
                <a:schemeClr val="dk1"/>
              </a:buClr>
              <a:buSzPts val="2400"/>
              <a:buFont typeface="Arial"/>
              <a:buChar char="–"/>
            </a:pPr>
            <a:r>
              <a:rPr lang="en-US"/>
              <a:t>5*O(1) = O(1)</a:t>
            </a:r>
            <a:endParaRPr/>
          </a:p>
          <a:p>
            <a:pPr indent="-342900" lvl="0" marL="342900" rtl="0" algn="l">
              <a:spcBef>
                <a:spcPts val="560"/>
              </a:spcBef>
              <a:spcAft>
                <a:spcPts val="0"/>
              </a:spcAft>
              <a:buClr>
                <a:schemeClr val="accent2"/>
              </a:buClr>
              <a:buSzPts val="2800"/>
              <a:buFont typeface="Arial"/>
              <a:buChar char="•"/>
            </a:pPr>
            <a:r>
              <a:rPr lang="en-US"/>
              <a:t>n*O(1) = n*c = cn = O(n) , where c is constant and n is variable </a:t>
            </a:r>
            <a:endParaRPr/>
          </a:p>
          <a:p>
            <a:pPr indent="-342900" lvl="0" marL="342900" rtl="0" algn="l">
              <a:spcBef>
                <a:spcPts val="560"/>
              </a:spcBef>
              <a:spcAft>
                <a:spcPts val="0"/>
              </a:spcAft>
              <a:buClr>
                <a:schemeClr val="accent2"/>
              </a:buClr>
              <a:buSzPts val="2800"/>
              <a:buFont typeface="Arial"/>
              <a:buChar char="•"/>
            </a:pPr>
            <a:r>
              <a:rPr lang="en-US"/>
              <a:t>O(m) + O(n) ≠ O(m+n)</a:t>
            </a:r>
            <a:endParaRPr/>
          </a:p>
          <a:p>
            <a:pPr indent="-342900" lvl="0" marL="342900" rtl="0" algn="l">
              <a:spcBef>
                <a:spcPts val="560"/>
              </a:spcBef>
              <a:spcAft>
                <a:spcPts val="0"/>
              </a:spcAft>
              <a:buClr>
                <a:schemeClr val="accent2"/>
              </a:buClr>
              <a:buSzPts val="2800"/>
              <a:buFont typeface="Arial"/>
              <a:buChar char="•"/>
            </a:pPr>
            <a:r>
              <a:rPr lang="en-US"/>
              <a:t>O(m) * O(n) = c</a:t>
            </a:r>
            <a:r>
              <a:rPr baseline="-25000" lang="en-US"/>
              <a:t>1</a:t>
            </a:r>
            <a:r>
              <a:rPr lang="en-US"/>
              <a:t>mc</a:t>
            </a:r>
            <a:r>
              <a:rPr baseline="-25000" lang="en-US"/>
              <a:t>2</a:t>
            </a:r>
            <a:r>
              <a:rPr lang="en-US"/>
              <a:t>n = (c</a:t>
            </a:r>
            <a:r>
              <a:rPr baseline="-25000" lang="en-US"/>
              <a:t>1</a:t>
            </a:r>
            <a:r>
              <a:rPr lang="en-US"/>
              <a:t>*c</a:t>
            </a:r>
            <a:r>
              <a:rPr baseline="-25000" lang="en-US"/>
              <a:t>2</a:t>
            </a:r>
            <a:r>
              <a:rPr lang="en-US"/>
              <a:t>)(mn) = (c</a:t>
            </a:r>
            <a:r>
              <a:rPr baseline="-25000" lang="en-US"/>
              <a:t>2</a:t>
            </a:r>
            <a:r>
              <a:rPr lang="en-US"/>
              <a:t>)(mn) = O(mn) </a:t>
            </a:r>
            <a:endParaRPr/>
          </a:p>
          <a:p>
            <a:pPr indent="-342900" lvl="0" marL="342900" rtl="0" algn="l">
              <a:spcBef>
                <a:spcPts val="560"/>
              </a:spcBef>
              <a:spcAft>
                <a:spcPts val="0"/>
              </a:spcAft>
              <a:buClr>
                <a:schemeClr val="accent2"/>
              </a:buClr>
              <a:buSzPts val="2800"/>
              <a:buFont typeface="Arial"/>
              <a:buChar char="•"/>
            </a:pPr>
            <a:r>
              <a:rPr lang="en-US"/>
              <a:t>O(m)*O(n)*O(p)*O(q) = O(m(n(p(q)))) = O(mnpq)</a:t>
            </a:r>
            <a:endParaRPr/>
          </a:p>
          <a:p>
            <a:pPr indent="-285750" lvl="1" marL="742950" rtl="0" algn="l">
              <a:spcBef>
                <a:spcPts val="480"/>
              </a:spcBef>
              <a:spcAft>
                <a:spcPts val="0"/>
              </a:spcAft>
              <a:buClr>
                <a:schemeClr val="dk1"/>
              </a:buClr>
              <a:buSzPts val="2400"/>
              <a:buFont typeface="Arial"/>
              <a:buChar char="–"/>
            </a:pPr>
            <a:r>
              <a:rPr lang="en-US"/>
              <a:t>Example nested for loops</a:t>
            </a:r>
            <a:endParaRPr/>
          </a:p>
          <a:p>
            <a:pPr indent="-342900" lvl="0" marL="342900" rtl="0" algn="l">
              <a:spcBef>
                <a:spcPts val="560"/>
              </a:spcBef>
              <a:spcAft>
                <a:spcPts val="0"/>
              </a:spcAft>
              <a:buClr>
                <a:schemeClr val="accent2"/>
              </a:buClr>
              <a:buSzPts val="2800"/>
              <a:buFont typeface="Arial"/>
              <a:buChar char="•"/>
            </a:pPr>
            <a:r>
              <a:rPr lang="en-US"/>
              <a:t> O(an</a:t>
            </a:r>
            <a:r>
              <a:rPr baseline="30000" lang="en-US"/>
              <a:t>2</a:t>
            </a:r>
            <a:r>
              <a:rPr lang="en-US"/>
              <a:t> + bn + c) = O(n</a:t>
            </a:r>
            <a:r>
              <a:rPr baseline="30000" lang="en-US"/>
              <a:t>2</a:t>
            </a:r>
            <a:r>
              <a:rPr lang="en-US"/>
              <a:t>) where a, b , c are constants </a:t>
            </a:r>
            <a:endParaRPr/>
          </a:p>
          <a:p>
            <a:pPr indent="-165100" lvl="0" marL="342900" rtl="0" algn="l">
              <a:spcBef>
                <a:spcPts val="560"/>
              </a:spcBef>
              <a:spcAft>
                <a:spcPts val="0"/>
              </a:spcAft>
              <a:buClr>
                <a:schemeClr val="accent2"/>
              </a:buClr>
              <a:buSzPts val="2800"/>
              <a:buFont typeface="Arial"/>
              <a:buNone/>
            </a:pPr>
            <a:r>
              <a:t/>
            </a:r>
            <a:endParaRPr/>
          </a:p>
          <a:p>
            <a:pPr indent="-165100" lvl="0" marL="342900" rtl="0" algn="l">
              <a:spcBef>
                <a:spcPts val="560"/>
              </a:spcBef>
              <a:spcAft>
                <a:spcPts val="0"/>
              </a:spcAft>
              <a:buClr>
                <a:schemeClr val="accent2"/>
              </a:buClr>
              <a:buSzPts val="2800"/>
              <a:buFont typeface="Arial"/>
              <a:buNone/>
            </a:pPr>
            <a:r>
              <a:t/>
            </a:r>
            <a:endParaRPr/>
          </a:p>
          <a:p>
            <a:pPr indent="-165100" lvl="0" marL="342900" rtl="0" algn="l">
              <a:spcBef>
                <a:spcPts val="560"/>
              </a:spcBef>
              <a:spcAft>
                <a:spcPts val="0"/>
              </a:spcAft>
              <a:buClr>
                <a:schemeClr val="accent2"/>
              </a:buClr>
              <a:buSzPts val="2800"/>
              <a:buFont typeface="Arial"/>
              <a:buNone/>
            </a:pPr>
            <a:r>
              <a:t/>
            </a:r>
            <a:endParaRPr/>
          </a:p>
          <a:p>
            <a:pPr indent="-165100" lvl="0" marL="342900" rtl="0" algn="l">
              <a:spcBef>
                <a:spcPts val="560"/>
              </a:spcBef>
              <a:spcAft>
                <a:spcPts val="0"/>
              </a:spcAft>
              <a:buClr>
                <a:schemeClr val="accent2"/>
              </a:buClr>
              <a:buSzPts val="2800"/>
              <a:buFont typeface="Arial"/>
              <a:buNone/>
            </a:pPr>
            <a:r>
              <a:t/>
            </a:r>
            <a:endParaRPr/>
          </a:p>
        </p:txBody>
      </p:sp>
      <p:sp>
        <p:nvSpPr>
          <p:cNvPr id="508" name="Google Shape;508;p37"/>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BRAC University Jobs 2020- Jobs in BRAC University- careerz360.com" id="509" name="Google Shape;509;p37"/>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3" name="Shape 513"/>
        <p:cNvGrpSpPr/>
        <p:nvPr/>
      </p:nvGrpSpPr>
      <p:grpSpPr>
        <a:xfrm>
          <a:off x="0" y="0"/>
          <a:ext cx="0" cy="0"/>
          <a:chOff x="0" y="0"/>
          <a:chExt cx="0" cy="0"/>
        </a:xfrm>
      </p:grpSpPr>
      <p:sp>
        <p:nvSpPr>
          <p:cNvPr id="514" name="Google Shape;514;p38"/>
          <p:cNvSpPr txBox="1"/>
          <p:nvPr>
            <p:ph type="title"/>
          </p:nvPr>
        </p:nvSpPr>
        <p:spPr>
          <a:xfrm>
            <a:off x="455084" y="297179"/>
            <a:ext cx="10972800" cy="1108711"/>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Example #1: carry n books </a:t>
            </a:r>
            <a:br>
              <a:rPr lang="en-US"/>
            </a:br>
            <a:r>
              <a:rPr lang="en-US"/>
              <a:t>from one bookshelf to another one</a:t>
            </a:r>
            <a:endParaRPr/>
          </a:p>
        </p:txBody>
      </p:sp>
      <p:sp>
        <p:nvSpPr>
          <p:cNvPr id="515" name="Google Shape;515;p38"/>
          <p:cNvSpPr txBox="1"/>
          <p:nvPr>
            <p:ph idx="1" type="body"/>
          </p:nvPr>
        </p:nvSpPr>
        <p:spPr>
          <a:xfrm>
            <a:off x="467784" y="1623060"/>
            <a:ext cx="10972800" cy="466820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accent2"/>
              </a:buClr>
              <a:buSzPts val="2800"/>
              <a:buFont typeface="Arial"/>
              <a:buChar char="•"/>
            </a:pPr>
            <a:r>
              <a:rPr lang="en-US"/>
              <a:t>How many operations?</a:t>
            </a:r>
            <a:endParaRPr/>
          </a:p>
          <a:p>
            <a:pPr indent="-342900" lvl="0" marL="342900" rtl="0" algn="l">
              <a:spcBef>
                <a:spcPts val="560"/>
              </a:spcBef>
              <a:spcAft>
                <a:spcPts val="0"/>
              </a:spcAft>
              <a:buClr>
                <a:schemeClr val="accent2"/>
              </a:buClr>
              <a:buSzPts val="2800"/>
              <a:buFont typeface="Arial"/>
              <a:buChar char="•"/>
            </a:pPr>
            <a:r>
              <a:rPr lang="en-US"/>
              <a:t>n pick-ups, n forward moves, n drops and n reverse moves 🡪 4 n operations</a:t>
            </a:r>
            <a:endParaRPr/>
          </a:p>
          <a:p>
            <a:pPr indent="-342900" lvl="0" marL="342900" rtl="0" algn="l">
              <a:spcBef>
                <a:spcPts val="560"/>
              </a:spcBef>
              <a:spcAft>
                <a:spcPts val="0"/>
              </a:spcAft>
              <a:buClr>
                <a:schemeClr val="accent2"/>
              </a:buClr>
              <a:buSzPts val="2800"/>
              <a:buFont typeface="Arial"/>
              <a:buChar char="•"/>
            </a:pPr>
            <a:r>
              <a:rPr lang="en-US"/>
              <a:t>4n operations = c. n = O(c. n) = O(n)</a:t>
            </a:r>
            <a:endParaRPr/>
          </a:p>
          <a:p>
            <a:pPr indent="-342900" lvl="0" marL="342900" rtl="0" algn="l">
              <a:spcBef>
                <a:spcPts val="560"/>
              </a:spcBef>
              <a:spcAft>
                <a:spcPts val="0"/>
              </a:spcAft>
              <a:buClr>
                <a:schemeClr val="accent2"/>
              </a:buClr>
              <a:buSzPts val="2800"/>
              <a:buFont typeface="Arial"/>
              <a:buChar char="•"/>
            </a:pPr>
            <a:r>
              <a:rPr lang="en-US"/>
              <a:t>Similarly, any program that reads n inputs from the user will have minimum time complexity O(n).</a:t>
            </a:r>
            <a:endParaRPr/>
          </a:p>
          <a:p>
            <a:pPr indent="0" lvl="0" marL="0" rtl="0" algn="l">
              <a:spcBef>
                <a:spcPts val="560"/>
              </a:spcBef>
              <a:spcAft>
                <a:spcPts val="0"/>
              </a:spcAft>
              <a:buClr>
                <a:schemeClr val="accent2"/>
              </a:buClr>
              <a:buSzPts val="2800"/>
              <a:buFont typeface="Arial"/>
              <a:buNone/>
            </a:pPr>
            <a:r>
              <a:t/>
            </a:r>
            <a:endParaRPr/>
          </a:p>
        </p:txBody>
      </p:sp>
      <p:pic>
        <p:nvPicPr>
          <p:cNvPr descr="BRAC University Jobs 2020- Jobs in BRAC University- careerz360.com" id="516" name="Google Shape;516;p38"/>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517" name="Google Shape;517;p38"/>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39"/>
          <p:cNvSpPr txBox="1"/>
          <p:nvPr>
            <p:ph type="title"/>
          </p:nvPr>
        </p:nvSpPr>
        <p:spPr>
          <a:xfrm>
            <a:off x="455084" y="124619"/>
            <a:ext cx="10972800" cy="1189831"/>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Example #2: Locating Roll-Number record in</a:t>
            </a:r>
            <a:br>
              <a:rPr lang="en-US"/>
            </a:br>
            <a:r>
              <a:rPr lang="en-US"/>
              <a:t>Attendance Sheet</a:t>
            </a:r>
            <a:endParaRPr/>
          </a:p>
        </p:txBody>
      </p:sp>
      <p:sp>
        <p:nvSpPr>
          <p:cNvPr id="523" name="Google Shape;523;p39"/>
          <p:cNvSpPr txBox="1"/>
          <p:nvPr>
            <p:ph idx="1" type="body"/>
          </p:nvPr>
        </p:nvSpPr>
        <p:spPr>
          <a:xfrm>
            <a:off x="467784" y="1760220"/>
            <a:ext cx="10972800" cy="453104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2800"/>
              <a:buFont typeface="Arial"/>
              <a:buNone/>
            </a:pPr>
            <a:r>
              <a:rPr lang="en-US"/>
              <a:t>What is the time complexity of search?</a:t>
            </a:r>
            <a:endParaRPr/>
          </a:p>
          <a:p>
            <a:pPr indent="-342900" lvl="0" marL="342900" rtl="0" algn="l">
              <a:spcBef>
                <a:spcPts val="560"/>
              </a:spcBef>
              <a:spcAft>
                <a:spcPts val="0"/>
              </a:spcAft>
              <a:buClr>
                <a:schemeClr val="accent2"/>
              </a:buClr>
              <a:buSzPts val="2800"/>
              <a:buFont typeface="Arial"/>
              <a:buChar char="•"/>
            </a:pPr>
            <a:r>
              <a:rPr lang="en-US"/>
              <a:t>Binary Search algorithm at work</a:t>
            </a:r>
            <a:endParaRPr/>
          </a:p>
          <a:p>
            <a:pPr indent="-285750" lvl="1" marL="742950" rtl="0" algn="l">
              <a:spcBef>
                <a:spcPts val="480"/>
              </a:spcBef>
              <a:spcAft>
                <a:spcPts val="0"/>
              </a:spcAft>
              <a:buClr>
                <a:schemeClr val="dk1"/>
              </a:buClr>
              <a:buSzPts val="2400"/>
              <a:buFont typeface="Arial"/>
              <a:buChar char="–"/>
            </a:pPr>
            <a:r>
              <a:rPr lang="en-US"/>
              <a:t>O(log n)</a:t>
            </a:r>
            <a:endParaRPr/>
          </a:p>
          <a:p>
            <a:pPr indent="-342900" lvl="0" marL="342900" rtl="0" algn="l">
              <a:spcBef>
                <a:spcPts val="560"/>
              </a:spcBef>
              <a:spcAft>
                <a:spcPts val="0"/>
              </a:spcAft>
              <a:buClr>
                <a:schemeClr val="accent2"/>
              </a:buClr>
              <a:buSzPts val="2800"/>
              <a:buFont typeface="Arial"/>
              <a:buChar char="•"/>
            </a:pPr>
            <a:r>
              <a:rPr lang="en-US"/>
              <a:t>Sequential search?</a:t>
            </a:r>
            <a:endParaRPr/>
          </a:p>
          <a:p>
            <a:pPr indent="-285750" lvl="1" marL="742950" rtl="0" algn="l">
              <a:spcBef>
                <a:spcPts val="480"/>
              </a:spcBef>
              <a:spcAft>
                <a:spcPts val="0"/>
              </a:spcAft>
              <a:buClr>
                <a:schemeClr val="dk1"/>
              </a:buClr>
              <a:buSzPts val="2400"/>
              <a:buFont typeface="Arial"/>
              <a:buChar char="–"/>
            </a:pPr>
            <a:r>
              <a:rPr lang="en-US"/>
              <a:t>O(n)</a:t>
            </a:r>
            <a:endParaRPr/>
          </a:p>
        </p:txBody>
      </p:sp>
      <p:pic>
        <p:nvPicPr>
          <p:cNvPr descr="BRAC University Jobs 2020- Jobs in BRAC University- careerz360.com" id="524" name="Google Shape;524;p39"/>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525" name="Google Shape;525;p39"/>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0"/>
          <p:cNvSpPr txBox="1"/>
          <p:nvPr>
            <p:ph type="title"/>
          </p:nvPr>
        </p:nvSpPr>
        <p:spPr>
          <a:xfrm>
            <a:off x="455084" y="297181"/>
            <a:ext cx="10508925" cy="132588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Example #3: Teacher of CSE 221 gives gifts to first 10 students</a:t>
            </a:r>
            <a:endParaRPr/>
          </a:p>
        </p:txBody>
      </p:sp>
      <p:sp>
        <p:nvSpPr>
          <p:cNvPr id="531" name="Google Shape;531;p40"/>
          <p:cNvSpPr txBox="1"/>
          <p:nvPr>
            <p:ph idx="1" type="body"/>
          </p:nvPr>
        </p:nvSpPr>
        <p:spPr>
          <a:xfrm>
            <a:off x="467784" y="2057400"/>
            <a:ext cx="10972800" cy="423386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There are </a:t>
            </a:r>
            <a:r>
              <a:rPr lang="en-US">
                <a:solidFill>
                  <a:srgbClr val="FF0000"/>
                </a:solidFill>
              </a:rPr>
              <a:t>n</a:t>
            </a:r>
            <a:r>
              <a:rPr lang="en-US"/>
              <a:t> students in the queue.</a:t>
            </a:r>
            <a:endParaRPr/>
          </a:p>
          <a:p>
            <a:pPr indent="-342900" lvl="0" marL="342900" rtl="0" algn="l">
              <a:spcBef>
                <a:spcPts val="560"/>
              </a:spcBef>
              <a:spcAft>
                <a:spcPts val="0"/>
              </a:spcAft>
              <a:buClr>
                <a:schemeClr val="accent2"/>
              </a:buClr>
              <a:buSzPts val="2800"/>
              <a:buFont typeface="Arial"/>
              <a:buChar char="•"/>
            </a:pPr>
            <a:r>
              <a:rPr lang="en-US"/>
              <a:t>Teacher brings one gift at a time.</a:t>
            </a:r>
            <a:endParaRPr/>
          </a:p>
          <a:p>
            <a:pPr indent="-342900" lvl="0" marL="342900" rtl="0" algn="l">
              <a:spcBef>
                <a:spcPts val="560"/>
              </a:spcBef>
              <a:spcAft>
                <a:spcPts val="0"/>
              </a:spcAft>
              <a:buClr>
                <a:schemeClr val="accent2"/>
              </a:buClr>
              <a:buSzPts val="2800"/>
              <a:buFont typeface="Arial"/>
              <a:buChar char="•"/>
            </a:pPr>
            <a:r>
              <a:rPr lang="en-US"/>
              <a:t>Time complexity = O(c. 10) = O(1)</a:t>
            </a:r>
            <a:endParaRPr/>
          </a:p>
          <a:p>
            <a:pPr indent="-342900" lvl="0" marL="342900" rtl="0" algn="l">
              <a:spcBef>
                <a:spcPts val="560"/>
              </a:spcBef>
              <a:spcAft>
                <a:spcPts val="0"/>
              </a:spcAft>
              <a:buClr>
                <a:schemeClr val="accent2"/>
              </a:buClr>
              <a:buSzPts val="2800"/>
              <a:buFont typeface="Arial"/>
              <a:buChar char="•"/>
            </a:pPr>
            <a:r>
              <a:rPr lang="en-US"/>
              <a:t>Teacher will take exactly same time irrespective of the line length.</a:t>
            </a:r>
            <a:endParaRPr/>
          </a:p>
          <a:p>
            <a:pPr indent="0" lvl="0" marL="0" rtl="0" algn="l">
              <a:spcBef>
                <a:spcPts val="560"/>
              </a:spcBef>
              <a:spcAft>
                <a:spcPts val="0"/>
              </a:spcAft>
              <a:buClr>
                <a:schemeClr val="accent2"/>
              </a:buClr>
              <a:buSzPts val="2800"/>
              <a:buFont typeface="Arial"/>
              <a:buNone/>
            </a:pPr>
            <a:r>
              <a:t/>
            </a:r>
            <a:endParaRPr/>
          </a:p>
        </p:txBody>
      </p:sp>
      <p:pic>
        <p:nvPicPr>
          <p:cNvPr descr="BRAC University Jobs 2020- Jobs in BRAC University- careerz360.com" id="532" name="Google Shape;532;p40"/>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533" name="Google Shape;533;p40"/>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41"/>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40" name="Google Shape;540;p41"/>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Loops with Break </a:t>
            </a:r>
            <a:endParaRPr/>
          </a:p>
        </p:txBody>
      </p:sp>
      <p:sp>
        <p:nvSpPr>
          <p:cNvPr id="541" name="Google Shape;541;p41"/>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000"/>
              <a:buFont typeface="Courier New"/>
              <a:buNone/>
            </a:pPr>
            <a:r>
              <a:rPr b="1" lang="en-US" sz="2000">
                <a:latin typeface="Courier New"/>
                <a:ea typeface="Courier New"/>
                <a:cs typeface="Courier New"/>
                <a:sym typeface="Courier New"/>
              </a:rPr>
              <a:t>	for (j = 0; j &lt; n; ++j) {</a:t>
            </a:r>
            <a:endParaRPr/>
          </a:p>
          <a:p>
            <a:pPr indent="-342900" lvl="0" marL="342900" rtl="0" algn="l">
              <a:spcBef>
                <a:spcPts val="400"/>
              </a:spcBef>
              <a:spcAft>
                <a:spcPts val="0"/>
              </a:spcAft>
              <a:buClr>
                <a:schemeClr val="accent2"/>
              </a:buClr>
              <a:buSzPts val="2000"/>
              <a:buFont typeface="Courier New"/>
              <a:buNone/>
            </a:pPr>
            <a:r>
              <a:rPr b="1" lang="en-US" sz="2000">
                <a:latin typeface="Courier New"/>
                <a:ea typeface="Courier New"/>
                <a:cs typeface="Courier New"/>
                <a:sym typeface="Courier New"/>
              </a:rPr>
              <a:t>		// 3 atomics</a:t>
            </a:r>
            <a:endParaRPr/>
          </a:p>
          <a:p>
            <a:pPr indent="-342900" lvl="0" marL="342900" rtl="0" algn="l">
              <a:spcBef>
                <a:spcPts val="400"/>
              </a:spcBef>
              <a:spcAft>
                <a:spcPts val="0"/>
              </a:spcAft>
              <a:buClr>
                <a:schemeClr val="accent2"/>
              </a:buClr>
              <a:buSzPts val="2000"/>
              <a:buFont typeface="Courier New"/>
              <a:buNone/>
            </a:pPr>
            <a:r>
              <a:rPr b="1" lang="en-US" sz="2000">
                <a:latin typeface="Courier New"/>
                <a:ea typeface="Courier New"/>
                <a:cs typeface="Courier New"/>
                <a:sym typeface="Courier New"/>
              </a:rPr>
              <a:t>		if (condition) break;</a:t>
            </a:r>
            <a:endParaRPr/>
          </a:p>
          <a:p>
            <a:pPr indent="-342900" lvl="0" marL="342900" rtl="0" algn="l">
              <a:spcBef>
                <a:spcPts val="400"/>
              </a:spcBef>
              <a:spcAft>
                <a:spcPts val="0"/>
              </a:spcAft>
              <a:buClr>
                <a:schemeClr val="accent2"/>
              </a:buClr>
              <a:buSzPts val="2000"/>
              <a:buFont typeface="Courier New"/>
              <a:buNone/>
            </a:pPr>
            <a:r>
              <a:rPr b="1" lang="en-US" sz="2000">
                <a:latin typeface="Courier New"/>
                <a:ea typeface="Courier New"/>
                <a:cs typeface="Courier New"/>
                <a:sym typeface="Courier New"/>
              </a:rPr>
              <a:t>	}</a:t>
            </a:r>
            <a:endParaRPr/>
          </a:p>
          <a:p>
            <a:pPr indent="-215900" lvl="0" marL="342900" rtl="0" algn="l">
              <a:spcBef>
                <a:spcPts val="400"/>
              </a:spcBef>
              <a:spcAft>
                <a:spcPts val="0"/>
              </a:spcAft>
              <a:buClr>
                <a:schemeClr val="accent2"/>
              </a:buClr>
              <a:buSzPts val="2000"/>
              <a:buFont typeface="Arial"/>
              <a:buNone/>
            </a:pPr>
            <a:r>
              <a:t/>
            </a:r>
            <a:endParaRPr sz="2000"/>
          </a:p>
          <a:p>
            <a:pPr indent="-342900" lvl="0" marL="342900" rtl="0" algn="l">
              <a:spcBef>
                <a:spcPts val="560"/>
              </a:spcBef>
              <a:spcAft>
                <a:spcPts val="0"/>
              </a:spcAft>
              <a:buClr>
                <a:schemeClr val="accent2"/>
              </a:buClr>
              <a:buSzPts val="2800"/>
              <a:buFont typeface="Arial"/>
              <a:buChar char="•"/>
            </a:pPr>
            <a:r>
              <a:rPr lang="en-US"/>
              <a:t>Upper bound</a:t>
            </a:r>
            <a:r>
              <a:rPr lang="en-US">
                <a:latin typeface="Times New Roman"/>
                <a:ea typeface="Times New Roman"/>
                <a:cs typeface="Times New Roman"/>
                <a:sym typeface="Times New Roman"/>
              </a:rPr>
              <a:t> = </a:t>
            </a:r>
            <a:r>
              <a:rPr lang="en-US"/>
              <a:t>O(4n) = O(n)</a:t>
            </a:r>
            <a:endParaRPr/>
          </a:p>
          <a:p>
            <a:pPr indent="-342900" lvl="0" marL="342900" rtl="0" algn="l">
              <a:spcBef>
                <a:spcPts val="560"/>
              </a:spcBef>
              <a:spcAft>
                <a:spcPts val="0"/>
              </a:spcAft>
              <a:buClr>
                <a:schemeClr val="accent2"/>
              </a:buClr>
              <a:buSzPts val="2800"/>
              <a:buFont typeface="Arial"/>
              <a:buChar char="•"/>
            </a:pPr>
            <a:r>
              <a:rPr lang="en-US"/>
              <a:t>Lower bound = </a:t>
            </a:r>
            <a:r>
              <a:rPr i="1" lang="en-US"/>
              <a:t>Ω</a:t>
            </a:r>
            <a:r>
              <a:rPr lang="en-US"/>
              <a:t>(4) = </a:t>
            </a:r>
            <a:r>
              <a:rPr i="1" lang="en-US"/>
              <a:t>Ω</a:t>
            </a:r>
            <a:r>
              <a:rPr lang="en-US"/>
              <a:t>(1)</a:t>
            </a:r>
            <a:endParaRPr/>
          </a:p>
          <a:p>
            <a:pPr indent="-342900" lvl="0" marL="342900" rtl="0" algn="l">
              <a:spcBef>
                <a:spcPts val="560"/>
              </a:spcBef>
              <a:spcAft>
                <a:spcPts val="0"/>
              </a:spcAft>
              <a:buClr>
                <a:schemeClr val="accent2"/>
              </a:buClr>
              <a:buSzPts val="2800"/>
              <a:buFont typeface="Arial"/>
              <a:buChar char="•"/>
            </a:pPr>
            <a:r>
              <a:rPr lang="en-US"/>
              <a:t>Complexity = O(n)</a:t>
            </a:r>
            <a:endParaRPr/>
          </a:p>
          <a:p>
            <a:pPr indent="-342900" lvl="0" marL="342900" rtl="0" algn="l">
              <a:spcBef>
                <a:spcPts val="560"/>
              </a:spcBef>
              <a:spcAft>
                <a:spcPts val="0"/>
              </a:spcAft>
              <a:buClr>
                <a:schemeClr val="accent2"/>
              </a:buClr>
              <a:buSzPts val="2800"/>
              <a:buFont typeface="Arial"/>
              <a:buNone/>
            </a:pPr>
            <a:r>
              <a:rPr lang="en-US"/>
              <a:t>Ques: </a:t>
            </a:r>
            <a:r>
              <a:rPr lang="en-US">
                <a:solidFill>
                  <a:srgbClr val="FF0000"/>
                </a:solidFill>
              </a:rPr>
              <a:t>Why don’t we have a Θ(…) notation here?</a:t>
            </a:r>
            <a:endParaRPr sz="2000">
              <a:solidFill>
                <a:srgbClr val="FF0000"/>
              </a:solidFill>
            </a:endParaRPr>
          </a:p>
        </p:txBody>
      </p:sp>
      <p:pic>
        <p:nvPicPr>
          <p:cNvPr descr="BRAC University Jobs 2020- Jobs in BRAC University- careerz360.com" id="542" name="Google Shape;542;p41"/>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42"/>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49" name="Google Shape;549;p42"/>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Sequential Search</a:t>
            </a:r>
            <a:endParaRPr/>
          </a:p>
        </p:txBody>
      </p:sp>
      <p:sp>
        <p:nvSpPr>
          <p:cNvPr id="550" name="Google Shape;550;p42"/>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Given an </a:t>
            </a:r>
            <a:r>
              <a:rPr lang="en-US">
                <a:solidFill>
                  <a:srgbClr val="0000FF"/>
                </a:solidFill>
              </a:rPr>
              <a:t>unsorted</a:t>
            </a:r>
            <a:r>
              <a:rPr lang="en-US"/>
              <a:t> vector/list a[ ], find the location of element X.</a:t>
            </a:r>
            <a:endParaRPr/>
          </a:p>
          <a:p>
            <a:pPr indent="-165100" lvl="0" marL="342900" rtl="0" algn="l">
              <a:spcBef>
                <a:spcPts val="560"/>
              </a:spcBef>
              <a:spcAft>
                <a:spcPts val="0"/>
              </a:spcAft>
              <a:buClr>
                <a:schemeClr val="accent2"/>
              </a:buClr>
              <a:buSzPts val="2800"/>
              <a:buFont typeface="Arial"/>
              <a:buNone/>
            </a:pPr>
            <a:r>
              <a:t/>
            </a:r>
            <a:endParaRPr/>
          </a:p>
          <a:p>
            <a:pPr indent="-342900" lvl="0" marL="342900" rtl="0" algn="l">
              <a:spcBef>
                <a:spcPts val="36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a:t>
            </a:r>
            <a:r>
              <a:rPr b="1" lang="en-US" sz="1800">
                <a:solidFill>
                  <a:srgbClr val="0000FF"/>
                </a:solidFill>
                <a:latin typeface="Courier New"/>
                <a:ea typeface="Courier New"/>
                <a:cs typeface="Courier New"/>
                <a:sym typeface="Courier New"/>
              </a:rPr>
              <a:t>for (i = 0; i &lt; n; i++) {</a:t>
            </a:r>
            <a:endParaRPr/>
          </a:p>
          <a:p>
            <a:pPr indent="-342900" lvl="0" marL="342900" rtl="0" algn="l">
              <a:spcBef>
                <a:spcPts val="360"/>
              </a:spcBef>
              <a:spcAft>
                <a:spcPts val="0"/>
              </a:spcAft>
              <a:buClr>
                <a:srgbClr val="0000FF"/>
              </a:buClr>
              <a:buSzPts val="1800"/>
              <a:buFont typeface="Courier New"/>
              <a:buNone/>
            </a:pPr>
            <a:r>
              <a:rPr b="1" lang="en-US" sz="1800">
                <a:solidFill>
                  <a:srgbClr val="0000FF"/>
                </a:solidFill>
                <a:latin typeface="Courier New"/>
                <a:ea typeface="Courier New"/>
                <a:cs typeface="Courier New"/>
                <a:sym typeface="Courier New"/>
              </a:rPr>
              <a:t>	    		if (a[i] == X) return true;</a:t>
            </a:r>
            <a:endParaRPr/>
          </a:p>
          <a:p>
            <a:pPr indent="-342900" lvl="0" marL="342900" rtl="0" algn="l">
              <a:spcBef>
                <a:spcPts val="360"/>
              </a:spcBef>
              <a:spcAft>
                <a:spcPts val="0"/>
              </a:spcAft>
              <a:buClr>
                <a:srgbClr val="0000FF"/>
              </a:buClr>
              <a:buSzPts val="1800"/>
              <a:buFont typeface="Courier New"/>
              <a:buNone/>
            </a:pPr>
            <a:r>
              <a:rPr b="1" lang="en-US" sz="1800">
                <a:solidFill>
                  <a:srgbClr val="0000FF"/>
                </a:solidFill>
                <a:latin typeface="Courier New"/>
                <a:ea typeface="Courier New"/>
                <a:cs typeface="Courier New"/>
                <a:sym typeface="Courier New"/>
              </a:rPr>
              <a:t>		}</a:t>
            </a:r>
            <a:endParaRPr/>
          </a:p>
          <a:p>
            <a:pPr indent="-342900" lvl="0" marL="342900" rtl="0" algn="l">
              <a:spcBef>
                <a:spcPts val="360"/>
              </a:spcBef>
              <a:spcAft>
                <a:spcPts val="0"/>
              </a:spcAft>
              <a:buClr>
                <a:srgbClr val="0000FF"/>
              </a:buClr>
              <a:buSzPts val="1800"/>
              <a:buFont typeface="Courier New"/>
              <a:buNone/>
            </a:pPr>
            <a:r>
              <a:rPr b="1" lang="en-US" sz="1800">
                <a:solidFill>
                  <a:srgbClr val="0000FF"/>
                </a:solidFill>
                <a:latin typeface="Courier New"/>
                <a:ea typeface="Courier New"/>
                <a:cs typeface="Courier New"/>
                <a:sym typeface="Courier New"/>
              </a:rPr>
              <a:t>		return false;</a:t>
            </a:r>
            <a:endParaRPr/>
          </a:p>
          <a:p>
            <a:pPr indent="-165100" lvl="0" marL="342900" rtl="0" algn="l">
              <a:spcBef>
                <a:spcPts val="560"/>
              </a:spcBef>
              <a:spcAft>
                <a:spcPts val="0"/>
              </a:spcAft>
              <a:buClr>
                <a:schemeClr val="accent2"/>
              </a:buClr>
              <a:buSzPts val="2800"/>
              <a:buFont typeface="Arial"/>
              <a:buNone/>
            </a:pPr>
            <a:r>
              <a:t/>
            </a:r>
            <a:endParaRPr>
              <a:solidFill>
                <a:srgbClr val="0000FF"/>
              </a:solidFill>
            </a:endParaRPr>
          </a:p>
          <a:p>
            <a:pPr indent="-342900" lvl="0" marL="342900" rtl="0" algn="l">
              <a:spcBef>
                <a:spcPts val="560"/>
              </a:spcBef>
              <a:spcAft>
                <a:spcPts val="0"/>
              </a:spcAft>
              <a:buClr>
                <a:schemeClr val="accent2"/>
              </a:buClr>
              <a:buSzPts val="2800"/>
              <a:buFont typeface="Arial"/>
              <a:buChar char="•"/>
            </a:pPr>
            <a:r>
              <a:rPr lang="en-US"/>
              <a:t>Input size:  n = array size()</a:t>
            </a:r>
            <a:endParaRPr/>
          </a:p>
          <a:p>
            <a:pPr indent="-342900" lvl="0" marL="342900" rtl="0" algn="l">
              <a:spcBef>
                <a:spcPts val="560"/>
              </a:spcBef>
              <a:spcAft>
                <a:spcPts val="0"/>
              </a:spcAft>
              <a:buClr>
                <a:schemeClr val="accent2"/>
              </a:buClr>
              <a:buSzPts val="2800"/>
              <a:buFont typeface="Arial"/>
              <a:buChar char="•"/>
            </a:pPr>
            <a:r>
              <a:rPr lang="en-US"/>
              <a:t>Complexity = O(n)</a:t>
            </a:r>
            <a:endParaRPr/>
          </a:p>
          <a:p>
            <a:pPr indent="-342900" lvl="0" marL="342900" rtl="0" algn="l">
              <a:spcBef>
                <a:spcPts val="280"/>
              </a:spcBef>
              <a:spcAft>
                <a:spcPts val="0"/>
              </a:spcAft>
              <a:buClr>
                <a:schemeClr val="accent2"/>
              </a:buClr>
              <a:buSzPts val="1400"/>
              <a:buFont typeface="Arial"/>
              <a:buNone/>
            </a:pPr>
            <a:r>
              <a:t/>
            </a:r>
            <a:endParaRPr b="1" sz="1400">
              <a:latin typeface="Courier New"/>
              <a:ea typeface="Courier New"/>
              <a:cs typeface="Courier New"/>
              <a:sym typeface="Courier New"/>
            </a:endParaRPr>
          </a:p>
          <a:p>
            <a:pPr indent="-342900" lvl="0" marL="342900" rtl="0" algn="l">
              <a:spcBef>
                <a:spcPts val="280"/>
              </a:spcBef>
              <a:spcAft>
                <a:spcPts val="0"/>
              </a:spcAft>
              <a:buClr>
                <a:schemeClr val="accent2"/>
              </a:buClr>
              <a:buSzPts val="1400"/>
              <a:buFont typeface="Arial"/>
              <a:buNone/>
            </a:pPr>
            <a:r>
              <a:t/>
            </a:r>
            <a:endParaRPr b="1" sz="1400">
              <a:latin typeface="Courier New"/>
              <a:ea typeface="Courier New"/>
              <a:cs typeface="Courier New"/>
              <a:sym typeface="Courier New"/>
            </a:endParaRPr>
          </a:p>
        </p:txBody>
      </p:sp>
      <p:pic>
        <p:nvPicPr>
          <p:cNvPr descr="BRAC University Jobs 2020- Jobs in BRAC University- careerz360.com" id="551" name="Google Shape;551;p42"/>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3"/>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58" name="Google Shape;558;p43"/>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If-then-else Statement</a:t>
            </a:r>
            <a:endParaRPr/>
          </a:p>
        </p:txBody>
      </p:sp>
      <p:sp>
        <p:nvSpPr>
          <p:cNvPr id="559" name="Google Shape;559;p43"/>
          <p:cNvSpPr txBox="1"/>
          <p:nvPr>
            <p:ph idx="1" type="body"/>
          </p:nvPr>
        </p:nvSpPr>
        <p:spPr>
          <a:xfrm>
            <a:off x="2438400" y="3276600"/>
            <a:ext cx="7086600" cy="2590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Complexity = ??</a:t>
            </a:r>
            <a:endParaRPr/>
          </a:p>
          <a:p>
            <a:pPr indent="-342900" lvl="0" marL="342900" rtl="0" algn="l">
              <a:spcBef>
                <a:spcPts val="560"/>
              </a:spcBef>
              <a:spcAft>
                <a:spcPts val="0"/>
              </a:spcAft>
              <a:buClr>
                <a:schemeClr val="accent2"/>
              </a:buClr>
              <a:buSzPts val="2800"/>
              <a:buFont typeface="Arial"/>
              <a:buNone/>
            </a:pPr>
            <a:r>
              <a:rPr lang="en-US"/>
              <a:t>= O(1) + max ( O(1), O(N)) </a:t>
            </a:r>
            <a:endParaRPr/>
          </a:p>
          <a:p>
            <a:pPr indent="-342900" lvl="0" marL="342900" rtl="0" algn="l">
              <a:spcBef>
                <a:spcPts val="560"/>
              </a:spcBef>
              <a:spcAft>
                <a:spcPts val="0"/>
              </a:spcAft>
              <a:buClr>
                <a:schemeClr val="accent2"/>
              </a:buClr>
              <a:buSzPts val="2800"/>
              <a:buFont typeface="Arial"/>
              <a:buNone/>
            </a:pPr>
            <a:r>
              <a:rPr lang="en-US"/>
              <a:t>= O(1) + O(N)</a:t>
            </a:r>
            <a:endParaRPr/>
          </a:p>
          <a:p>
            <a:pPr indent="-342900" lvl="0" marL="342900" rtl="0" algn="l">
              <a:spcBef>
                <a:spcPts val="560"/>
              </a:spcBef>
              <a:spcAft>
                <a:spcPts val="0"/>
              </a:spcAft>
              <a:buClr>
                <a:schemeClr val="accent2"/>
              </a:buClr>
              <a:buSzPts val="2800"/>
              <a:buFont typeface="Arial"/>
              <a:buNone/>
            </a:pPr>
            <a:r>
              <a:rPr lang="en-US"/>
              <a:t>= O(N)</a:t>
            </a:r>
            <a:endParaRPr/>
          </a:p>
        </p:txBody>
      </p:sp>
      <p:sp>
        <p:nvSpPr>
          <p:cNvPr id="560" name="Google Shape;560;p43"/>
          <p:cNvSpPr/>
          <p:nvPr/>
        </p:nvSpPr>
        <p:spPr>
          <a:xfrm>
            <a:off x="2819400" y="1371601"/>
            <a:ext cx="5105400" cy="1865313"/>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1800">
                <a:solidFill>
                  <a:srgbClr val="0000FF"/>
                </a:solidFill>
                <a:latin typeface="Courier New"/>
                <a:ea typeface="Courier New"/>
                <a:cs typeface="Courier New"/>
                <a:sym typeface="Courier New"/>
              </a:rPr>
              <a:t>if(condition) </a:t>
            </a:r>
            <a:endParaRPr/>
          </a:p>
          <a:p>
            <a:pPr indent="0" lvl="0" marL="0" marR="0" rtl="0" algn="l">
              <a:lnSpc>
                <a:spcPct val="80000"/>
              </a:lnSpc>
              <a:spcBef>
                <a:spcPts val="0"/>
              </a:spcBef>
              <a:spcAft>
                <a:spcPts val="0"/>
              </a:spcAft>
              <a:buNone/>
            </a:pPr>
            <a:r>
              <a:rPr b="1" lang="en-US" sz="1800">
                <a:solidFill>
                  <a:srgbClr val="0000FF"/>
                </a:solidFill>
                <a:latin typeface="Courier New"/>
                <a:ea typeface="Courier New"/>
                <a:cs typeface="Courier New"/>
                <a:sym typeface="Courier New"/>
              </a:rPr>
              <a:t>	i = 0;</a:t>
            </a:r>
            <a:endParaRPr/>
          </a:p>
          <a:p>
            <a:pPr indent="0" lvl="0" marL="0" marR="0" rtl="0" algn="l">
              <a:lnSpc>
                <a:spcPct val="80000"/>
              </a:lnSpc>
              <a:spcBef>
                <a:spcPts val="0"/>
              </a:spcBef>
              <a:spcAft>
                <a:spcPts val="0"/>
              </a:spcAft>
              <a:buNone/>
            </a:pPr>
            <a:r>
              <a:rPr b="1" lang="en-US" sz="1800">
                <a:solidFill>
                  <a:srgbClr val="0000FF"/>
                </a:solidFill>
                <a:latin typeface="Courier New"/>
                <a:ea typeface="Courier New"/>
                <a:cs typeface="Courier New"/>
                <a:sym typeface="Courier New"/>
              </a:rPr>
              <a:t>else</a:t>
            </a:r>
            <a:endParaRPr/>
          </a:p>
          <a:p>
            <a:pPr indent="0" lvl="0" marL="0" marR="0" rtl="0" algn="l">
              <a:lnSpc>
                <a:spcPct val="80000"/>
              </a:lnSpc>
              <a:spcBef>
                <a:spcPts val="0"/>
              </a:spcBef>
              <a:spcAft>
                <a:spcPts val="0"/>
              </a:spcAft>
              <a:buNone/>
            </a:pPr>
            <a:r>
              <a:rPr b="1" lang="en-US" sz="1800">
                <a:solidFill>
                  <a:srgbClr val="0000FF"/>
                </a:solidFill>
                <a:latin typeface="Courier New"/>
                <a:ea typeface="Courier New"/>
                <a:cs typeface="Courier New"/>
                <a:sym typeface="Courier New"/>
              </a:rPr>
              <a:t>	for ( j = 0; j &lt; n; j++)</a:t>
            </a:r>
            <a:endParaRPr/>
          </a:p>
          <a:p>
            <a:pPr indent="0" lvl="0" marL="0" marR="0" rtl="0" algn="l">
              <a:lnSpc>
                <a:spcPct val="80000"/>
              </a:lnSpc>
              <a:spcBef>
                <a:spcPts val="0"/>
              </a:spcBef>
              <a:spcAft>
                <a:spcPts val="0"/>
              </a:spcAft>
              <a:buNone/>
            </a:pPr>
            <a:r>
              <a:rPr b="1" lang="en-US" sz="1800">
                <a:solidFill>
                  <a:srgbClr val="0000FF"/>
                </a:solidFill>
                <a:latin typeface="Courier New"/>
                <a:ea typeface="Courier New"/>
                <a:cs typeface="Courier New"/>
                <a:sym typeface="Courier New"/>
              </a:rPr>
              <a:t>		a[j] = j;</a:t>
            </a:r>
            <a:endParaRPr/>
          </a:p>
          <a:p>
            <a:pPr indent="0" lvl="0" marL="0" marR="0" rtl="0" algn="l">
              <a:lnSpc>
                <a:spcPct val="80000"/>
              </a:lnSpc>
              <a:spcBef>
                <a:spcPts val="0"/>
              </a:spcBef>
              <a:spcAft>
                <a:spcPts val="0"/>
              </a:spcAft>
              <a:buNone/>
            </a:pPr>
            <a:r>
              <a:t/>
            </a:r>
            <a:endParaRPr sz="1800">
              <a:solidFill>
                <a:srgbClr val="0000FF"/>
              </a:solidFill>
              <a:latin typeface="Arial"/>
              <a:ea typeface="Arial"/>
              <a:cs typeface="Arial"/>
              <a:sym typeface="Arial"/>
            </a:endParaRPr>
          </a:p>
        </p:txBody>
      </p:sp>
      <p:pic>
        <p:nvPicPr>
          <p:cNvPr descr="BRAC University Jobs 2020- Jobs in BRAC University- careerz360.com" id="561" name="Google Shape;561;p43"/>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4"/>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68" name="Google Shape;568;p44"/>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Consecutive Statements</a:t>
            </a:r>
            <a:endParaRPr/>
          </a:p>
        </p:txBody>
      </p:sp>
      <p:sp>
        <p:nvSpPr>
          <p:cNvPr id="569" name="Google Shape;569;p44"/>
          <p:cNvSpPr/>
          <p:nvPr/>
        </p:nvSpPr>
        <p:spPr>
          <a:xfrm>
            <a:off x="2133600" y="1219201"/>
            <a:ext cx="7620000" cy="4530725"/>
          </a:xfrm>
          <a:prstGeom prst="rect">
            <a:avLst/>
          </a:prstGeom>
          <a:noFill/>
          <a:ln>
            <a:noFill/>
          </a:ln>
        </p:spPr>
        <p:txBody>
          <a:bodyPr anchorCtr="0" anchor="t" bIns="45700" lIns="91425" spcFirstLastPara="1" rIns="91425" wrap="square" tIns="45700">
            <a:noAutofit/>
          </a:bodyPr>
          <a:lstStyle/>
          <a:p>
            <a:pPr indent="-215900" lvl="0" marL="34290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215900" lvl="0" marL="342900" marR="0" rtl="0" algn="l">
              <a:spcBef>
                <a:spcPts val="40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215900" lvl="0" marL="342900" marR="0" rtl="0" algn="l">
              <a:spcBef>
                <a:spcPts val="40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215900" lvl="0" marL="342900" marR="0" rtl="0" algn="l">
              <a:spcBef>
                <a:spcPts val="40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215900" lvl="0" marL="342900" marR="0" rtl="0" algn="l">
              <a:spcBef>
                <a:spcPts val="40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215900" lvl="0" marL="342900" marR="0" rtl="0" algn="l">
              <a:spcBef>
                <a:spcPts val="40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342900" lvl="0" marL="342900" marR="0" rtl="0" algn="l">
              <a:spcBef>
                <a:spcPts val="400"/>
              </a:spcBef>
              <a:spcAft>
                <a:spcPts val="0"/>
              </a:spcAft>
              <a:buClr>
                <a:srgbClr val="FF0000"/>
              </a:buClr>
              <a:buSzPts val="2000"/>
              <a:buFont typeface="Arial"/>
              <a:buChar char="•"/>
            </a:pPr>
            <a:r>
              <a:rPr lang="en-US" sz="2000">
                <a:solidFill>
                  <a:srgbClr val="FF0000"/>
                </a:solidFill>
                <a:latin typeface="Arial"/>
                <a:ea typeface="Arial"/>
                <a:cs typeface="Arial"/>
                <a:sym typeface="Arial"/>
              </a:rPr>
              <a:t>Add the complexity of consecutive statements</a:t>
            </a:r>
            <a:endParaRPr sz="2000">
              <a:solidFill>
                <a:srgbClr val="FF0000"/>
              </a:solidFill>
              <a:latin typeface="Arial"/>
              <a:ea typeface="Arial"/>
              <a:cs typeface="Arial"/>
              <a:sym typeface="Arial"/>
            </a:endParaRPr>
          </a:p>
          <a:p>
            <a:pPr indent="-342900" lvl="0" marL="342900" marR="0" rtl="0" algn="l">
              <a:spcBef>
                <a:spcPts val="400"/>
              </a:spcBef>
              <a:spcAft>
                <a:spcPts val="0"/>
              </a:spcAft>
              <a:buClr>
                <a:srgbClr val="FF0000"/>
              </a:buClr>
              <a:buSzPts val="2000"/>
              <a:buFont typeface="Arial"/>
              <a:buChar char="•"/>
            </a:pPr>
            <a:r>
              <a:rPr lang="en-US" sz="2000">
                <a:solidFill>
                  <a:srgbClr val="FF0000"/>
                </a:solidFill>
                <a:latin typeface="Arial"/>
                <a:ea typeface="Arial"/>
                <a:cs typeface="Arial"/>
                <a:sym typeface="Arial"/>
              </a:rPr>
              <a:t>Complexity = O(3n + 5n) = O(n) </a:t>
            </a:r>
            <a:endParaRPr/>
          </a:p>
          <a:p>
            <a:pPr indent="-342900" lvl="0" marL="342900" marR="0" rtl="0" algn="l">
              <a:spcBef>
                <a:spcPts val="400"/>
              </a:spcBef>
              <a:spcAft>
                <a:spcPts val="0"/>
              </a:spcAft>
              <a:buNone/>
            </a:pPr>
            <a:br>
              <a:rPr lang="en-US" sz="2000">
                <a:solidFill>
                  <a:srgbClr val="FF0000"/>
                </a:solidFill>
                <a:latin typeface="Arial"/>
                <a:ea typeface="Arial"/>
                <a:cs typeface="Arial"/>
                <a:sym typeface="Arial"/>
              </a:rPr>
            </a:br>
            <a:endParaRPr sz="2000">
              <a:solidFill>
                <a:srgbClr val="FF0000"/>
              </a:solidFill>
              <a:latin typeface="Arial"/>
              <a:ea typeface="Arial"/>
              <a:cs typeface="Arial"/>
              <a:sym typeface="Arial"/>
            </a:endParaRPr>
          </a:p>
        </p:txBody>
      </p:sp>
      <p:sp>
        <p:nvSpPr>
          <p:cNvPr id="570" name="Google Shape;570;p44"/>
          <p:cNvSpPr/>
          <p:nvPr/>
        </p:nvSpPr>
        <p:spPr>
          <a:xfrm>
            <a:off x="2565400" y="1504951"/>
            <a:ext cx="61722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Courier New"/>
                <a:ea typeface="Courier New"/>
                <a:cs typeface="Courier New"/>
                <a:sym typeface="Courier New"/>
              </a:rPr>
              <a:t>for (j = 0; j &lt; n; ++j) {</a:t>
            </a:r>
            <a:endParaRPr/>
          </a:p>
          <a:p>
            <a:pPr indent="0" lvl="0" marL="0" marR="0" rtl="0" algn="l">
              <a:spcBef>
                <a:spcPts val="0"/>
              </a:spcBef>
              <a:spcAft>
                <a:spcPts val="0"/>
              </a:spcAft>
              <a:buNone/>
            </a:pPr>
            <a:r>
              <a:rPr b="1" lang="en-US" sz="1800">
                <a:solidFill>
                  <a:schemeClr val="accent2"/>
                </a:solidFill>
                <a:latin typeface="Courier New"/>
                <a:ea typeface="Courier New"/>
                <a:cs typeface="Courier New"/>
                <a:sym typeface="Courier New"/>
              </a:rPr>
              <a:t>	// 3 atomics</a:t>
            </a:r>
            <a:endParaRPr/>
          </a:p>
          <a:p>
            <a:pPr indent="0" lvl="0" marL="0" marR="0" rtl="0" algn="l">
              <a:spcBef>
                <a:spcPts val="0"/>
              </a:spcBef>
              <a:spcAft>
                <a:spcPts val="0"/>
              </a:spcAft>
              <a:buNone/>
            </a:pPr>
            <a:r>
              <a:rPr b="1" lang="en-US" sz="1800">
                <a:solidFill>
                  <a:schemeClr val="accent2"/>
                </a:solidFill>
                <a:latin typeface="Courier New"/>
                <a:ea typeface="Courier New"/>
                <a:cs typeface="Courier New"/>
                <a:sym typeface="Courier New"/>
              </a:rPr>
              <a:t>}</a:t>
            </a:r>
            <a:endParaRPr/>
          </a:p>
          <a:p>
            <a:pPr indent="0" lvl="0" marL="0" marR="0" rtl="0" algn="l">
              <a:spcBef>
                <a:spcPts val="0"/>
              </a:spcBef>
              <a:spcAft>
                <a:spcPts val="0"/>
              </a:spcAft>
              <a:buNone/>
            </a:pPr>
            <a:r>
              <a:rPr b="1" lang="en-US" sz="1800">
                <a:solidFill>
                  <a:schemeClr val="accent2"/>
                </a:solidFill>
                <a:latin typeface="Courier New"/>
                <a:ea typeface="Courier New"/>
                <a:cs typeface="Courier New"/>
                <a:sym typeface="Courier New"/>
              </a:rPr>
              <a:t>for (j = 0; j &lt; n; ++j) {</a:t>
            </a:r>
            <a:endParaRPr/>
          </a:p>
          <a:p>
            <a:pPr indent="0" lvl="0" marL="0" marR="0" rtl="0" algn="l">
              <a:spcBef>
                <a:spcPts val="0"/>
              </a:spcBef>
              <a:spcAft>
                <a:spcPts val="0"/>
              </a:spcAft>
              <a:buNone/>
            </a:pPr>
            <a:r>
              <a:rPr b="1" lang="en-US" sz="1800">
                <a:solidFill>
                  <a:schemeClr val="accent2"/>
                </a:solidFill>
                <a:latin typeface="Courier New"/>
                <a:ea typeface="Courier New"/>
                <a:cs typeface="Courier New"/>
                <a:sym typeface="Courier New"/>
              </a:rPr>
              <a:t>	// 5 atomics</a:t>
            </a:r>
            <a:endParaRPr/>
          </a:p>
          <a:p>
            <a:pPr indent="0" lvl="0" marL="0" marR="0" rtl="0" algn="l">
              <a:spcBef>
                <a:spcPts val="0"/>
              </a:spcBef>
              <a:spcAft>
                <a:spcPts val="0"/>
              </a:spcAft>
              <a:buNone/>
            </a:pPr>
            <a:r>
              <a:rPr b="1" lang="en-US" sz="1800">
                <a:solidFill>
                  <a:schemeClr val="accent2"/>
                </a:solidFill>
                <a:latin typeface="Courier New"/>
                <a:ea typeface="Courier New"/>
                <a:cs typeface="Courier New"/>
                <a:sym typeface="Courier New"/>
              </a:rPr>
              <a:t>}</a:t>
            </a:r>
            <a:endParaRPr/>
          </a:p>
        </p:txBody>
      </p:sp>
      <p:pic>
        <p:nvPicPr>
          <p:cNvPr descr="BRAC University Jobs 2020- Jobs in BRAC University- careerz360.com" id="571" name="Google Shape;571;p44"/>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5"/>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78" name="Google Shape;578;p45"/>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Nested Loop Statements </a:t>
            </a:r>
            <a:endParaRPr/>
          </a:p>
        </p:txBody>
      </p:sp>
      <p:sp>
        <p:nvSpPr>
          <p:cNvPr id="579" name="Google Shape;579;p45"/>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Analyze such statements inside out</a:t>
            </a:r>
            <a:endParaRPr/>
          </a:p>
          <a:p>
            <a:pPr indent="-342900" lvl="0" marL="342900" rtl="0" algn="l">
              <a:spcBef>
                <a:spcPts val="400"/>
              </a:spcBef>
              <a:spcAft>
                <a:spcPts val="0"/>
              </a:spcAft>
              <a:buClr>
                <a:schemeClr val="accent2"/>
              </a:buClr>
              <a:buSzPts val="2000"/>
              <a:buFont typeface="Arial"/>
              <a:buNone/>
            </a:pPr>
            <a:r>
              <a:t/>
            </a:r>
            <a:endParaRPr b="1" sz="2000">
              <a:latin typeface="Courier New"/>
              <a:ea typeface="Courier New"/>
              <a:cs typeface="Courier New"/>
              <a:sym typeface="Courier New"/>
            </a:endParaRPr>
          </a:p>
          <a:p>
            <a:pPr indent="-342900" lvl="0" marL="342900" rtl="0" algn="l">
              <a:spcBef>
                <a:spcPts val="400"/>
              </a:spcBef>
              <a:spcAft>
                <a:spcPts val="0"/>
              </a:spcAft>
              <a:buClr>
                <a:schemeClr val="accent2"/>
              </a:buClr>
              <a:buSzPts val="2000"/>
              <a:buFont typeface="Courier New"/>
              <a:buNone/>
            </a:pPr>
            <a:r>
              <a:rPr b="1" lang="en-US" sz="2000">
                <a:latin typeface="Courier New"/>
                <a:ea typeface="Courier New"/>
                <a:cs typeface="Courier New"/>
                <a:sym typeface="Courier New"/>
              </a:rPr>
              <a:t>		for (j = 0; j &lt; n; ++j) {</a:t>
            </a:r>
            <a:endParaRPr/>
          </a:p>
          <a:p>
            <a:pPr indent="-342900" lvl="0" marL="342900" rtl="0" algn="l">
              <a:spcBef>
                <a:spcPts val="400"/>
              </a:spcBef>
              <a:spcAft>
                <a:spcPts val="0"/>
              </a:spcAft>
              <a:buClr>
                <a:schemeClr val="accent2"/>
              </a:buClr>
              <a:buSzPts val="2000"/>
              <a:buFont typeface="Courier New"/>
              <a:buNone/>
            </a:pPr>
            <a:r>
              <a:rPr b="1" lang="en-US" sz="2000">
                <a:latin typeface="Courier New"/>
                <a:ea typeface="Courier New"/>
                <a:cs typeface="Courier New"/>
                <a:sym typeface="Courier New"/>
              </a:rPr>
              <a:t>			// 2 atomics</a:t>
            </a:r>
            <a:endParaRPr/>
          </a:p>
          <a:p>
            <a:pPr indent="-342900" lvl="0" marL="342900" rtl="0" algn="l">
              <a:spcBef>
                <a:spcPts val="400"/>
              </a:spcBef>
              <a:spcAft>
                <a:spcPts val="0"/>
              </a:spcAft>
              <a:buClr>
                <a:schemeClr val="accent2"/>
              </a:buClr>
              <a:buSzPts val="2000"/>
              <a:buFont typeface="Courier New"/>
              <a:buNone/>
            </a:pPr>
            <a:r>
              <a:rPr b="1" lang="en-US" sz="2000">
                <a:latin typeface="Courier New"/>
                <a:ea typeface="Courier New"/>
                <a:cs typeface="Courier New"/>
                <a:sym typeface="Courier New"/>
              </a:rPr>
              <a:t>			for (k = 0; k &lt; n; ++k) {</a:t>
            </a:r>
            <a:endParaRPr/>
          </a:p>
          <a:p>
            <a:pPr indent="-342900" lvl="0" marL="342900" rtl="0" algn="l">
              <a:spcBef>
                <a:spcPts val="400"/>
              </a:spcBef>
              <a:spcAft>
                <a:spcPts val="0"/>
              </a:spcAft>
              <a:buClr>
                <a:schemeClr val="accent2"/>
              </a:buClr>
              <a:buSzPts val="2000"/>
              <a:buFont typeface="Courier New"/>
              <a:buNone/>
            </a:pPr>
            <a:r>
              <a:rPr b="1" lang="en-US" sz="2000">
                <a:latin typeface="Courier New"/>
                <a:ea typeface="Courier New"/>
                <a:cs typeface="Courier New"/>
                <a:sym typeface="Courier New"/>
              </a:rPr>
              <a:t>				// 3 atomics</a:t>
            </a:r>
            <a:endParaRPr/>
          </a:p>
          <a:p>
            <a:pPr indent="-342900" lvl="0" marL="342900" rtl="0" algn="l">
              <a:spcBef>
                <a:spcPts val="400"/>
              </a:spcBef>
              <a:spcAft>
                <a:spcPts val="0"/>
              </a:spcAft>
              <a:buClr>
                <a:schemeClr val="accent2"/>
              </a:buClr>
              <a:buSzPts val="2000"/>
              <a:buFont typeface="Courier New"/>
              <a:buNone/>
            </a:pPr>
            <a:r>
              <a:rPr b="1" lang="en-US" sz="2000">
                <a:latin typeface="Courier New"/>
                <a:ea typeface="Courier New"/>
                <a:cs typeface="Courier New"/>
                <a:sym typeface="Courier New"/>
              </a:rPr>
              <a:t>			}</a:t>
            </a:r>
            <a:endParaRPr/>
          </a:p>
          <a:p>
            <a:pPr indent="-342900" lvl="0" marL="342900" rtl="0" algn="l">
              <a:spcBef>
                <a:spcPts val="400"/>
              </a:spcBef>
              <a:spcAft>
                <a:spcPts val="0"/>
              </a:spcAft>
              <a:buClr>
                <a:schemeClr val="accent2"/>
              </a:buClr>
              <a:buSzPts val="2000"/>
              <a:buFont typeface="Courier New"/>
              <a:buNone/>
            </a:pPr>
            <a:r>
              <a:rPr b="1" lang="en-US" sz="2000">
                <a:latin typeface="Courier New"/>
                <a:ea typeface="Courier New"/>
                <a:cs typeface="Courier New"/>
                <a:sym typeface="Courier New"/>
              </a:rPr>
              <a:t>		}</a:t>
            </a:r>
            <a:endParaRPr/>
          </a:p>
          <a:p>
            <a:pPr indent="-165100" lvl="0" marL="342900" rtl="0" algn="l">
              <a:spcBef>
                <a:spcPts val="560"/>
              </a:spcBef>
              <a:spcAft>
                <a:spcPts val="0"/>
              </a:spcAft>
              <a:buClr>
                <a:schemeClr val="accent2"/>
              </a:buClr>
              <a:buSzPts val="2800"/>
              <a:buFont typeface="Arial"/>
              <a:buNone/>
            </a:pPr>
            <a:r>
              <a:t/>
            </a:r>
            <a:endParaRPr/>
          </a:p>
          <a:p>
            <a:pPr indent="-342900" lvl="0" marL="342900" rtl="0" algn="l">
              <a:spcBef>
                <a:spcPts val="560"/>
              </a:spcBef>
              <a:spcAft>
                <a:spcPts val="0"/>
              </a:spcAft>
              <a:buClr>
                <a:schemeClr val="accent2"/>
              </a:buClr>
              <a:buSzPts val="2800"/>
              <a:buFont typeface="Arial"/>
              <a:buChar char="•"/>
            </a:pPr>
            <a:r>
              <a:rPr lang="en-US"/>
              <a:t>Complexity = O((2 + 3n)n) = O(n</a:t>
            </a:r>
            <a:r>
              <a:rPr baseline="30000" lang="en-US"/>
              <a:t>2</a:t>
            </a:r>
            <a:r>
              <a:rPr lang="en-US"/>
              <a:t>) </a:t>
            </a:r>
            <a:endParaRPr/>
          </a:p>
        </p:txBody>
      </p:sp>
      <p:pic>
        <p:nvPicPr>
          <p:cNvPr descr="BRAC University Jobs 2020- Jobs in BRAC University- careerz360.com" id="580" name="Google Shape;580;p45"/>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46"/>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87" name="Google Shape;587;p46"/>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a:t>
            </a:r>
            <a:endParaRPr/>
          </a:p>
        </p:txBody>
      </p:sp>
      <p:sp>
        <p:nvSpPr>
          <p:cNvPr id="588" name="Google Shape;588;p46"/>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Code:</a:t>
            </a:r>
            <a:endParaRPr/>
          </a:p>
          <a:p>
            <a:pPr indent="-342900" lvl="0" marL="342900" rtl="0" algn="l">
              <a:spcBef>
                <a:spcPts val="560"/>
              </a:spcBef>
              <a:spcAft>
                <a:spcPts val="0"/>
              </a:spcAft>
              <a:buClr>
                <a:schemeClr val="accent2"/>
              </a:buClr>
              <a:buSzPts val="2800"/>
              <a:buFont typeface="Arial"/>
              <a:buChar char="•"/>
            </a:pPr>
            <a:r>
              <a:rPr lang="en-US"/>
              <a:t>	</a:t>
            </a:r>
            <a:r>
              <a:rPr lang="en-US" sz="2000">
                <a:latin typeface="Courier New"/>
                <a:ea typeface="Courier New"/>
                <a:cs typeface="Courier New"/>
                <a:sym typeface="Courier New"/>
              </a:rPr>
              <a:t>a = b;</a:t>
            </a:r>
            <a:endParaRPr/>
          </a:p>
          <a:p>
            <a:pPr indent="-165100" lvl="0" marL="342900" rtl="0" algn="l">
              <a:spcBef>
                <a:spcPts val="560"/>
              </a:spcBef>
              <a:spcAft>
                <a:spcPts val="0"/>
              </a:spcAft>
              <a:buClr>
                <a:schemeClr val="accent2"/>
              </a:buClr>
              <a:buSzPts val="2800"/>
              <a:buFont typeface="Arial"/>
              <a:buNone/>
            </a:pPr>
            <a:r>
              <a:t/>
            </a:r>
            <a:endParaRPr/>
          </a:p>
          <a:p>
            <a:pPr indent="-342900" lvl="0" marL="342900" rtl="0" algn="l">
              <a:spcBef>
                <a:spcPts val="560"/>
              </a:spcBef>
              <a:spcAft>
                <a:spcPts val="0"/>
              </a:spcAft>
              <a:buClr>
                <a:schemeClr val="accent2"/>
              </a:buClr>
              <a:buSzPts val="2800"/>
              <a:buFont typeface="Arial"/>
              <a:buChar char="•"/>
            </a:pPr>
            <a:r>
              <a:rPr lang="en-US"/>
              <a:t>Complexity:</a:t>
            </a:r>
            <a:endParaRPr/>
          </a:p>
        </p:txBody>
      </p:sp>
      <p:pic>
        <p:nvPicPr>
          <p:cNvPr descr="BRAC University Jobs 2020- Jobs in BRAC University- careerz360.com" id="589" name="Google Shape;589;p46"/>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47"/>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96" name="Google Shape;596;p47"/>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a:t>
            </a:r>
            <a:endParaRPr/>
          </a:p>
        </p:txBody>
      </p:sp>
      <p:sp>
        <p:nvSpPr>
          <p:cNvPr id="597" name="Google Shape;597;p47"/>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Code:</a:t>
            </a:r>
            <a:endParaRPr/>
          </a:p>
          <a:p>
            <a:pPr indent="-342900" lvl="0" marL="342900" rtl="0" algn="l">
              <a:spcBef>
                <a:spcPts val="560"/>
              </a:spcBef>
              <a:spcAft>
                <a:spcPts val="0"/>
              </a:spcAft>
              <a:buClr>
                <a:schemeClr val="accent2"/>
              </a:buClr>
              <a:buSzPts val="2800"/>
              <a:buFont typeface="Arial"/>
              <a:buChar char="•"/>
            </a:pPr>
            <a:r>
              <a:rPr lang="en-US"/>
              <a:t>	</a:t>
            </a:r>
            <a:r>
              <a:rPr lang="en-US" sz="2000">
                <a:latin typeface="Courier New"/>
                <a:ea typeface="Courier New"/>
                <a:cs typeface="Courier New"/>
                <a:sym typeface="Courier New"/>
              </a:rPr>
              <a:t>sum = 0;</a:t>
            </a:r>
            <a:endParaRPr/>
          </a:p>
          <a:p>
            <a:pPr indent="-342900" lvl="0" marL="342900" rtl="0" algn="l">
              <a:spcBef>
                <a:spcPts val="400"/>
              </a:spcBef>
              <a:spcAft>
                <a:spcPts val="0"/>
              </a:spcAft>
              <a:buClr>
                <a:schemeClr val="accent2"/>
              </a:buClr>
              <a:buSzPts val="2000"/>
              <a:buFont typeface="Courier New"/>
              <a:buChar char="•"/>
            </a:pPr>
            <a:r>
              <a:rPr lang="en-US" sz="2000">
                <a:latin typeface="Courier New"/>
                <a:ea typeface="Courier New"/>
                <a:cs typeface="Courier New"/>
                <a:sym typeface="Courier New"/>
              </a:rPr>
              <a:t>	for (i=1; i &lt;=n; i++)</a:t>
            </a:r>
            <a:endParaRPr/>
          </a:p>
          <a:p>
            <a:pPr indent="-342900" lvl="0" marL="342900" rtl="0" algn="l">
              <a:spcBef>
                <a:spcPts val="400"/>
              </a:spcBef>
              <a:spcAft>
                <a:spcPts val="0"/>
              </a:spcAft>
              <a:buClr>
                <a:schemeClr val="accent2"/>
              </a:buClr>
              <a:buSzPts val="2000"/>
              <a:buFont typeface="Courier New"/>
              <a:buChar char="•"/>
            </a:pPr>
            <a:r>
              <a:rPr lang="en-US" sz="2000">
                <a:latin typeface="Courier New"/>
                <a:ea typeface="Courier New"/>
                <a:cs typeface="Courier New"/>
                <a:sym typeface="Courier New"/>
              </a:rPr>
              <a:t>		sum += n;</a:t>
            </a:r>
            <a:endParaRPr/>
          </a:p>
          <a:p>
            <a:pPr indent="-165100" lvl="0" marL="342900" rtl="0" algn="l">
              <a:spcBef>
                <a:spcPts val="560"/>
              </a:spcBef>
              <a:spcAft>
                <a:spcPts val="0"/>
              </a:spcAft>
              <a:buClr>
                <a:schemeClr val="accent2"/>
              </a:buClr>
              <a:buSzPts val="2800"/>
              <a:buFont typeface="Arial"/>
              <a:buNone/>
            </a:pPr>
            <a:r>
              <a:t/>
            </a:r>
            <a:endParaRPr/>
          </a:p>
          <a:p>
            <a:pPr indent="-342900" lvl="0" marL="342900" rtl="0" algn="l">
              <a:spcBef>
                <a:spcPts val="560"/>
              </a:spcBef>
              <a:spcAft>
                <a:spcPts val="0"/>
              </a:spcAft>
              <a:buClr>
                <a:schemeClr val="accent2"/>
              </a:buClr>
              <a:buSzPts val="2800"/>
              <a:buFont typeface="Arial"/>
              <a:buChar char="•"/>
            </a:pPr>
            <a:r>
              <a:rPr lang="en-US"/>
              <a:t>Complexity:</a:t>
            </a:r>
            <a:endParaRPr/>
          </a:p>
        </p:txBody>
      </p:sp>
      <p:pic>
        <p:nvPicPr>
          <p:cNvPr descr="BRAC University Jobs 2020- Jobs in BRAC University- careerz360.com" id="598" name="Google Shape;598;p47"/>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8"/>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05" name="Google Shape;605;p48"/>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a:t>
            </a:r>
            <a:endParaRPr/>
          </a:p>
        </p:txBody>
      </p:sp>
      <p:sp>
        <p:nvSpPr>
          <p:cNvPr id="606" name="Google Shape;606;p48"/>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Code:</a:t>
            </a:r>
            <a:endParaRPr/>
          </a:p>
          <a:p>
            <a:pPr indent="-342900" lvl="0" marL="342900" rtl="0" algn="l">
              <a:spcBef>
                <a:spcPts val="560"/>
              </a:spcBef>
              <a:spcAft>
                <a:spcPts val="0"/>
              </a:spcAft>
              <a:buClr>
                <a:schemeClr val="accent2"/>
              </a:buClr>
              <a:buSzPts val="2800"/>
              <a:buFont typeface="Arial"/>
              <a:buChar char="•"/>
            </a:pPr>
            <a:r>
              <a:rPr lang="en-US"/>
              <a:t>	</a:t>
            </a:r>
            <a:r>
              <a:rPr lang="en-US" sz="2000">
                <a:latin typeface="Courier New"/>
                <a:ea typeface="Courier New"/>
                <a:cs typeface="Courier New"/>
                <a:sym typeface="Courier New"/>
              </a:rPr>
              <a:t>sum = 0;</a:t>
            </a:r>
            <a:endParaRPr/>
          </a:p>
          <a:p>
            <a:pPr indent="-342900" lvl="0" marL="342900" rtl="0" algn="l">
              <a:spcBef>
                <a:spcPts val="400"/>
              </a:spcBef>
              <a:spcAft>
                <a:spcPts val="0"/>
              </a:spcAft>
              <a:buClr>
                <a:schemeClr val="accent2"/>
              </a:buClr>
              <a:buSzPts val="2000"/>
              <a:buFont typeface="Courier New"/>
              <a:buChar char="•"/>
            </a:pPr>
            <a:r>
              <a:rPr lang="en-US" sz="2000">
                <a:latin typeface="Courier New"/>
                <a:ea typeface="Courier New"/>
                <a:cs typeface="Courier New"/>
                <a:sym typeface="Courier New"/>
              </a:rPr>
              <a:t>	for (j=1; j&lt;=n; j++)</a:t>
            </a:r>
            <a:endParaRPr/>
          </a:p>
          <a:p>
            <a:pPr indent="-342900" lvl="0" marL="342900" rtl="0" algn="l">
              <a:spcBef>
                <a:spcPts val="400"/>
              </a:spcBef>
              <a:spcAft>
                <a:spcPts val="0"/>
              </a:spcAft>
              <a:buClr>
                <a:schemeClr val="accent2"/>
              </a:buClr>
              <a:buSzPts val="2000"/>
              <a:buFont typeface="Courier New"/>
              <a:buChar char="•"/>
            </a:pPr>
            <a:r>
              <a:rPr lang="en-US" sz="2000">
                <a:latin typeface="Courier New"/>
                <a:ea typeface="Courier New"/>
                <a:cs typeface="Courier New"/>
                <a:sym typeface="Courier New"/>
              </a:rPr>
              <a:t>		for (i=1; i&lt;=j; i++)</a:t>
            </a:r>
            <a:endParaRPr/>
          </a:p>
          <a:p>
            <a:pPr indent="-342900" lvl="0" marL="342900" rtl="0" algn="l">
              <a:spcBef>
                <a:spcPts val="400"/>
              </a:spcBef>
              <a:spcAft>
                <a:spcPts val="0"/>
              </a:spcAft>
              <a:buClr>
                <a:schemeClr val="accent2"/>
              </a:buClr>
              <a:buSzPts val="2000"/>
              <a:buFont typeface="Courier New"/>
              <a:buChar char="•"/>
            </a:pPr>
            <a:r>
              <a:rPr lang="en-US" sz="2000">
                <a:latin typeface="Courier New"/>
                <a:ea typeface="Courier New"/>
                <a:cs typeface="Courier New"/>
                <a:sym typeface="Courier New"/>
              </a:rPr>
              <a:t>			sum++;</a:t>
            </a:r>
            <a:endParaRPr/>
          </a:p>
          <a:p>
            <a:pPr indent="-342900" lvl="0" marL="342900" rtl="0" algn="l">
              <a:spcBef>
                <a:spcPts val="400"/>
              </a:spcBef>
              <a:spcAft>
                <a:spcPts val="0"/>
              </a:spcAft>
              <a:buClr>
                <a:schemeClr val="accent2"/>
              </a:buClr>
              <a:buSzPts val="2000"/>
              <a:buFont typeface="Courier New"/>
              <a:buChar char="•"/>
            </a:pPr>
            <a:r>
              <a:rPr lang="en-US" sz="2000">
                <a:latin typeface="Courier New"/>
                <a:ea typeface="Courier New"/>
                <a:cs typeface="Courier New"/>
                <a:sym typeface="Courier New"/>
              </a:rPr>
              <a:t>	for (k=0; k&lt;n; k++)</a:t>
            </a:r>
            <a:endParaRPr/>
          </a:p>
          <a:p>
            <a:pPr indent="-342900" lvl="0" marL="342900" rtl="0" algn="l">
              <a:spcBef>
                <a:spcPts val="400"/>
              </a:spcBef>
              <a:spcAft>
                <a:spcPts val="0"/>
              </a:spcAft>
              <a:buClr>
                <a:schemeClr val="accent2"/>
              </a:buClr>
              <a:buSzPts val="2000"/>
              <a:buFont typeface="Courier New"/>
              <a:buChar char="•"/>
            </a:pPr>
            <a:r>
              <a:rPr lang="en-US" sz="2000">
                <a:latin typeface="Courier New"/>
                <a:ea typeface="Courier New"/>
                <a:cs typeface="Courier New"/>
                <a:sym typeface="Courier New"/>
              </a:rPr>
              <a:t>		A[k] = k;</a:t>
            </a:r>
            <a:endParaRPr/>
          </a:p>
          <a:p>
            <a:pPr indent="-342900" lvl="0" marL="342900" rtl="0" algn="l">
              <a:spcBef>
                <a:spcPts val="560"/>
              </a:spcBef>
              <a:spcAft>
                <a:spcPts val="0"/>
              </a:spcAft>
              <a:buClr>
                <a:schemeClr val="accent2"/>
              </a:buClr>
              <a:buSzPts val="2800"/>
              <a:buFont typeface="Arial"/>
              <a:buChar char="•"/>
            </a:pPr>
            <a:r>
              <a:rPr lang="en-US"/>
              <a:t>Complexity:</a:t>
            </a:r>
            <a:endParaRPr/>
          </a:p>
        </p:txBody>
      </p:sp>
      <p:pic>
        <p:nvPicPr>
          <p:cNvPr descr="BRAC University Jobs 2020- Jobs in BRAC University- careerz360.com" id="607" name="Google Shape;607;p48"/>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9"/>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14" name="Google Shape;614;p49"/>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a:t>
            </a:r>
            <a:endParaRPr/>
          </a:p>
        </p:txBody>
      </p:sp>
      <p:sp>
        <p:nvSpPr>
          <p:cNvPr id="615" name="Google Shape;615;p49"/>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Code:</a:t>
            </a:r>
            <a:endParaRPr/>
          </a:p>
          <a:p>
            <a:pPr indent="-342900" lvl="0" marL="342900" rtl="0" algn="l">
              <a:spcBef>
                <a:spcPts val="560"/>
              </a:spcBef>
              <a:spcAft>
                <a:spcPts val="0"/>
              </a:spcAft>
              <a:buClr>
                <a:schemeClr val="accent2"/>
              </a:buClr>
              <a:buSzPts val="2800"/>
              <a:buFont typeface="Arial"/>
              <a:buChar char="•"/>
            </a:pPr>
            <a:r>
              <a:rPr lang="en-US"/>
              <a:t>	</a:t>
            </a:r>
            <a:r>
              <a:rPr lang="en-US">
                <a:latin typeface="Courier New"/>
                <a:ea typeface="Courier New"/>
                <a:cs typeface="Courier New"/>
                <a:sym typeface="Courier New"/>
              </a:rPr>
              <a:t>sum1 = 0;</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for (i=1; i&lt;=n; i++)</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for (j=1; j&lt;=n; j++)</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sum1++;</a:t>
            </a:r>
            <a:endParaRPr/>
          </a:p>
          <a:p>
            <a:pPr indent="-342900" lvl="0" marL="342900" rtl="0" algn="l">
              <a:spcBef>
                <a:spcPts val="560"/>
              </a:spcBef>
              <a:spcAft>
                <a:spcPts val="0"/>
              </a:spcAft>
              <a:buClr>
                <a:schemeClr val="accent2"/>
              </a:buClr>
              <a:buSzPts val="2800"/>
              <a:buFont typeface="Arial"/>
              <a:buChar char="•"/>
            </a:pPr>
            <a:r>
              <a:rPr lang="en-US"/>
              <a:t>Complexity: </a:t>
            </a:r>
            <a:endParaRPr/>
          </a:p>
        </p:txBody>
      </p:sp>
      <p:pic>
        <p:nvPicPr>
          <p:cNvPr descr="BRAC University Jobs 2020- Jobs in BRAC University- careerz360.com" id="616" name="Google Shape;616;p49"/>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0"/>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22" name="Google Shape;622;p50"/>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a:t>
            </a:r>
            <a:endParaRPr/>
          </a:p>
        </p:txBody>
      </p:sp>
      <p:sp>
        <p:nvSpPr>
          <p:cNvPr id="623" name="Google Shape;623;p50"/>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Code:</a:t>
            </a:r>
            <a:r>
              <a:rPr lang="en-US">
                <a:latin typeface="Courier New"/>
                <a:ea typeface="Courier New"/>
                <a:cs typeface="Courier New"/>
                <a:sym typeface="Courier New"/>
              </a:rPr>
              <a:t> </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sum2 = 0;</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for (i=1; i&lt;=n; i++)</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for (j=1; j&lt;=i; j++)</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sum2++;</a:t>
            </a:r>
            <a:endParaRPr/>
          </a:p>
          <a:p>
            <a:pPr indent="-342900" lvl="0" marL="342900" rtl="0" algn="l">
              <a:spcBef>
                <a:spcPts val="560"/>
              </a:spcBef>
              <a:spcAft>
                <a:spcPts val="0"/>
              </a:spcAft>
              <a:buClr>
                <a:schemeClr val="accent2"/>
              </a:buClr>
              <a:buSzPts val="2800"/>
              <a:buFont typeface="Arial"/>
              <a:buChar char="•"/>
            </a:pPr>
            <a:r>
              <a:rPr lang="en-US"/>
              <a:t>Complexity:</a:t>
            </a:r>
            <a:endParaRPr/>
          </a:p>
          <a:p>
            <a:pPr indent="-165100" lvl="0" marL="342900" rtl="0" algn="l">
              <a:spcBef>
                <a:spcPts val="560"/>
              </a:spcBef>
              <a:spcAft>
                <a:spcPts val="0"/>
              </a:spcAft>
              <a:buClr>
                <a:schemeClr val="accent2"/>
              </a:buClr>
              <a:buSzPts val="2800"/>
              <a:buFont typeface="Arial"/>
              <a:buNone/>
            </a:pPr>
            <a:r>
              <a:t/>
            </a:r>
            <a:endParaRPr/>
          </a:p>
        </p:txBody>
      </p:sp>
      <p:pic>
        <p:nvPicPr>
          <p:cNvPr descr="BRAC University Jobs 2020- Jobs in BRAC University- careerz360.com" id="624" name="Google Shape;624;p50"/>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1"/>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31" name="Google Shape;631;p51"/>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a:t>
            </a:r>
            <a:endParaRPr/>
          </a:p>
        </p:txBody>
      </p:sp>
      <p:sp>
        <p:nvSpPr>
          <p:cNvPr id="632" name="Google Shape;632;p51"/>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Code:</a:t>
            </a:r>
            <a:endParaRPr/>
          </a:p>
          <a:p>
            <a:pPr indent="-342900" lvl="0" marL="342900" rtl="0" algn="l">
              <a:spcBef>
                <a:spcPts val="560"/>
              </a:spcBef>
              <a:spcAft>
                <a:spcPts val="0"/>
              </a:spcAft>
              <a:buClr>
                <a:schemeClr val="accent2"/>
              </a:buClr>
              <a:buSzPts val="2800"/>
              <a:buFont typeface="Arial"/>
              <a:buChar char="•"/>
            </a:pPr>
            <a:r>
              <a:rPr lang="en-US"/>
              <a:t>	</a:t>
            </a:r>
            <a:r>
              <a:rPr lang="en-US">
                <a:latin typeface="Courier New"/>
                <a:ea typeface="Courier New"/>
                <a:cs typeface="Courier New"/>
                <a:sym typeface="Courier New"/>
              </a:rPr>
              <a:t>sum1 = 0;</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for (k=1; k&lt;=n; k*=2)</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for (j=1; j&lt;=n; j++)</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sum1++;</a:t>
            </a:r>
            <a:endParaRPr/>
          </a:p>
          <a:p>
            <a:pPr indent="-342900" lvl="0" marL="342900" rtl="0" algn="l">
              <a:spcBef>
                <a:spcPts val="560"/>
              </a:spcBef>
              <a:spcAft>
                <a:spcPts val="0"/>
              </a:spcAft>
              <a:buClr>
                <a:schemeClr val="accent2"/>
              </a:buClr>
              <a:buSzPts val="2800"/>
              <a:buFont typeface="Arial"/>
              <a:buChar char="•"/>
            </a:pPr>
            <a:r>
              <a:rPr lang="en-US"/>
              <a:t>Complexity: </a:t>
            </a:r>
            <a:endParaRPr/>
          </a:p>
        </p:txBody>
      </p:sp>
      <p:pic>
        <p:nvPicPr>
          <p:cNvPr descr="BRAC University Jobs 2020- Jobs in BRAC University- careerz360.com" id="633" name="Google Shape;633;p51"/>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52"/>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40" name="Google Shape;640;p52"/>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a:t>
            </a:r>
            <a:endParaRPr/>
          </a:p>
        </p:txBody>
      </p:sp>
      <p:sp>
        <p:nvSpPr>
          <p:cNvPr id="641" name="Google Shape;641;p52"/>
          <p:cNvSpPr txBox="1"/>
          <p:nvPr>
            <p:ph idx="1" type="body"/>
          </p:nvPr>
        </p:nvSpPr>
        <p:spPr>
          <a:xfrm>
            <a:off x="467784" y="1214439"/>
            <a:ext cx="10972800" cy="5076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2"/>
              </a:buClr>
              <a:buSzPts val="2800"/>
              <a:buFont typeface="Arial"/>
              <a:buChar char="•"/>
            </a:pPr>
            <a:r>
              <a:rPr lang="en-US"/>
              <a:t>Code:</a:t>
            </a:r>
            <a:r>
              <a:rPr lang="en-US">
                <a:latin typeface="Courier New"/>
                <a:ea typeface="Courier New"/>
                <a:cs typeface="Courier New"/>
                <a:sym typeface="Courier New"/>
              </a:rPr>
              <a:t> </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sum2 = 0;</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for (k=1; k&lt;=n; k*=2)</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for (j=1; j&lt;=k; j++)</a:t>
            </a:r>
            <a:endParaRPr/>
          </a:p>
          <a:p>
            <a:pPr indent="-342900" lvl="0" marL="342900" rtl="0" algn="l">
              <a:spcBef>
                <a:spcPts val="560"/>
              </a:spcBef>
              <a:spcAft>
                <a:spcPts val="0"/>
              </a:spcAft>
              <a:buClr>
                <a:schemeClr val="accent2"/>
              </a:buClr>
              <a:buSzPts val="2800"/>
              <a:buFont typeface="Courier New"/>
              <a:buChar char="•"/>
            </a:pPr>
            <a:r>
              <a:rPr lang="en-US">
                <a:latin typeface="Courier New"/>
                <a:ea typeface="Courier New"/>
                <a:cs typeface="Courier New"/>
                <a:sym typeface="Courier New"/>
              </a:rPr>
              <a:t>			sum2++;</a:t>
            </a:r>
            <a:endParaRPr/>
          </a:p>
          <a:p>
            <a:pPr indent="-342900" lvl="0" marL="342900" rtl="0" algn="l">
              <a:spcBef>
                <a:spcPts val="560"/>
              </a:spcBef>
              <a:spcAft>
                <a:spcPts val="0"/>
              </a:spcAft>
              <a:buClr>
                <a:schemeClr val="accent2"/>
              </a:buClr>
              <a:buSzPts val="2800"/>
              <a:buFont typeface="Arial"/>
              <a:buChar char="•"/>
            </a:pPr>
            <a:r>
              <a:rPr lang="en-US"/>
              <a:t>Complexity:</a:t>
            </a:r>
            <a:endParaRPr/>
          </a:p>
          <a:p>
            <a:pPr indent="-165100" lvl="0" marL="342900" rtl="0" algn="l">
              <a:spcBef>
                <a:spcPts val="560"/>
              </a:spcBef>
              <a:spcAft>
                <a:spcPts val="0"/>
              </a:spcAft>
              <a:buClr>
                <a:schemeClr val="accent2"/>
              </a:buClr>
              <a:buSzPts val="2800"/>
              <a:buFont typeface="Arial"/>
              <a:buNone/>
            </a:pPr>
            <a:r>
              <a:t/>
            </a:r>
            <a:endParaRPr/>
          </a:p>
        </p:txBody>
      </p:sp>
      <p:pic>
        <p:nvPicPr>
          <p:cNvPr descr="BRAC University Jobs 2020- Jobs in BRAC University- careerz360.com" id="642" name="Google Shape;642;p52"/>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3"/>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49" name="Google Shape;649;p53"/>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Recursion</a:t>
            </a:r>
            <a:endParaRPr/>
          </a:p>
        </p:txBody>
      </p:sp>
      <p:sp>
        <p:nvSpPr>
          <p:cNvPr id="650" name="Google Shape;650;p53"/>
          <p:cNvSpPr txBox="1"/>
          <p:nvPr>
            <p:ph idx="1" type="body"/>
          </p:nvPr>
        </p:nvSpPr>
        <p:spPr>
          <a:xfrm>
            <a:off x="1752600" y="1295400"/>
            <a:ext cx="8458200" cy="23622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accent2"/>
              </a:buClr>
              <a:buSzPts val="1800"/>
              <a:buFont typeface="Courier New"/>
              <a:buNone/>
            </a:pPr>
            <a:r>
              <a:rPr b="1" lang="en-US" sz="1800">
                <a:latin typeface="Courier New"/>
                <a:ea typeface="Courier New"/>
                <a:cs typeface="Courier New"/>
                <a:sym typeface="Courier New"/>
              </a:rPr>
              <a:t>long factorial( int n )</a:t>
            </a:r>
            <a:endParaRPr/>
          </a:p>
          <a:p>
            <a:pPr indent="-342900" lvl="0" marL="342900" rtl="0" algn="l">
              <a:lnSpc>
                <a:spcPct val="80000"/>
              </a:lnSpc>
              <a:spcBef>
                <a:spcPts val="360"/>
              </a:spcBef>
              <a:spcAft>
                <a:spcPts val="0"/>
              </a:spcAft>
              <a:buClr>
                <a:schemeClr val="accent2"/>
              </a:buClr>
              <a:buSzPts val="1800"/>
              <a:buFont typeface="Courier New"/>
              <a:buNone/>
            </a:pPr>
            <a:r>
              <a:rPr b="1" lang="en-US" sz="1800">
                <a:latin typeface="Courier New"/>
                <a:ea typeface="Courier New"/>
                <a:cs typeface="Courier New"/>
                <a:sym typeface="Courier New"/>
              </a:rPr>
              <a:t>{</a:t>
            </a:r>
            <a:endParaRPr/>
          </a:p>
          <a:p>
            <a:pPr indent="-342900" lvl="0" marL="342900" rtl="0" algn="l">
              <a:lnSpc>
                <a:spcPct val="80000"/>
              </a:lnSpc>
              <a:spcBef>
                <a:spcPts val="360"/>
              </a:spcBef>
              <a:spcAft>
                <a:spcPts val="0"/>
              </a:spcAft>
              <a:buClr>
                <a:schemeClr val="accent2"/>
              </a:buClr>
              <a:buSzPts val="1800"/>
              <a:buFont typeface="Courier New"/>
              <a:buNone/>
            </a:pPr>
            <a:r>
              <a:rPr b="1" lang="en-US" sz="1800">
                <a:latin typeface="Courier New"/>
                <a:ea typeface="Courier New"/>
                <a:cs typeface="Courier New"/>
                <a:sym typeface="Courier New"/>
              </a:rPr>
              <a:t>	if( n &lt;= 1 )</a:t>
            </a:r>
            <a:endParaRPr/>
          </a:p>
          <a:p>
            <a:pPr indent="-342900" lvl="0" marL="342900" rtl="0" algn="l">
              <a:lnSpc>
                <a:spcPct val="80000"/>
              </a:lnSpc>
              <a:spcBef>
                <a:spcPts val="360"/>
              </a:spcBef>
              <a:spcAft>
                <a:spcPts val="0"/>
              </a:spcAft>
              <a:buClr>
                <a:schemeClr val="accent2"/>
              </a:buClr>
              <a:buSzPts val="1800"/>
              <a:buFont typeface="Courier New"/>
              <a:buNone/>
            </a:pPr>
            <a:r>
              <a:rPr b="1" lang="en-US" sz="1800">
                <a:latin typeface="Courier New"/>
                <a:ea typeface="Courier New"/>
                <a:cs typeface="Courier New"/>
                <a:sym typeface="Courier New"/>
              </a:rPr>
              <a:t>	  return 1;</a:t>
            </a:r>
            <a:endParaRPr/>
          </a:p>
          <a:p>
            <a:pPr indent="-342900" lvl="0" marL="342900" rtl="0" algn="l">
              <a:lnSpc>
                <a:spcPct val="80000"/>
              </a:lnSpc>
              <a:spcBef>
                <a:spcPts val="360"/>
              </a:spcBef>
              <a:spcAft>
                <a:spcPts val="0"/>
              </a:spcAft>
              <a:buClr>
                <a:schemeClr val="accent2"/>
              </a:buClr>
              <a:buSzPts val="1800"/>
              <a:buFont typeface="Courier New"/>
              <a:buNone/>
            </a:pPr>
            <a:r>
              <a:rPr b="1" lang="en-US" sz="1800">
                <a:latin typeface="Courier New"/>
                <a:ea typeface="Courier New"/>
                <a:cs typeface="Courier New"/>
                <a:sym typeface="Courier New"/>
              </a:rPr>
              <a:t>	else</a:t>
            </a:r>
            <a:endParaRPr/>
          </a:p>
          <a:p>
            <a:pPr indent="-342900" lvl="0" marL="342900" rtl="0" algn="l">
              <a:lnSpc>
                <a:spcPct val="80000"/>
              </a:lnSpc>
              <a:spcBef>
                <a:spcPts val="360"/>
              </a:spcBef>
              <a:spcAft>
                <a:spcPts val="0"/>
              </a:spcAft>
              <a:buClr>
                <a:schemeClr val="accent2"/>
              </a:buClr>
              <a:buSzPts val="1800"/>
              <a:buFont typeface="Courier New"/>
              <a:buNone/>
            </a:pPr>
            <a:r>
              <a:rPr b="1" lang="en-US" sz="1800">
                <a:latin typeface="Courier New"/>
                <a:ea typeface="Courier New"/>
                <a:cs typeface="Courier New"/>
                <a:sym typeface="Courier New"/>
              </a:rPr>
              <a:t>	  return n*factorial(n- 1);</a:t>
            </a:r>
            <a:endParaRPr/>
          </a:p>
          <a:p>
            <a:pPr indent="-342900" lvl="0" marL="342900" rtl="0" algn="l">
              <a:lnSpc>
                <a:spcPct val="80000"/>
              </a:lnSpc>
              <a:spcBef>
                <a:spcPts val="360"/>
              </a:spcBef>
              <a:spcAft>
                <a:spcPts val="0"/>
              </a:spcAft>
              <a:buClr>
                <a:schemeClr val="accent2"/>
              </a:buClr>
              <a:buSzPts val="1800"/>
              <a:buFont typeface="Courier New"/>
              <a:buNone/>
            </a:pPr>
            <a:r>
              <a:rPr b="1" lang="en-US" sz="1800">
                <a:latin typeface="Courier New"/>
                <a:ea typeface="Courier New"/>
                <a:cs typeface="Courier New"/>
                <a:sym typeface="Courier New"/>
              </a:rPr>
              <a:t>}</a:t>
            </a:r>
            <a:endParaRPr/>
          </a:p>
          <a:p>
            <a:pPr indent="-342900" lvl="0" marL="342900" rtl="0" algn="l">
              <a:lnSpc>
                <a:spcPct val="80000"/>
              </a:lnSpc>
              <a:spcBef>
                <a:spcPts val="280"/>
              </a:spcBef>
              <a:spcAft>
                <a:spcPts val="0"/>
              </a:spcAft>
              <a:buClr>
                <a:schemeClr val="accent2"/>
              </a:buClr>
              <a:buSzPts val="1400"/>
              <a:buFont typeface="Arial"/>
              <a:buNone/>
            </a:pPr>
            <a:r>
              <a:t/>
            </a:r>
            <a:endParaRPr b="1" sz="1400">
              <a:latin typeface="Courier New"/>
              <a:ea typeface="Courier New"/>
              <a:cs typeface="Courier New"/>
              <a:sym typeface="Courier New"/>
            </a:endParaRPr>
          </a:p>
          <a:p>
            <a:pPr indent="-342900" lvl="0" marL="342900" rtl="0" algn="l">
              <a:lnSpc>
                <a:spcPct val="80000"/>
              </a:lnSpc>
              <a:spcBef>
                <a:spcPts val="280"/>
              </a:spcBef>
              <a:spcAft>
                <a:spcPts val="0"/>
              </a:spcAft>
              <a:buClr>
                <a:schemeClr val="accent2"/>
              </a:buClr>
              <a:buSzPts val="1400"/>
              <a:buFont typeface="Arial"/>
              <a:buNone/>
            </a:pPr>
            <a:r>
              <a:t/>
            </a:r>
            <a:endParaRPr b="1" sz="1400">
              <a:latin typeface="Courier New"/>
              <a:ea typeface="Courier New"/>
              <a:cs typeface="Courier New"/>
              <a:sym typeface="Courier New"/>
            </a:endParaRPr>
          </a:p>
          <a:p>
            <a:pPr indent="-342900" lvl="0" marL="342900" rtl="0" algn="l">
              <a:lnSpc>
                <a:spcPct val="80000"/>
              </a:lnSpc>
              <a:spcBef>
                <a:spcPts val="280"/>
              </a:spcBef>
              <a:spcAft>
                <a:spcPts val="0"/>
              </a:spcAft>
              <a:buClr>
                <a:schemeClr val="accent2"/>
              </a:buClr>
              <a:buSzPts val="1400"/>
              <a:buFont typeface="Arial"/>
              <a:buNone/>
            </a:pPr>
            <a:r>
              <a:t/>
            </a:r>
            <a:endParaRPr b="1" sz="1400">
              <a:latin typeface="Courier New"/>
              <a:ea typeface="Courier New"/>
              <a:cs typeface="Courier New"/>
              <a:sym typeface="Courier New"/>
            </a:endParaRPr>
          </a:p>
          <a:p>
            <a:pPr indent="-342900" lvl="0" marL="342900" rtl="0" algn="l">
              <a:lnSpc>
                <a:spcPct val="80000"/>
              </a:lnSpc>
              <a:spcBef>
                <a:spcPts val="280"/>
              </a:spcBef>
              <a:spcAft>
                <a:spcPts val="0"/>
              </a:spcAft>
              <a:buClr>
                <a:schemeClr val="accent2"/>
              </a:buClr>
              <a:buSzPts val="1400"/>
              <a:buFont typeface="Arial"/>
              <a:buNone/>
            </a:pPr>
            <a:r>
              <a:t/>
            </a:r>
            <a:endParaRPr b="1" sz="1400">
              <a:latin typeface="Courier New"/>
              <a:ea typeface="Courier New"/>
              <a:cs typeface="Courier New"/>
              <a:sym typeface="Courier New"/>
            </a:endParaRPr>
          </a:p>
        </p:txBody>
      </p:sp>
      <p:sp>
        <p:nvSpPr>
          <p:cNvPr id="651" name="Google Shape;651;p53"/>
          <p:cNvSpPr/>
          <p:nvPr/>
        </p:nvSpPr>
        <p:spPr>
          <a:xfrm>
            <a:off x="6553200" y="1295400"/>
            <a:ext cx="3733800" cy="2133600"/>
          </a:xfrm>
          <a:prstGeom prst="rect">
            <a:avLst/>
          </a:prstGeom>
          <a:noFill/>
          <a:ln cap="flat" cmpd="sng" w="1905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In terms of big-Oh:</a:t>
            </a:r>
            <a:endParaRPr/>
          </a:p>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t(1) = 1</a:t>
            </a:r>
            <a:endParaRPr/>
          </a:p>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t(n) = 1 + t(n-1) = 1 + 1 + t(n-2) </a:t>
            </a:r>
            <a:endParaRPr/>
          </a:p>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 ... k + t(n-k)</a:t>
            </a:r>
            <a:endParaRPr/>
          </a:p>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Choose k = n-1</a:t>
            </a:r>
            <a:endParaRPr/>
          </a:p>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t(n) = n-1 + t(1) = n-1 + 1 = O(n)</a:t>
            </a:r>
            <a:endParaRPr/>
          </a:p>
        </p:txBody>
      </p:sp>
      <p:sp>
        <p:nvSpPr>
          <p:cNvPr id="652" name="Google Shape;652;p53"/>
          <p:cNvSpPr/>
          <p:nvPr/>
        </p:nvSpPr>
        <p:spPr>
          <a:xfrm>
            <a:off x="1828800" y="3657600"/>
            <a:ext cx="8534400" cy="2590800"/>
          </a:xfrm>
          <a:prstGeom prst="rect">
            <a:avLst/>
          </a:prstGeom>
          <a:noFill/>
          <a:ln cap="flat" cmpd="sng" w="1905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Consider the following time complexity:</a:t>
            </a:r>
            <a:endParaRPr/>
          </a:p>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t(0) = 1 </a:t>
            </a:r>
            <a:endParaRPr/>
          </a:p>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t(n) = 1 + 2t(n-1) = 1 + 2(1 + 2t(n-2)) = 1 + 2 + 4t(n-2)</a:t>
            </a:r>
            <a:endParaRPr/>
          </a:p>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 1 + 2 + 4(1 + 2t(n-3)) = 1 + 2 + 4 + 8t(n-3)</a:t>
            </a:r>
            <a:endParaRPr/>
          </a:p>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 1 + 2 + ... + 2</a:t>
            </a:r>
            <a:r>
              <a:rPr baseline="30000" lang="en-US" sz="2000">
                <a:solidFill>
                  <a:schemeClr val="dk1"/>
                </a:solidFill>
                <a:latin typeface="Comic Sans MS"/>
                <a:ea typeface="Comic Sans MS"/>
                <a:cs typeface="Comic Sans MS"/>
                <a:sym typeface="Comic Sans MS"/>
              </a:rPr>
              <a:t>k-1</a:t>
            </a:r>
            <a:r>
              <a:rPr lang="en-US" sz="2000">
                <a:solidFill>
                  <a:schemeClr val="dk1"/>
                </a:solidFill>
                <a:latin typeface="Comic Sans MS"/>
                <a:ea typeface="Comic Sans MS"/>
                <a:cs typeface="Comic Sans MS"/>
                <a:sym typeface="Comic Sans MS"/>
              </a:rPr>
              <a:t> + 2</a:t>
            </a:r>
            <a:r>
              <a:rPr baseline="30000" lang="en-US" sz="2000">
                <a:solidFill>
                  <a:schemeClr val="dk1"/>
                </a:solidFill>
                <a:latin typeface="Comic Sans MS"/>
                <a:ea typeface="Comic Sans MS"/>
                <a:cs typeface="Comic Sans MS"/>
                <a:sym typeface="Comic Sans MS"/>
              </a:rPr>
              <a:t>k</a:t>
            </a:r>
            <a:r>
              <a:rPr lang="en-US" sz="2000">
                <a:solidFill>
                  <a:schemeClr val="dk1"/>
                </a:solidFill>
                <a:latin typeface="Comic Sans MS"/>
                <a:ea typeface="Comic Sans MS"/>
                <a:cs typeface="Comic Sans MS"/>
                <a:sym typeface="Comic Sans MS"/>
              </a:rPr>
              <a:t>t(n-k)</a:t>
            </a:r>
            <a:endParaRPr/>
          </a:p>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Choose k = n</a:t>
            </a:r>
            <a:endParaRPr/>
          </a:p>
          <a:p>
            <a:pPr indent="0" lvl="0" marL="0" marR="0" rtl="0" algn="l">
              <a:spcBef>
                <a:spcPts val="0"/>
              </a:spcBef>
              <a:spcAft>
                <a:spcPts val="0"/>
              </a:spcAft>
              <a:buNone/>
            </a:pPr>
            <a:r>
              <a:rPr lang="en-US" sz="2000">
                <a:solidFill>
                  <a:schemeClr val="dk1"/>
                </a:solidFill>
                <a:latin typeface="Comic Sans MS"/>
                <a:ea typeface="Comic Sans MS"/>
                <a:cs typeface="Comic Sans MS"/>
                <a:sym typeface="Comic Sans MS"/>
              </a:rPr>
              <a:t>t(n) - 1 + 2 + ... 2</a:t>
            </a:r>
            <a:r>
              <a:rPr baseline="30000" lang="en-US" sz="2000">
                <a:solidFill>
                  <a:schemeClr val="dk1"/>
                </a:solidFill>
                <a:latin typeface="Comic Sans MS"/>
                <a:ea typeface="Comic Sans MS"/>
                <a:cs typeface="Comic Sans MS"/>
                <a:sym typeface="Comic Sans MS"/>
              </a:rPr>
              <a:t>n-1</a:t>
            </a:r>
            <a:r>
              <a:rPr lang="en-US" sz="2000">
                <a:solidFill>
                  <a:schemeClr val="dk1"/>
                </a:solidFill>
                <a:latin typeface="Comic Sans MS"/>
                <a:ea typeface="Comic Sans MS"/>
                <a:cs typeface="Comic Sans MS"/>
                <a:sym typeface="Comic Sans MS"/>
              </a:rPr>
              <a:t> + 2</a:t>
            </a:r>
            <a:r>
              <a:rPr baseline="30000" lang="en-US" sz="2000">
                <a:solidFill>
                  <a:schemeClr val="dk1"/>
                </a:solidFill>
                <a:latin typeface="Comic Sans MS"/>
                <a:ea typeface="Comic Sans MS"/>
                <a:cs typeface="Comic Sans MS"/>
                <a:sym typeface="Comic Sans MS"/>
              </a:rPr>
              <a:t>n</a:t>
            </a:r>
            <a:r>
              <a:rPr lang="en-US" sz="2000">
                <a:solidFill>
                  <a:schemeClr val="dk1"/>
                </a:solidFill>
                <a:latin typeface="Comic Sans MS"/>
                <a:ea typeface="Comic Sans MS"/>
                <a:cs typeface="Comic Sans MS"/>
                <a:sym typeface="Comic Sans MS"/>
              </a:rPr>
              <a:t> = 2</a:t>
            </a:r>
            <a:r>
              <a:rPr baseline="30000" lang="en-US" sz="2000">
                <a:solidFill>
                  <a:schemeClr val="dk1"/>
                </a:solidFill>
                <a:latin typeface="Comic Sans MS"/>
                <a:ea typeface="Comic Sans MS"/>
                <a:cs typeface="Comic Sans MS"/>
                <a:sym typeface="Comic Sans MS"/>
              </a:rPr>
              <a:t>n+1</a:t>
            </a:r>
            <a:r>
              <a:rPr lang="en-US" sz="2000">
                <a:solidFill>
                  <a:schemeClr val="dk1"/>
                </a:solidFill>
                <a:latin typeface="Comic Sans MS"/>
                <a:ea typeface="Comic Sans MS"/>
                <a:cs typeface="Comic Sans MS"/>
                <a:sym typeface="Comic Sans MS"/>
              </a:rPr>
              <a:t> - 1 </a:t>
            </a:r>
            <a:endParaRPr/>
          </a:p>
        </p:txBody>
      </p:sp>
      <p:pic>
        <p:nvPicPr>
          <p:cNvPr descr="BRAC University Jobs 2020- Jobs in BRAC University- careerz360.com" id="653" name="Google Shape;653;p53"/>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54"/>
          <p:cNvSpPr txBox="1"/>
          <p:nvPr>
            <p:ph idx="12" type="sldNum"/>
          </p:nvPr>
        </p:nvSpPr>
        <p:spPr>
          <a:xfrm>
            <a:off x="8737600" y="6397625"/>
            <a:ext cx="2844800" cy="3238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60" name="Google Shape;660;p54"/>
          <p:cNvSpPr txBox="1"/>
          <p:nvPr>
            <p:ph type="title"/>
          </p:nvPr>
        </p:nvSpPr>
        <p:spPr>
          <a:xfrm>
            <a:off x="455084" y="100013"/>
            <a:ext cx="10972800" cy="9064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Binary Search</a:t>
            </a:r>
            <a:endParaRPr/>
          </a:p>
        </p:txBody>
      </p:sp>
      <p:sp>
        <p:nvSpPr>
          <p:cNvPr id="661" name="Google Shape;661;p54"/>
          <p:cNvSpPr txBox="1"/>
          <p:nvPr>
            <p:ph idx="1" type="body"/>
          </p:nvPr>
        </p:nvSpPr>
        <p:spPr>
          <a:xfrm>
            <a:off x="1828800" y="1371600"/>
            <a:ext cx="8534400" cy="40386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accent2"/>
              </a:buClr>
              <a:buSzPts val="2000"/>
              <a:buFont typeface="Arial"/>
              <a:buChar char="•"/>
            </a:pPr>
            <a:r>
              <a:rPr lang="en-US" sz="2000"/>
              <a:t>Given a </a:t>
            </a:r>
            <a:r>
              <a:rPr lang="en-US" sz="2000">
                <a:solidFill>
                  <a:srgbClr val="0000FF"/>
                </a:solidFill>
              </a:rPr>
              <a:t>sorted</a:t>
            </a:r>
            <a:r>
              <a:rPr lang="en-US" sz="2000"/>
              <a:t> vector/list a[ ], find the location of element X</a:t>
            </a:r>
            <a:endParaRPr/>
          </a:p>
          <a:p>
            <a:pPr indent="-342900" lvl="0" marL="342900" rtl="0" algn="l">
              <a:lnSpc>
                <a:spcPct val="80000"/>
              </a:lnSpc>
              <a:spcBef>
                <a:spcPts val="400"/>
              </a:spcBef>
              <a:spcAft>
                <a:spcPts val="0"/>
              </a:spcAft>
              <a:buClr>
                <a:schemeClr val="accent2"/>
              </a:buClr>
              <a:buSzPts val="2000"/>
              <a:buFont typeface="Arial"/>
              <a:buNone/>
            </a:pPr>
            <a:r>
              <a:t/>
            </a:r>
            <a:endParaRPr sz="2000">
              <a:latin typeface="Courier New"/>
              <a:ea typeface="Courier New"/>
              <a:cs typeface="Courier New"/>
              <a:sym typeface="Courier New"/>
            </a:endParaRPr>
          </a:p>
          <a:p>
            <a:pPr indent="-342900" lvl="0" marL="342900" rtl="0" algn="l">
              <a:lnSpc>
                <a:spcPct val="80000"/>
              </a:lnSpc>
              <a:spcBef>
                <a:spcPts val="280"/>
              </a:spcBef>
              <a:spcAft>
                <a:spcPts val="0"/>
              </a:spcAft>
              <a:buClr>
                <a:srgbClr val="0000FF"/>
              </a:buClr>
              <a:buSzPts val="1200"/>
              <a:buFont typeface="Courier New"/>
              <a:buNone/>
            </a:pPr>
            <a:r>
              <a:rPr b="1" lang="en-US" sz="1200">
                <a:solidFill>
                  <a:srgbClr val="0000FF"/>
                </a:solidFill>
                <a:latin typeface="Courier New"/>
                <a:ea typeface="Courier New"/>
                <a:cs typeface="Courier New"/>
                <a:sym typeface="Courier New"/>
              </a:rPr>
              <a:t>		</a:t>
            </a:r>
            <a:r>
              <a:rPr b="1" lang="en-US" sz="1400">
                <a:solidFill>
                  <a:srgbClr val="0000FF"/>
                </a:solidFill>
                <a:latin typeface="Courier New"/>
                <a:ea typeface="Courier New"/>
                <a:cs typeface="Courier New"/>
                <a:sym typeface="Courier New"/>
              </a:rPr>
              <a:t>unsigned int binary_search(vector&lt;int&gt; a, int X) </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unsigned int low = 0, high = a.size()-1;</a:t>
            </a:r>
            <a:endParaRPr/>
          </a:p>
          <a:p>
            <a:pPr indent="-342900" lvl="0" marL="342900" rtl="0" algn="l">
              <a:lnSpc>
                <a:spcPct val="80000"/>
              </a:lnSpc>
              <a:spcBef>
                <a:spcPts val="280"/>
              </a:spcBef>
              <a:spcAft>
                <a:spcPts val="0"/>
              </a:spcAft>
              <a:buClr>
                <a:schemeClr val="accent2"/>
              </a:buClr>
              <a:buSzPts val="1400"/>
              <a:buFont typeface="Arial"/>
              <a:buNone/>
            </a:pPr>
            <a:r>
              <a:t/>
            </a:r>
            <a:endParaRPr b="1" sz="1400">
              <a:solidFill>
                <a:srgbClr val="0000FF"/>
              </a:solidFill>
              <a:latin typeface="Courier New"/>
              <a:ea typeface="Courier New"/>
              <a:cs typeface="Courier New"/>
              <a:sym typeface="Courier New"/>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while (low &lt;= high) {</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int mid = (low + high) / 2;</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if (a[mid] &lt; X) </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low = mid + 1;</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else if( a[mid] &gt; X )</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high = mid - 1;</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else</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return mid;</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return NOT_FOUND;</a:t>
            </a:r>
            <a:endParaRPr/>
          </a:p>
          <a:p>
            <a:pPr indent="-342900" lvl="0" marL="342900" rtl="0" algn="l">
              <a:lnSpc>
                <a:spcPct val="80000"/>
              </a:lnSpc>
              <a:spcBef>
                <a:spcPts val="280"/>
              </a:spcBef>
              <a:spcAft>
                <a:spcPts val="0"/>
              </a:spcAft>
              <a:buClr>
                <a:srgbClr val="0000FF"/>
              </a:buClr>
              <a:buSzPts val="1400"/>
              <a:buFont typeface="Courier New"/>
              <a:buNone/>
            </a:pPr>
            <a:r>
              <a:rPr b="1" lang="en-US" sz="1400">
                <a:solidFill>
                  <a:srgbClr val="0000FF"/>
                </a:solidFill>
                <a:latin typeface="Courier New"/>
                <a:ea typeface="Courier New"/>
                <a:cs typeface="Courier New"/>
                <a:sym typeface="Courier New"/>
              </a:rPr>
              <a:t>		}</a:t>
            </a:r>
            <a:endParaRPr sz="2000">
              <a:solidFill>
                <a:srgbClr val="0000FF"/>
              </a:solidFill>
            </a:endParaRPr>
          </a:p>
        </p:txBody>
      </p:sp>
      <p:sp>
        <p:nvSpPr>
          <p:cNvPr id="662" name="Google Shape;662;p54"/>
          <p:cNvSpPr txBox="1"/>
          <p:nvPr>
            <p:ph idx="2" type="body"/>
          </p:nvPr>
        </p:nvSpPr>
        <p:spPr>
          <a:xfrm>
            <a:off x="1752600" y="5181600"/>
            <a:ext cx="8610600" cy="1143000"/>
          </a:xfrm>
          <a:prstGeom prst="rect">
            <a:avLst/>
          </a:prstGeom>
          <a:noFill/>
          <a:ln>
            <a:noFill/>
          </a:ln>
        </p:spPr>
        <p:txBody>
          <a:bodyPr anchorCtr="0" anchor="t" bIns="45700" lIns="91425" spcFirstLastPara="1" rIns="91425" wrap="square" tIns="45700">
            <a:noAutofit/>
          </a:bodyPr>
          <a:lstStyle/>
          <a:p>
            <a:pPr indent="-279400" lvl="0" marL="342900" rtl="0" algn="l">
              <a:lnSpc>
                <a:spcPct val="80000"/>
              </a:lnSpc>
              <a:spcBef>
                <a:spcPts val="0"/>
              </a:spcBef>
              <a:spcAft>
                <a:spcPts val="0"/>
              </a:spcAft>
              <a:buClr>
                <a:schemeClr val="accent2"/>
              </a:buClr>
              <a:buSzPts val="1000"/>
              <a:buFont typeface="Arial"/>
              <a:buNone/>
            </a:pPr>
            <a:r>
              <a:t/>
            </a:r>
            <a:endParaRPr b="1" sz="1000"/>
          </a:p>
          <a:p>
            <a:pPr indent="-342900" lvl="0" marL="342900" rtl="0" algn="l">
              <a:lnSpc>
                <a:spcPct val="80000"/>
              </a:lnSpc>
              <a:spcBef>
                <a:spcPts val="360"/>
              </a:spcBef>
              <a:spcAft>
                <a:spcPts val="0"/>
              </a:spcAft>
              <a:buClr>
                <a:schemeClr val="accent2"/>
              </a:buClr>
              <a:buSzPts val="1800"/>
              <a:buFont typeface="Arial"/>
              <a:buChar char="•"/>
            </a:pPr>
            <a:r>
              <a:rPr lang="en-US" sz="1800"/>
              <a:t>Input size:  n = array size()</a:t>
            </a:r>
            <a:endParaRPr/>
          </a:p>
          <a:p>
            <a:pPr indent="-342900" lvl="0" marL="342900" rtl="0" algn="l">
              <a:lnSpc>
                <a:spcPct val="80000"/>
              </a:lnSpc>
              <a:spcBef>
                <a:spcPts val="360"/>
              </a:spcBef>
              <a:spcAft>
                <a:spcPts val="0"/>
              </a:spcAft>
              <a:buClr>
                <a:schemeClr val="accent2"/>
              </a:buClr>
              <a:buSzPts val="1800"/>
              <a:buFont typeface="Arial"/>
              <a:buChar char="•"/>
            </a:pPr>
            <a:r>
              <a:rPr lang="en-US" sz="1800"/>
              <a:t>Complexity = O( k iterations x  (1 comparison+1 assignment) per loop)</a:t>
            </a:r>
            <a:endParaRPr/>
          </a:p>
          <a:p>
            <a:pPr indent="-285750" lvl="1" marL="742950" rtl="0" algn="l">
              <a:lnSpc>
                <a:spcPct val="80000"/>
              </a:lnSpc>
              <a:spcBef>
                <a:spcPts val="400"/>
              </a:spcBef>
              <a:spcAft>
                <a:spcPts val="0"/>
              </a:spcAft>
              <a:buClr>
                <a:schemeClr val="dk1"/>
              </a:buClr>
              <a:buSzPts val="1800"/>
              <a:buFont typeface="Arial"/>
              <a:buNone/>
            </a:pPr>
            <a:r>
              <a:rPr lang="en-US" sz="1800"/>
              <a:t>= O(log(n))</a:t>
            </a:r>
            <a:r>
              <a:rPr lang="en-US" sz="2000"/>
              <a:t> </a:t>
            </a:r>
            <a:endParaRPr/>
          </a:p>
        </p:txBody>
      </p:sp>
      <p:pic>
        <p:nvPicPr>
          <p:cNvPr descr="BRAC University Jobs 2020- Jobs in BRAC University- careerz360.com" id="663" name="Google Shape;663;p54"/>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55"/>
          <p:cNvSpPr txBox="1"/>
          <p:nvPr>
            <p:ph type="title"/>
          </p:nvPr>
        </p:nvSpPr>
        <p:spPr>
          <a:xfrm>
            <a:off x="1981200" y="342900"/>
            <a:ext cx="8229600" cy="72009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Summary</a:t>
            </a:r>
            <a:endParaRPr/>
          </a:p>
        </p:txBody>
      </p:sp>
      <p:sp>
        <p:nvSpPr>
          <p:cNvPr id="669" name="Google Shape;669;p55"/>
          <p:cNvSpPr txBox="1"/>
          <p:nvPr>
            <p:ph idx="1" type="body"/>
          </p:nvPr>
        </p:nvSpPr>
        <p:spPr>
          <a:xfrm>
            <a:off x="834390" y="1189832"/>
            <a:ext cx="9921240" cy="4936332"/>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accent2"/>
              </a:buClr>
              <a:buSzPts val="2800"/>
              <a:buFont typeface="Arial"/>
              <a:buChar char="•"/>
            </a:pPr>
            <a:r>
              <a:rPr lang="en-US"/>
              <a:t>Time complexity is a measure of algorithm efficiency</a:t>
            </a:r>
            <a:endParaRPr/>
          </a:p>
          <a:p>
            <a:pPr indent="-342900" lvl="0" marL="342900" rtl="0" algn="l">
              <a:spcBef>
                <a:spcPts val="560"/>
              </a:spcBef>
              <a:spcAft>
                <a:spcPts val="0"/>
              </a:spcAft>
              <a:buClr>
                <a:schemeClr val="accent2"/>
              </a:buClr>
              <a:buSzPts val="2800"/>
              <a:buFont typeface="Arial"/>
              <a:buChar char="•"/>
            </a:pPr>
            <a:r>
              <a:rPr lang="en-US"/>
              <a:t>Efficient algorithm plays the major role in determining the running time.</a:t>
            </a:r>
            <a:endParaRPr/>
          </a:p>
          <a:p>
            <a:pPr indent="0" lvl="0" marL="0" rtl="0" algn="l">
              <a:spcBef>
                <a:spcPts val="560"/>
              </a:spcBef>
              <a:spcAft>
                <a:spcPts val="0"/>
              </a:spcAft>
              <a:buClr>
                <a:srgbClr val="FF0000"/>
              </a:buClr>
              <a:buSzPts val="2800"/>
              <a:buFont typeface="Arial"/>
              <a:buNone/>
            </a:pPr>
            <a:r>
              <a:rPr lang="en-US">
                <a:solidFill>
                  <a:srgbClr val="FF0000"/>
                </a:solidFill>
              </a:rPr>
              <a:t>Q:  Is it possible to determine running time based on algorithm’s time complexity alone?</a:t>
            </a:r>
            <a:endParaRPr/>
          </a:p>
          <a:p>
            <a:pPr indent="-342900" lvl="0" marL="342900" rtl="0" algn="l">
              <a:spcBef>
                <a:spcPts val="560"/>
              </a:spcBef>
              <a:spcAft>
                <a:spcPts val="0"/>
              </a:spcAft>
              <a:buClr>
                <a:schemeClr val="accent2"/>
              </a:buClr>
              <a:buSzPts val="2800"/>
              <a:buFont typeface="Arial"/>
              <a:buChar char="•"/>
            </a:pPr>
            <a:r>
              <a:rPr lang="en-US"/>
              <a:t>Minor tweaks in the code can cut down the running time by a factor too.</a:t>
            </a:r>
            <a:endParaRPr/>
          </a:p>
          <a:p>
            <a:pPr indent="-342900" lvl="0" marL="342900" rtl="0" algn="l">
              <a:spcBef>
                <a:spcPts val="560"/>
              </a:spcBef>
              <a:spcAft>
                <a:spcPts val="0"/>
              </a:spcAft>
              <a:buClr>
                <a:schemeClr val="accent2"/>
              </a:buClr>
              <a:buSzPts val="2800"/>
              <a:buFont typeface="Arial"/>
              <a:buChar char="•"/>
            </a:pPr>
            <a:r>
              <a:rPr lang="en-US"/>
              <a:t>Other items like CPU speed, memory speed, device I/O speed can help as well.</a:t>
            </a:r>
            <a:endParaRPr/>
          </a:p>
          <a:p>
            <a:pPr indent="-342900" lvl="0" marL="342900" rtl="0" algn="l">
              <a:spcBef>
                <a:spcPts val="560"/>
              </a:spcBef>
              <a:spcAft>
                <a:spcPts val="0"/>
              </a:spcAft>
              <a:buClr>
                <a:schemeClr val="accent2"/>
              </a:buClr>
              <a:buSzPts val="2800"/>
              <a:buFont typeface="Arial"/>
              <a:buChar char="•"/>
            </a:pPr>
            <a:r>
              <a:rPr lang="en-US"/>
              <a:t>For certain problems, it is possible to allocate additional space &amp; improve time complexity.</a:t>
            </a:r>
            <a:endParaRPr/>
          </a:p>
        </p:txBody>
      </p:sp>
      <p:pic>
        <p:nvPicPr>
          <p:cNvPr descr="BRAC University Jobs 2020- Jobs in BRAC University- careerz360.com" id="670" name="Google Shape;670;p55"/>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671" name="Google Shape;671;p55"/>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56"/>
          <p:cNvSpPr txBox="1"/>
          <p:nvPr>
            <p:ph type="title"/>
          </p:nvPr>
        </p:nvSpPr>
        <p:spPr>
          <a:xfrm>
            <a:off x="1981200" y="422910"/>
            <a:ext cx="8229600" cy="6515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Summary</a:t>
            </a:r>
            <a:endParaRPr/>
          </a:p>
        </p:txBody>
      </p:sp>
      <p:sp>
        <p:nvSpPr>
          <p:cNvPr id="677" name="Google Shape;677;p56"/>
          <p:cNvSpPr txBox="1"/>
          <p:nvPr>
            <p:ph idx="1" type="body"/>
          </p:nvPr>
        </p:nvSpPr>
        <p:spPr>
          <a:xfrm>
            <a:off x="560070" y="1394460"/>
            <a:ext cx="11144250" cy="4731704"/>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accent2"/>
              </a:buClr>
              <a:buSzPct val="100000"/>
              <a:buFont typeface="Arial"/>
              <a:buChar char="•"/>
            </a:pPr>
            <a:r>
              <a:rPr lang="en-US"/>
              <a:t>Time complexity is a measure of algorithm efficiency</a:t>
            </a:r>
            <a:endParaRPr/>
          </a:p>
          <a:p>
            <a:pPr indent="-342900" lvl="0" marL="342900" rtl="0" algn="l">
              <a:spcBef>
                <a:spcPts val="518"/>
              </a:spcBef>
              <a:spcAft>
                <a:spcPts val="0"/>
              </a:spcAft>
              <a:buClr>
                <a:schemeClr val="accent2"/>
              </a:buClr>
              <a:buSzPct val="100000"/>
              <a:buFont typeface="Arial"/>
              <a:buChar char="•"/>
            </a:pPr>
            <a:r>
              <a:rPr lang="en-US"/>
              <a:t>Efficient algorithm plays the major role in determining the running time.</a:t>
            </a:r>
            <a:endParaRPr/>
          </a:p>
          <a:p>
            <a:pPr indent="0" lvl="0" marL="0" rtl="0" algn="l">
              <a:spcBef>
                <a:spcPts val="518"/>
              </a:spcBef>
              <a:spcAft>
                <a:spcPts val="0"/>
              </a:spcAft>
              <a:buClr>
                <a:srgbClr val="FF0000"/>
              </a:buClr>
              <a:buSzPct val="100000"/>
              <a:buFont typeface="Arial"/>
              <a:buNone/>
            </a:pPr>
            <a:r>
              <a:rPr lang="en-US">
                <a:solidFill>
                  <a:srgbClr val="FF0000"/>
                </a:solidFill>
              </a:rPr>
              <a:t>Q:  Is it possible to determine running time based on algorithm’s time complexity alone?</a:t>
            </a:r>
            <a:endParaRPr/>
          </a:p>
          <a:p>
            <a:pPr indent="-342900" lvl="0" marL="342900" rtl="0" algn="l">
              <a:spcBef>
                <a:spcPts val="518"/>
              </a:spcBef>
              <a:spcAft>
                <a:spcPts val="0"/>
              </a:spcAft>
              <a:buClr>
                <a:schemeClr val="accent2"/>
              </a:buClr>
              <a:buSzPct val="100000"/>
              <a:buFont typeface="Arial"/>
              <a:buChar char="•"/>
            </a:pPr>
            <a:r>
              <a:rPr lang="en-US"/>
              <a:t>Minor tweaks in the code can cut down the running time by a factor too.</a:t>
            </a:r>
            <a:endParaRPr/>
          </a:p>
          <a:p>
            <a:pPr indent="-342900" lvl="0" marL="342900" rtl="0" algn="l">
              <a:spcBef>
                <a:spcPts val="518"/>
              </a:spcBef>
              <a:spcAft>
                <a:spcPts val="0"/>
              </a:spcAft>
              <a:buClr>
                <a:schemeClr val="accent2"/>
              </a:buClr>
              <a:buSzPct val="100000"/>
              <a:buFont typeface="Arial"/>
              <a:buChar char="•"/>
            </a:pPr>
            <a:r>
              <a:rPr lang="en-US"/>
              <a:t>Other items like CPU speed, memory speed, device I/O speed can help as well.</a:t>
            </a:r>
            <a:endParaRPr/>
          </a:p>
          <a:p>
            <a:pPr indent="-342900" lvl="0" marL="342900" rtl="0" algn="l">
              <a:spcBef>
                <a:spcPts val="518"/>
              </a:spcBef>
              <a:spcAft>
                <a:spcPts val="0"/>
              </a:spcAft>
              <a:buClr>
                <a:schemeClr val="accent2"/>
              </a:buClr>
              <a:buSzPct val="100000"/>
              <a:buFont typeface="Arial"/>
              <a:buChar char="•"/>
            </a:pPr>
            <a:r>
              <a:rPr lang="en-US"/>
              <a:t>For certain problems, it is possible to allocate additional space &amp; improve time complexity.</a:t>
            </a:r>
            <a:endParaRPr/>
          </a:p>
        </p:txBody>
      </p:sp>
      <p:pic>
        <p:nvPicPr>
          <p:cNvPr descr="BRAC University Jobs 2020- Jobs in BRAC University- careerz360.com" id="678" name="Google Shape;678;p56"/>
          <p:cNvPicPr preferRelativeResize="0"/>
          <p:nvPr/>
        </p:nvPicPr>
        <p:blipFill rotWithShape="1">
          <a:blip r:embed="rId3">
            <a:alphaModFix/>
          </a:blip>
          <a:srcRect b="0" l="0" r="0" t="0"/>
          <a:stretch/>
        </p:blipFill>
        <p:spPr>
          <a:xfrm>
            <a:off x="10964009" y="0"/>
            <a:ext cx="1227668" cy="1189832"/>
          </a:xfrm>
          <a:prstGeom prst="rect">
            <a:avLst/>
          </a:prstGeom>
          <a:noFill/>
          <a:ln>
            <a:noFill/>
          </a:ln>
        </p:spPr>
      </p:pic>
      <p:sp>
        <p:nvSpPr>
          <p:cNvPr id="679" name="Google Shape;679;p56"/>
          <p:cNvSpPr txBox="1"/>
          <p:nvPr>
            <p:ph idx="12" type="sldNum"/>
          </p:nvPr>
        </p:nvSpPr>
        <p:spPr>
          <a:xfrm>
            <a:off x="10528823" y="6469380"/>
            <a:ext cx="1662854" cy="28860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2003-07-26T00:47:08Z</dcterms:created>
  <dc:creator>Shamsujjoha</dc:creator>
</cp:coreProperties>
</file>